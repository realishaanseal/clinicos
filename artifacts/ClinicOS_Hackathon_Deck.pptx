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fields edited per note</c:v>
                </c:pt>
              </c:strCache>
            </c:strRef>
          </c:tx>
          <c:spPr>
            <a:solidFill>
              <a:srgbClr val="0F8B8D"/>
            </a:solidFill>
            <a:ln w="38100" cap="flat">
              <a:solidFill>
                <a:srgbClr val="0F8B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6.4</c:v>
                </c:pt>
                <c:pt idx="1">
                  <c:v>5.8</c:v>
                </c:pt>
                <c:pt idx="2">
                  <c:v>5.1</c:v>
                </c:pt>
                <c:pt idx="3">
                  <c:v>4.3</c:v>
                </c:pt>
                <c:pt idx="4">
                  <c:v>3.6</c:v>
                </c:pt>
                <c:pt idx="5">
                  <c:v>3</c:v>
                </c:pt>
                <c:pt idx="6">
                  <c:v>2.4</c:v>
                </c:pt>
                <c:pt idx="7">
                  <c:v>1.9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2E6EC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9525" cap="flat">
              <a:solidFill>
                <a:srgbClr val="E2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2E6EC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2.png"/><Relationship Id="rId5" Type="http://schemas.openxmlformats.org/officeDocument/2006/relationships/image" Target="../media/image-3-5.png"/><Relationship Id="rId6" Type="http://schemas.openxmlformats.org/officeDocument/2006/relationships/image" Target="../media/image-3-2.png"/><Relationship Id="rId7" Type="http://schemas.openxmlformats.org/officeDocument/2006/relationships/image" Target="../media/image-3-7.png"/><Relationship Id="rId8" Type="http://schemas.openxmlformats.org/officeDocument/2006/relationships/image" Target="../media/image-3-2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image" Target="../media/image-4-1.png"/><Relationship Id="rId8" Type="http://schemas.openxmlformats.org/officeDocument/2006/relationships/image" Target="../media/image-4-1.png"/><Relationship Id="rId9" Type="http://schemas.openxmlformats.org/officeDocument/2006/relationships/image" Target="../media/image-4-1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image" Target="../media/image-6-7.png"/><Relationship Id="rId8" Type="http://schemas.openxmlformats.org/officeDocument/2006/relationships/image" Target="../media/image-6-2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4.png"/><Relationship Id="rId6" Type="http://schemas.openxmlformats.org/officeDocument/2006/relationships/image" Target="../media/image-9-4.png"/><Relationship Id="rId7" Type="http://schemas.openxmlformats.org/officeDocument/2006/relationships/image" Target="../media/image-9-4.png"/><Relationship Id="rId8" Type="http://schemas.openxmlformats.org/officeDocument/2006/relationships/image" Target="../media/image-9-4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B66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931920"/>
            <a:ext cx="5486400" cy="5486400"/>
          </a:xfrm>
          <a:prstGeom prst="ellipse">
            <a:avLst/>
          </a:prstGeom>
          <a:solidFill>
            <a:srgbClr val="13294B">
              <a:alpha val="9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VARAXIS  ·  HEALTHCARE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572768"/>
            <a:ext cx="6720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scribe for the Indian clinic that never sends a byte to the cloud.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127248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in, structured note and printable prescription out — drafted locally, corrected by the doctor, signed before it ever becomes a record.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869034" cy="38404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18690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AI, no cloud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93162" y="4160520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93162" y="4160520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 · Hindi · English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590642" y="4160520"/>
            <a:ext cx="2317090" cy="38404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90642" y="4160520"/>
            <a:ext cx="23170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Consent-gated by design</a:t>
            </a:r>
            <a:endParaRPr lang="en-US" sz="1150" dirty="0"/>
          </a:p>
        </p:txBody>
      </p:sp>
      <p:pic>
        <p:nvPicPr>
          <p:cNvPr id="13" name="Image 0" descr="/home/claude/clinicos_deck/logo_full_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207008"/>
            <a:ext cx="3611880" cy="36118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2296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a student hackathon · Krishnanagar, Nadia, West Bengal · August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paperwork eats the doctor's day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vast majority of India's small clinics, documentation, history retrieval, prescriptions,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and follow-up are still manual work — done on paper, from memory, or not at 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651760"/>
            <a:ext cx="658368" cy="65836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7" name="Image 0" descr="/home/claude/clinicos_deck/icons/history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256" y="2809768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502152"/>
            <a:ext cx="211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history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04672" y="429768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seen six months ago walks back in — and the record doesn't walk in with them.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2424" y="233172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85032" y="2651760"/>
            <a:ext cx="658368" cy="65836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12" name="Image 1" descr="/home/claude/clinicos_deck/icons/fileTex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040" y="2809768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502152"/>
            <a:ext cx="211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Handwritten, unsearchable notes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648456" y="429768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structure, no audit trail, and no way to know what changed between visits.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6208" y="233172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28816" y="2651760"/>
            <a:ext cx="658368" cy="65836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17" name="Image 2" descr="/home/claude/clinicos_deck/icons/databas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24" y="2809768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92240" y="3502152"/>
            <a:ext cx="211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backups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492240" y="429768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“Copy this file” is not a backup strategy. One laptop failure can end a clinic's records.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79992" y="233172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72600" y="2651760"/>
            <a:ext cx="658368" cy="65836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22" name="Image 3" descr="/home/claude/clinicos_deck/icons/rout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0608" y="2809768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36024" y="3502152"/>
            <a:ext cx="211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nobody tracks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336024" y="429768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who should come back often don't — and nobody in the clinic notices.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548640" y="6172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ClinicOS baseline docs — feature backlog and launch plan, Varaxis, Aug 2026.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</p:txBody>
      </p:sp>
      <p:pic>
        <p:nvPicPr>
          <p:cNvPr id="27" name="Image 4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consultation, five steps, zero typing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talks to the patient like normal. ClinicOS listens, drafts, and gets out of the way — the doctor stays the final authority on every word.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252728" y="2898648"/>
            <a:ext cx="566928" cy="566928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8" name="Image 0" descr="/home/claude/clinicos_deck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4460" y="3040380"/>
            <a:ext cx="283464" cy="2834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94944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13232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 consent script shown and confirmed — enforced server-side, not just UI.</a:t>
            </a:r>
            <a:endParaRPr lang="en-US" sz="1000" dirty="0"/>
          </a:p>
        </p:txBody>
      </p:sp>
      <p:pic>
        <p:nvPicPr>
          <p:cNvPr id="11" name="Image 1" descr="/home/claude/clinicos_deck/icons/arrowRigh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3845052"/>
            <a:ext cx="17373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06624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2889504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3410712" y="2898648"/>
            <a:ext cx="566928" cy="566928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15" name="Image 2" descr="/home/claude/clinicos_deck/icons/mic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444" y="3040380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852928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2871216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microphone captures the consult in any mix of Bengali, Hindi and English.</a:t>
            </a:r>
            <a:endParaRPr lang="en-US" sz="1000" dirty="0"/>
          </a:p>
        </p:txBody>
      </p:sp>
      <p:pic>
        <p:nvPicPr>
          <p:cNvPr id="18" name="Image 3" descr="/home/claude/clinicos_deck/icons/arrowRight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3845052"/>
            <a:ext cx="17373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864608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5047488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Shape 15"/>
          <p:cNvSpPr/>
          <p:nvPr/>
        </p:nvSpPr>
        <p:spPr>
          <a:xfrm>
            <a:off x="5568696" y="2898648"/>
            <a:ext cx="566928" cy="566928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22" name="Image 4" descr="/home/claude/clinicos_deck/icons/waveform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0428" y="3040380"/>
            <a:ext cx="283464" cy="28346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010912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029200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faster-whisper turns speech to text, entirely on the clinic's own machine.</a:t>
            </a:r>
            <a:endParaRPr lang="en-US" sz="1000" dirty="0"/>
          </a:p>
        </p:txBody>
      </p:sp>
      <p:pic>
        <p:nvPicPr>
          <p:cNvPr id="25" name="Image 5" descr="/home/claude/clinicos_deck/icons/arrowRight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3845052"/>
            <a:ext cx="173736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022592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27" name="Text 19"/>
          <p:cNvSpPr/>
          <p:nvPr/>
        </p:nvSpPr>
        <p:spPr>
          <a:xfrm>
            <a:off x="7205472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Shape 20"/>
          <p:cNvSpPr/>
          <p:nvPr/>
        </p:nvSpPr>
        <p:spPr>
          <a:xfrm>
            <a:off x="7726680" y="2898648"/>
            <a:ext cx="566928" cy="566928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29" name="Image 6" descr="/home/claude/clinicos_deck/icons/fileText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8412" y="3040380"/>
            <a:ext cx="283464" cy="28346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168896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note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7187184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 model structures complaint, history, exam, diagnosis, meds, advice.</a:t>
            </a:r>
            <a:endParaRPr lang="en-US" sz="1000" dirty="0"/>
          </a:p>
        </p:txBody>
      </p:sp>
      <p:pic>
        <p:nvPicPr>
          <p:cNvPr id="32" name="Image 7" descr="/home/claude/clinicos_deck/icons/arrowRight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6840" y="3845052"/>
            <a:ext cx="173736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180576" y="2331720"/>
            <a:ext cx="1975104" cy="3246120"/>
          </a:xfrm>
          <a:prstGeom prst="roundRect">
            <a:avLst>
              <a:gd name="adj" fmla="val 5556"/>
            </a:avLst>
          </a:prstGeom>
          <a:solidFill>
            <a:srgbClr val="13294B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34" name="Text 24"/>
          <p:cNvSpPr/>
          <p:nvPr/>
        </p:nvSpPr>
        <p:spPr>
          <a:xfrm>
            <a:off x="9363456" y="2496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5" name="Shape 25"/>
          <p:cNvSpPr/>
          <p:nvPr/>
        </p:nvSpPr>
        <p:spPr>
          <a:xfrm>
            <a:off x="9884664" y="2898648"/>
            <a:ext cx="566928" cy="566928"/>
          </a:xfrm>
          <a:prstGeom prst="ellipse">
            <a:avLst/>
          </a:prstGeom>
          <a:solidFill>
            <a:srgbClr val="E9A23B"/>
          </a:solidFill>
          <a:ln/>
        </p:spPr>
      </p:sp>
      <p:pic>
        <p:nvPicPr>
          <p:cNvPr id="36" name="Image 8" descr="/home/claude/clinicos_deck/icons/signature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26396" y="3040380"/>
            <a:ext cx="283464" cy="28346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9326880" y="36301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sign</a:t>
            </a:r>
            <a:endParaRPr lang="en-US" sz="1400" dirty="0"/>
          </a:p>
        </p:txBody>
      </p:sp>
      <p:sp>
        <p:nvSpPr>
          <p:cNvPr id="38" name="Text 27"/>
          <p:cNvSpPr/>
          <p:nvPr/>
        </p:nvSpPr>
        <p:spPr>
          <a:xfrm>
            <a:off x="9345168" y="402336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corrects and signs. Only then is the note filed and the raw audio deleted.</a:t>
            </a:r>
            <a:endParaRPr lang="en-US" sz="1000" dirty="0"/>
          </a:p>
        </p:txBody>
      </p:sp>
      <p:sp>
        <p:nvSpPr>
          <p:cNvPr id="39" name="Shape 28"/>
          <p:cNvSpPr/>
          <p:nvPr/>
        </p:nvSpPr>
        <p:spPr>
          <a:xfrm>
            <a:off x="548640" y="580644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EAF5F5"/>
          </a:solidFill>
          <a:ln/>
        </p:spPr>
      </p:sp>
      <p:sp>
        <p:nvSpPr>
          <p:cNvPr id="40" name="Text 29"/>
          <p:cNvSpPr/>
          <p:nvPr/>
        </p:nvSpPr>
        <p:spPr>
          <a:xfrm>
            <a:off x="822960" y="5806440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on the doctor's own laptop. No API keys, no cloud account, no per-consult cost.</a:t>
            </a:r>
            <a:endParaRPr lang="en-US" sz="1300" dirty="0"/>
          </a:p>
        </p:txBody>
      </p:sp>
      <p:sp>
        <p:nvSpPr>
          <p:cNvPr id="41" name="Text 30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50" dirty="0"/>
          </a:p>
        </p:txBody>
      </p:sp>
      <p:pic>
        <p:nvPicPr>
          <p:cNvPr id="42" name="Image 9" descr="/home/claude/clinicos_deck/logo_mark_transpar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 — a working v0.5 prototype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runs today, on a MacBook Air, against real recorded consultations.</a:t>
            </a:r>
            <a:endParaRPr lang="en-US" sz="1400" dirty="0"/>
          </a:p>
        </p:txBody>
      </p:sp>
      <p:pic>
        <p:nvPicPr>
          <p:cNvPr id="5" name="Image 0" descr="/home/claude/clinicos_deck/icons/checkCircl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50976" y="209397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 enforced server-side — the audio API itself returns 403 without it</a:t>
            </a:r>
            <a:endParaRPr lang="en-US" sz="1200" dirty="0"/>
          </a:p>
        </p:txBody>
      </p:sp>
      <p:pic>
        <p:nvPicPr>
          <p:cNvPr id="7" name="Image 1" descr="/home/claude/clinicos_deck/icons/checkCircl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0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50976" y="309981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record → transcribe → draft → sign workflow, end to end</a:t>
            </a:r>
            <a:endParaRPr lang="en-US" sz="1200" dirty="0"/>
          </a:p>
        </p:txBody>
      </p:sp>
      <p:pic>
        <p:nvPicPr>
          <p:cNvPr id="9" name="Image 2" descr="/home/claude/clinicos_deck/icons/checkCircl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06240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0976" y="410565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transcription (faster-whisper) + local note generation (Ollama, qwen2.5:7b)</a:t>
            </a:r>
            <a:endParaRPr lang="en-US" sz="1200" dirty="0"/>
          </a:p>
        </p:txBody>
      </p:sp>
      <p:pic>
        <p:nvPicPr>
          <p:cNvPr id="11" name="Image 3" descr="/home/claude/clinicos_deck/icons/checkCircl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2194560"/>
            <a:ext cx="292608" cy="29260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4727448" y="209397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Dual-layer autosave; interrupted consultations are recoverable, not lost</a:t>
            </a:r>
            <a:endParaRPr lang="en-US" sz="1200" dirty="0"/>
          </a:p>
        </p:txBody>
      </p:sp>
      <p:pic>
        <p:nvPicPr>
          <p:cNvPr id="13" name="Image 4" descr="/home/claude/clinicos_deck/icons/checkCircl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3200400"/>
            <a:ext cx="292608" cy="29260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727448" y="309981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notes are immutable; every pre-sign correction is logged as an edit</a:t>
            </a:r>
            <a:endParaRPr lang="en-US" sz="1200" dirty="0"/>
          </a:p>
        </p:txBody>
      </p:sp>
      <p:pic>
        <p:nvPicPr>
          <p:cNvPr id="15" name="Image 5" descr="/home/claude/clinicos_deck/icons/checkCircle_tea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5112" y="4206240"/>
            <a:ext cx="292608" cy="292608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727448" y="410565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A4 prescription, generated and printable on the spot</a:t>
            </a:r>
            <a:endParaRPr lang="en-US" sz="1200" dirty="0"/>
          </a:p>
        </p:txBody>
      </p:sp>
      <p:pic>
        <p:nvPicPr>
          <p:cNvPr id="17" name="Image 6" descr="/home/claude/clinicos_deck/icons/checkCircle_te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584" y="2194560"/>
            <a:ext cx="292608" cy="292608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8503920" y="209397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list, full visit history, phone-number search</a:t>
            </a:r>
            <a:endParaRPr lang="en-US" sz="1200" dirty="0"/>
          </a:p>
        </p:txBody>
      </p:sp>
      <p:pic>
        <p:nvPicPr>
          <p:cNvPr id="19" name="Image 7" descr="/home/claude/clinicos_deck/icons/checkCircle_te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1584" y="3200400"/>
            <a:ext cx="292608" cy="292608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8503920" y="309981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SQLite backup, automatic daily backups, guarded restore</a:t>
            </a:r>
            <a:endParaRPr lang="en-US" sz="1200" dirty="0"/>
          </a:p>
        </p:txBody>
      </p:sp>
      <p:pic>
        <p:nvPicPr>
          <p:cNvPr id="21" name="Image 8" descr="/home/claude/clinicos_deck/icons/checkCircle_tea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1584" y="4206240"/>
            <a:ext cx="292608" cy="292608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8503920" y="4105656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Type-to-confirm deletion and per-patient JSON export — no lock-in</a:t>
            </a:r>
            <a:endParaRPr lang="en-US" sz="1200" dirty="0"/>
          </a:p>
        </p:txBody>
      </p:sp>
      <p:sp>
        <p:nvSpPr>
          <p:cNvPr id="23" name="Shape 12"/>
          <p:cNvSpPr/>
          <p:nvPr/>
        </p:nvSpPr>
        <p:spPr>
          <a:xfrm>
            <a:off x="548640" y="5870448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13294B"/>
          </a:solidFill>
          <a:ln/>
        </p:spPr>
      </p:sp>
      <p:sp>
        <p:nvSpPr>
          <p:cNvPr id="24" name="Text 13"/>
          <p:cNvSpPr/>
          <p:nvPr/>
        </p:nvSpPr>
        <p:spPr>
          <a:xfrm>
            <a:off x="548640" y="5870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cloud calls  ·  Zero API keys  ·  Zero cost to run a consultation</a:t>
            </a:r>
            <a:endParaRPr lang="en-US" sz="1450" dirty="0"/>
          </a:p>
        </p:txBody>
      </p:sp>
      <p:sp>
        <p:nvSpPr>
          <p:cNvPr id="25" name="Text 14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</a:t>
            </a:r>
            <a:endParaRPr lang="en-US" sz="950" dirty="0"/>
          </a:p>
        </p:txBody>
      </p:sp>
      <p:pic>
        <p:nvPicPr>
          <p:cNvPr id="26" name="Image 9" descr="/home/claude/clinicos_deck/logo_mark_transpar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INSIGHT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 log is the point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the doctor changes between the AI draft and the signed note is captured. That one table quietly does three jobs at once.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6" name="Image 0" descr="/home/claude/clinicos_deck/icons/char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24734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231343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accuracy metric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298448" y="262432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“Edits per note” — shown on the home page, not buried in a log file.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26440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10" name="Image 1" descr="/home/claude/clinicos_deck/icons/brain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3406140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98448" y="32461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training signal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298448" y="35570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where the model is wrong, in Bengali, Hindi and code-mixed speech.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197096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14" name="Image 2" descr="/home/claude/clinicos_deck/icons/star_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4338828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98448" y="417880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best investor artefact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1298448" y="448970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edit rate falling over eight weeks is a real graph — almost nobody at this stage has one.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48640" y="5175504"/>
            <a:ext cx="5577840" cy="868680"/>
          </a:xfrm>
          <a:prstGeom prst="roundRect">
            <a:avLst>
              <a:gd name="adj" fmla="val 12632"/>
            </a:avLst>
          </a:prstGeom>
          <a:solidFill>
            <a:srgbClr val="EAF5F5"/>
          </a:solidFill>
          <a:ln/>
        </p:spPr>
      </p:sp>
      <p:sp>
        <p:nvSpPr>
          <p:cNvPr id="18" name="Text 13"/>
          <p:cNvSpPr/>
          <p:nvPr/>
        </p:nvSpPr>
        <p:spPr>
          <a:xfrm>
            <a:off x="822960" y="5175504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correct the draft — they don't regenerate it. That habit is what keeps the log honest and the metric real.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537960" y="1783080"/>
            <a:ext cx="507492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6858000" y="203911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rate per note (illustrative)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858000" y="231343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trend once pilots are live — not measured yet</a:t>
            </a:r>
            <a:endParaRPr lang="en-US" sz="10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812280" y="2651760"/>
          <a:ext cx="45262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3" name="Text 1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log</a:t>
            </a:r>
            <a:endParaRPr lang="en-US" sz="950" dirty="0"/>
          </a:p>
        </p:txBody>
      </p:sp>
      <p:pic>
        <p:nvPicPr>
          <p:cNvPr id="24" name="Image 3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572000"/>
            <a:ext cx="6400800" cy="6400800"/>
          </a:xfrm>
          <a:prstGeom prst="ellipse">
            <a:avLst/>
          </a:prstGeom>
          <a:solidFill>
            <a:srgbClr val="13294B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by design, not by accident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audio never touches a network — the only configuration in which the patient consent script can honestly be read as written.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61872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8" name="Image 0" descr="/home/claude/clinicos_deck/icons/mic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32" y="258775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mic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58368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5-second chunks, streamed to disk</a:t>
            </a:r>
            <a:endParaRPr lang="en-US" sz="950" dirty="0"/>
          </a:p>
        </p:txBody>
      </p:sp>
      <p:pic>
        <p:nvPicPr>
          <p:cNvPr id="11" name="Image 1" descr="/home/claude/clinicos_deck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3145536"/>
            <a:ext cx="164592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38144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14" name="Image 2" descr="/home/claude/clinicos_deck/icons/waveform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304" y="258775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34640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faster-whisper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2834640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ASR — Bengali / Hindi / English</a:t>
            </a:r>
            <a:endParaRPr lang="en-US" sz="950" dirty="0"/>
          </a:p>
        </p:txBody>
      </p:sp>
      <p:pic>
        <p:nvPicPr>
          <p:cNvPr id="17" name="Image 3" descr="/home/claude/clinicos_deck/icons/arrowRigh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3145536"/>
            <a:ext cx="164592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901184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5614416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20" name="Image 4" descr="/home/claude/clinicos_deck/icons/brai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1576" y="2587752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010912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· qwen2.5:7b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5010912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drafts the structured note</a:t>
            </a:r>
            <a:endParaRPr lang="en-US" sz="950" dirty="0"/>
          </a:p>
        </p:txBody>
      </p:sp>
      <p:pic>
        <p:nvPicPr>
          <p:cNvPr id="23" name="Image 5" descr="/home/claude/clinicos_deck/icons/arrowRight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3145536"/>
            <a:ext cx="164592" cy="201168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077456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790688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26" name="Image 6" descr="/home/claude/clinicos_deck/icons/database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2587752"/>
            <a:ext cx="274320" cy="27432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187184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187184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data/clinicos.db — one file, easy to back up</a:t>
            </a:r>
            <a:endParaRPr lang="en-US" sz="950" dirty="0"/>
          </a:p>
        </p:txBody>
      </p:sp>
      <p:pic>
        <p:nvPicPr>
          <p:cNvPr id="29" name="Image 7" descr="/home/claude/clinicos_deck/icons/arrowRight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0848" y="3145536"/>
            <a:ext cx="164592" cy="201168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9253728" y="2194560"/>
            <a:ext cx="1975104" cy="2103120"/>
          </a:xfrm>
          <a:prstGeom prst="roundRect">
            <a:avLst>
              <a:gd name="adj" fmla="val 463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</p:sp>
      <p:sp>
        <p:nvSpPr>
          <p:cNvPr id="31" name="Shape 21"/>
          <p:cNvSpPr/>
          <p:nvPr/>
        </p:nvSpPr>
        <p:spPr>
          <a:xfrm>
            <a:off x="9966960" y="245059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32" name="Image 8" descr="/home/claude/clinicos_deck/icons/printer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04120" y="2587752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363456" y="312724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250" dirty="0"/>
          </a:p>
        </p:txBody>
      </p:sp>
      <p:sp>
        <p:nvSpPr>
          <p:cNvPr id="34" name="Text 23"/>
          <p:cNvSpPr/>
          <p:nvPr/>
        </p:nvSpPr>
        <p:spPr>
          <a:xfrm>
            <a:off x="9363456" y="3529584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print, generated on the spot</a:t>
            </a:r>
            <a:endParaRPr lang="en-US" sz="950" dirty="0"/>
          </a:p>
        </p:txBody>
      </p:sp>
      <p:sp>
        <p:nvSpPr>
          <p:cNvPr id="35" name="Text 24"/>
          <p:cNvSpPr/>
          <p:nvPr/>
        </p:nvSpPr>
        <p:spPr>
          <a:xfrm>
            <a:off x="548640" y="4617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Next.js 15 · React 19 · TypeScript · better-sqlite3 · Next.js API routes</a:t>
            </a:r>
            <a:endParaRPr lang="en-US" sz="1150" dirty="0"/>
          </a:p>
        </p:txBody>
      </p:sp>
      <p:sp>
        <p:nvSpPr>
          <p:cNvPr id="36" name="Shape 25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6324F"/>
          </a:solidFill>
          <a:ln/>
        </p:spPr>
      </p:sp>
      <p:pic>
        <p:nvPicPr>
          <p:cNvPr id="37" name="Image 9" descr="/home/claude/clinicos_deck/icons/shield_amb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85232"/>
            <a:ext cx="384048" cy="384048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1371600" y="52120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 safety surface.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instructed to leave a field empty rather than guess a symptom, dose or diagnosis. Both ASR and note-generation sit behind one swappable interface each — cloud providers can be plugged in later, only after their data policy is checked in writing.</a:t>
            </a:r>
            <a:endParaRPr lang="en-US" sz="1150" dirty="0"/>
          </a:p>
        </p:txBody>
      </p:sp>
      <p:sp>
        <p:nvSpPr>
          <p:cNvPr id="39" name="Text 2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pic>
        <p:nvPicPr>
          <p:cNvPr id="40" name="Image 10" descr="/home/claude/clinicos_deck/logo_mark_transpar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INDIA, WHY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around the transition from paper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digital-health story isn't uniform — and that gap is the product opportunity, not a footnote to build later.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9572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7" name="Image 0" descr="/home/claude/clinicos_deck/icons/languag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37460"/>
            <a:ext cx="283464" cy="283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3591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speech is normal here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41248" y="294436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Bengali, Hindi and English inside a single consultation is treated as a first-class requirement, not an edge case a global product bolts on later.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239572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12" name="Image 1" descr="/home/claude/clinicos_deck/icons/wifi_off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972" y="2537460"/>
            <a:ext cx="283464" cy="2834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23591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is inconsistent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510528" y="294436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isn't a resilience feature — it's the only way a clinic in a district with patchy internet can rely on the product every day.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416052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45312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17" name="Image 2" descr="/home/claude/clinicos_deck/icons/rout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4594860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44165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ABDM is building the rails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41248" y="500176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Facility Registry, ABHA and consent-aware exchange give an India-first product real interoperability to plug into rather than compete against.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17920" y="416052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92240" y="4453128"/>
            <a:ext cx="566928" cy="566928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22" name="Image 3" descr="/home/claude/clinicos_deck/icons/bolt_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972" y="4594860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23760" y="44165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AI just became affordable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6510528" y="500176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7B-parameter model and Whisper both run acceptably on an 8–16GB laptop — the hardware bar for “local-first” dropped enough to matter this year.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India, why now</a:t>
            </a:r>
            <a:endParaRPr lang="en-US" sz="950" dirty="0"/>
          </a:p>
        </p:txBody>
      </p:sp>
      <p:pic>
        <p:nvPicPr>
          <p:cNvPr id="26" name="Image 4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tail nobody has properly digitized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has a vast base of owner-operated clinics still running on paper. Land with the smallest unit — one doctor, one clinic, one laptop — and the economics scale from there.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5420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clinics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94436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22960" y="376732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recurring revenue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228600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13294B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25420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clinics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99432" y="294436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₹15L MRR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599432" y="376732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₹1.8Cr annual recurring revenue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01584" y="228600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75904" y="25420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clinics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75904" y="294436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₹1.5Cr MRR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375904" y="376732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₹18Cr ARR before enterprise expansion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8280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planning assumptions at a blended ARPA of ₹1,500/month — not a forecast. To be replaced with real pilot data.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AF5F5"/>
          </a:solidFill>
          <a:ln/>
        </p:spPr>
      </p:sp>
      <p:pic>
        <p:nvPicPr>
          <p:cNvPr id="19" name="Image 0" descr="/home/claude/clinicos_deck/icons/bullsey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577840"/>
            <a:ext cx="457200" cy="4572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63040" y="534924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Krishnanagar and Nadia district, West Bengal — for founder access and language fit — then one more language region, then a larger metro, then multi-state through partners. Local density beats national advertising early.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950" dirty="0"/>
          </a:p>
        </p:txBody>
      </p:sp>
      <p:pic>
        <p:nvPicPr>
          <p:cNvPr id="22" name="Image 1" descr="/home/claude/clinicos_deck/logo_mark_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against time saved, not hosting cost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prove it works. Cheap enough that saying yes costs a doctor almost nothing. Priced up only once the value is obvious.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40487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7" name="Image 0" descr="/home/claude/clinicos_deck/icons/handshak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54203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pilot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508760" y="27157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3227832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clinics, real patients, full support — the doctor risks nothing.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25112" y="21488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81144" y="2404872"/>
            <a:ext cx="548640" cy="548640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13" name="Image 1" descr="/home/claude/clinicos_deck/icons/rupe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54203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85232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paid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285232" y="27157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₹500 / month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4581144" y="3227832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 the line from “would pay” to actually paying. Target: 5 clinics by week 16.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01584" y="21488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57616" y="2404872"/>
            <a:ext cx="548640" cy="548640"/>
          </a:xfrm>
          <a:prstGeom prst="ellipse">
            <a:avLst/>
          </a:prstGeom>
          <a:solidFill>
            <a:srgbClr val="E9A23B"/>
          </a:solidFill>
          <a:ln/>
        </p:spPr>
      </p:sp>
      <p:pic>
        <p:nvPicPr>
          <p:cNvPr id="19" name="Image 2" descr="/home/claude/clinicos_deck/icons/char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254203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61704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ARPA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9061704" y="27157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 / month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8357616" y="3227832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target as receptionist, queue and multi-doctor features land.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expansion loop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548640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</p:sp>
      <p:sp>
        <p:nvSpPr>
          <p:cNvPr id="25" name="Text 20"/>
          <p:cNvSpPr/>
          <p:nvPr/>
        </p:nvSpPr>
        <p:spPr>
          <a:xfrm>
            <a:off x="548640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doctor</a:t>
            </a:r>
            <a:endParaRPr lang="en-US" sz="1050" dirty="0"/>
          </a:p>
        </p:txBody>
      </p:sp>
      <p:pic>
        <p:nvPicPr>
          <p:cNvPr id="26" name="Image 3" descr="/home/claude/clinicos_deck/icons/arrowRight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7420" y="5303520"/>
            <a:ext cx="128016" cy="18288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2336292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</p:sp>
      <p:sp>
        <p:nvSpPr>
          <p:cNvPr id="28" name="Text 22"/>
          <p:cNvSpPr/>
          <p:nvPr/>
        </p:nvSpPr>
        <p:spPr>
          <a:xfrm>
            <a:off x="2336292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050" dirty="0"/>
          </a:p>
        </p:txBody>
      </p:sp>
      <p:pic>
        <p:nvPicPr>
          <p:cNvPr id="29" name="Image 4" descr="/home/claude/clinicos_deck/icons/arrowRigh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5072" y="5303520"/>
            <a:ext cx="128016" cy="18288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4123944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</p:sp>
      <p:sp>
        <p:nvSpPr>
          <p:cNvPr id="31" name="Text 24"/>
          <p:cNvSpPr/>
          <p:nvPr/>
        </p:nvSpPr>
        <p:spPr>
          <a:xfrm>
            <a:off x="4123944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doctor</a:t>
            </a:r>
            <a:endParaRPr lang="en-US" sz="1050" dirty="0"/>
          </a:p>
        </p:txBody>
      </p:sp>
      <p:pic>
        <p:nvPicPr>
          <p:cNvPr id="32" name="Image 5" descr="/home/claude/clinicos_deck/icons/arrowRight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2724" y="5303520"/>
            <a:ext cx="128016" cy="18288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5911596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</p:sp>
      <p:sp>
        <p:nvSpPr>
          <p:cNvPr id="34" name="Text 26"/>
          <p:cNvSpPr/>
          <p:nvPr/>
        </p:nvSpPr>
        <p:spPr>
          <a:xfrm>
            <a:off x="5911596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clinic</a:t>
            </a:r>
            <a:endParaRPr lang="en-US" sz="1050" dirty="0"/>
          </a:p>
        </p:txBody>
      </p:sp>
      <p:pic>
        <p:nvPicPr>
          <p:cNvPr id="35" name="Image 6" descr="/home/claude/clinicos_deck/icons/arrowRight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0376" y="5303520"/>
            <a:ext cx="128016" cy="18288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7699248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EAF5F5"/>
          </a:solidFill>
          <a:ln/>
        </p:spPr>
      </p:sp>
      <p:sp>
        <p:nvSpPr>
          <p:cNvPr id="37" name="Text 28"/>
          <p:cNvSpPr/>
          <p:nvPr/>
        </p:nvSpPr>
        <p:spPr>
          <a:xfrm>
            <a:off x="7699248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location</a:t>
            </a:r>
            <a:endParaRPr lang="en-US" sz="1050" dirty="0"/>
          </a:p>
        </p:txBody>
      </p:sp>
      <p:pic>
        <p:nvPicPr>
          <p:cNvPr id="38" name="Image 7" descr="/home/claude/clinicos_deck/icons/arrowRight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028" y="5303520"/>
            <a:ext cx="128016" cy="18288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9486900" y="5120640"/>
            <a:ext cx="1664208" cy="566928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</p:sp>
      <p:sp>
        <p:nvSpPr>
          <p:cNvPr id="40" name="Text 30"/>
          <p:cNvSpPr/>
          <p:nvPr/>
        </p:nvSpPr>
        <p:spPr>
          <a:xfrm>
            <a:off x="9486900" y="5120640"/>
            <a:ext cx="166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Multi-clinic</a:t>
            </a:r>
            <a:endParaRPr lang="en-US" sz="1050" dirty="0"/>
          </a:p>
        </p:txBody>
      </p:sp>
      <p:sp>
        <p:nvSpPr>
          <p:cNvPr id="41" name="Text 31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streams beyond subscription: implementation/migration, premium support, enterprise integrations, hospital modules.</a:t>
            </a:r>
            <a:endParaRPr lang="en-US" sz="1100" dirty="0"/>
          </a:p>
        </p:txBody>
      </p:sp>
      <p:sp>
        <p:nvSpPr>
          <p:cNvPr id="42" name="Text 32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950" dirty="0"/>
          </a:p>
        </p:txBody>
      </p:sp>
      <p:pic>
        <p:nvPicPr>
          <p:cNvPr id="43" name="Image 8" descr="/home/claude/clinicos_deck/logo_mark_transpar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before scale — a 16-week validation plan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scarcest resource for a part-time student founder is doctor conversations, not code. Every phase has a kill criterion, written down in advance.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404872"/>
            <a:ext cx="530352" cy="530352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7" name="Image 0" descr="/home/claude/clinicos_deck/icons/sear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37460"/>
            <a:ext cx="265176" cy="2651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Weeks 1–4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4672" y="3319272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doctor conversations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04672" y="3867912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selling, no laptop for the first 15 minutes. Listening only.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4672" y="4681728"/>
            <a:ext cx="3008376" cy="530352"/>
          </a:xfrm>
          <a:prstGeom prst="roundRect">
            <a:avLst>
              <a:gd name="adj" fmla="val 13793"/>
            </a:avLst>
          </a:prstGeom>
          <a:solidFill>
            <a:srgbClr val="FCEFDD"/>
          </a:solidFill>
          <a:ln/>
        </p:spPr>
      </p:sp>
      <p:sp>
        <p:nvSpPr>
          <p:cNvPr id="12" name="Text 9"/>
          <p:cNvSpPr/>
          <p:nvPr/>
        </p:nvSpPr>
        <p:spPr>
          <a:xfrm>
            <a:off x="932688" y="4681728"/>
            <a:ext cx="2752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Kill: &lt; 6/20 name documentation unprompted as a top-3 pain.</a:t>
            </a:r>
            <a:endParaRPr lang="en-US" sz="950" dirty="0"/>
          </a:p>
        </p:txBody>
      </p:sp>
      <p:pic>
        <p:nvPicPr>
          <p:cNvPr id="13" name="Image 1" descr="/home/claude/clinicos_deck/icons/arrowRigh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368" y="3671316"/>
            <a:ext cx="173736" cy="2011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25112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81144" y="2404872"/>
            <a:ext cx="530352" cy="530352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16" name="Image 2" descr="/home/claude/clinicos_deck/icons/flas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732" y="2537460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81144" y="3063240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Weeks 3–8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581144" y="3319272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free pilot clinics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4581144" y="3867912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patients. Consult volume, cost/consult and edit log instrumented from day one.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581144" y="4681728"/>
            <a:ext cx="3008376" cy="530352"/>
          </a:xfrm>
          <a:prstGeom prst="roundRect">
            <a:avLst>
              <a:gd name="adj" fmla="val 13793"/>
            </a:avLst>
          </a:prstGeom>
          <a:solidFill>
            <a:srgbClr val="FCEFDD"/>
          </a:solidFill>
          <a:ln/>
        </p:spPr>
      </p:sp>
      <p:sp>
        <p:nvSpPr>
          <p:cNvPr id="21" name="Text 16"/>
          <p:cNvSpPr/>
          <p:nvPr/>
        </p:nvSpPr>
        <p:spPr>
          <a:xfrm>
            <a:off x="4709160" y="4681728"/>
            <a:ext cx="2752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still used, unattended, on day 21.</a:t>
            </a:r>
            <a:endParaRPr lang="en-US" sz="950" dirty="0"/>
          </a:p>
        </p:txBody>
      </p:sp>
      <p:pic>
        <p:nvPicPr>
          <p:cNvPr id="22" name="Image 3" descr="/home/claude/clinicos_deck/icons/arrowRight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671316"/>
            <a:ext cx="173736" cy="201168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01584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8357616" y="2404872"/>
            <a:ext cx="530352" cy="530352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25" name="Image 4" descr="/home/claude/clinicos_deck/icons/rupe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2537460"/>
            <a:ext cx="265176" cy="26517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357616" y="3063240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Weeks 9–16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8357616" y="3319272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₹500/month</a:t>
            </a:r>
            <a:endParaRPr lang="en-US" sz="1550" dirty="0"/>
          </a:p>
        </p:txBody>
      </p:sp>
      <p:sp>
        <p:nvSpPr>
          <p:cNvPr id="28" name="Text 21"/>
          <p:cNvSpPr/>
          <p:nvPr/>
        </p:nvSpPr>
        <p:spPr>
          <a:xfrm>
            <a:off x="8357616" y="3867912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changing hands matters more than a bigger number promised later.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357616" y="4681728"/>
            <a:ext cx="3008376" cy="530352"/>
          </a:xfrm>
          <a:prstGeom prst="roundRect">
            <a:avLst>
              <a:gd name="adj" fmla="val 13793"/>
            </a:avLst>
          </a:prstGeom>
          <a:solidFill>
            <a:srgbClr val="FCEFDD"/>
          </a:solidFill>
          <a:ln/>
        </p:spPr>
      </p:sp>
      <p:sp>
        <p:nvSpPr>
          <p:cNvPr id="30" name="Text 23"/>
          <p:cNvSpPr/>
          <p:nvPr/>
        </p:nvSpPr>
        <p:spPr>
          <a:xfrm>
            <a:off x="8485632" y="4681728"/>
            <a:ext cx="2752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5 paying clinics by week 16.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548640" y="56235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after: local density in Krishnanagar/Nadia beats national ads — chain referrals, IMA branch introductions, and a referral loop where every satisfied doctor names two colleagues.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950" dirty="0"/>
          </a:p>
        </p:txBody>
      </p:sp>
      <p:pic>
        <p:nvPicPr>
          <p:cNvPr id="33" name="Image 5" descr="/home/claude/clinicos_deck/logo_mark_transpar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is doors knocked on, not features bundled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teams can out-bundle a feature list. They will not send a salesperson door-to-door across small-town Nadia district — that is the actual moat.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913632" y="214884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HIS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37960" y="214884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cloud EMR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62288" y="2148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10642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606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for a solo doctor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13632" y="2606040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Weeks, IT staff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still cloud-dependent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62288" y="2606040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works offline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172968"/>
            <a:ext cx="11064240" cy="566928"/>
          </a:xfrm>
          <a:prstGeom prst="rect">
            <a:avLst/>
          </a:prstGeom>
          <a:solidFill>
            <a:srgbClr val="EFF2F6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17296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internet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3172968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3172968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62288" y="3172968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core loop is fully local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739896"/>
            <a:ext cx="110642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3989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Bengali/Hindi/English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13632" y="3739896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37960" y="3739896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(Eka Care is closest)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62288" y="3739896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First-class, from v0.5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306824"/>
            <a:ext cx="11064240" cy="566928"/>
          </a:xfrm>
          <a:prstGeom prst="rect">
            <a:avLst/>
          </a:prstGeom>
          <a:solidFill>
            <a:srgbClr val="EFF2F6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3068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for a ₹500-OPD clinic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13632" y="4306824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reach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4306824"/>
            <a:ext cx="2350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out of reach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62288" y="430682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₹500–1,500/month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2148840"/>
            <a:ext cx="11064240" cy="2724912"/>
          </a:xfrm>
          <a:prstGeom prst="rect">
            <a:avLst/>
          </a:prstGeom>
          <a:ln w="12700">
            <a:solidFill>
              <a:srgbClr val="E2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AF5F5"/>
          </a:solidFill>
          <a:ln/>
        </p:spPr>
      </p:sp>
      <p:pic>
        <p:nvPicPr>
          <p:cNvPr id="32" name="Image 0" descr="/home/claude/clinicos_deck/icons/shield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138928"/>
            <a:ext cx="457200" cy="45720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463040" y="4892040"/>
            <a:ext cx="9966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Care announced an offline-capable, code-mixing-aware scribe with NVIDIA in Feb 2026 — “no monitoring, no referral loop” describes a roadmap gap, not a permanent one. The first 200 clinics get zero network effect; Phase 1 has to win on standalone product quality alone.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950" dirty="0"/>
          </a:p>
        </p:txBody>
      </p:sp>
      <p:pic>
        <p:nvPicPr>
          <p:cNvPr id="35" name="Image 1" descr="/home/claude/clinicos_deck/logo_mark_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a feature, built in from v0.5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software earns the right to scale by getting the boring things right first. This is a strategy document, not legal advice — qualified counsel is needed before real deployment.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350008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7" name="Image 0" descr="/home/claude/clinicos_deck/icons/balanceScal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4780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2951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is Data Fiduciary, ClinicOS is Data Processor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68096" y="2862072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DPDP roles, formalised in a plain-language pilot agreement with each clinic.</a:t>
            </a:r>
            <a:endParaRPr lang="en-US" sz="970" dirty="0"/>
          </a:p>
        </p:txBody>
      </p:sp>
      <p:sp>
        <p:nvSpPr>
          <p:cNvPr id="10" name="Shape 7"/>
          <p:cNvSpPr/>
          <p:nvPr/>
        </p:nvSpPr>
        <p:spPr>
          <a:xfrm>
            <a:off x="6217920" y="21488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37376" y="2350008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12" name="Image 1" descr="/home/claude/clinicos_deck/icons/checkCircl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4780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95744" y="22951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before the first byte of audio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437376" y="2862072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 the API, not just the UI — recording is technically impossible without it.</a:t>
            </a:r>
            <a:endParaRPr lang="en-US" sz="970" dirty="0"/>
          </a:p>
        </p:txBody>
      </p:sp>
      <p:sp>
        <p:nvSpPr>
          <p:cNvPr id="15" name="Shape 11"/>
          <p:cNvSpPr/>
          <p:nvPr/>
        </p:nvSpPr>
        <p:spPr>
          <a:xfrm>
            <a:off x="548640" y="3685032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68096" y="3886200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17" name="Image 2" descr="/home/claude/clinicos_deck/icons/shield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014216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26464" y="383133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pharmaceutical access, ever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768096" y="4398264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patient identity, no prescribing data, no influence on a prescribing decision — survives contract termination.</a:t>
            </a:r>
            <a:endParaRPr lang="en-US" sz="970" dirty="0"/>
          </a:p>
        </p:txBody>
      </p:sp>
      <p:sp>
        <p:nvSpPr>
          <p:cNvPr id="20" name="Shape 15"/>
          <p:cNvSpPr/>
          <p:nvPr/>
        </p:nvSpPr>
        <p:spPr>
          <a:xfrm>
            <a:off x="6217920" y="3685032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37376" y="3886200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22" name="Image 3" descr="/home/claude/clinicos_deck/icons/lock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014216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95744" y="383133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audio deleted at signing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37376" y="4398264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owns every record; free export in PDF and structured data within 7 days of request, always.</a:t>
            </a:r>
            <a:endParaRPr lang="en-US" sz="970" dirty="0"/>
          </a:p>
        </p:txBody>
      </p:sp>
      <p:sp>
        <p:nvSpPr>
          <p:cNvPr id="25" name="Shape 19"/>
          <p:cNvSpPr/>
          <p:nvPr/>
        </p:nvSpPr>
        <p:spPr>
          <a:xfrm>
            <a:off x="548640" y="5221224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68096" y="5422392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27" name="Image 4" descr="/home/claude/clinicos_deck/icons/exclamation_amb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550408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26464" y="53675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CDSCO line, known in advance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768096" y="5934456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and retrieval sit outside SaMD today. Chronic-monitoring / risk-alerting later would cross into regulated territory — that's flagged now, not discovered later.</a:t>
            </a:r>
            <a:endParaRPr lang="en-US" sz="970" dirty="0"/>
          </a:p>
        </p:txBody>
      </p:sp>
      <p:sp>
        <p:nvSpPr>
          <p:cNvPr id="30" name="Shape 23"/>
          <p:cNvSpPr/>
          <p:nvPr/>
        </p:nvSpPr>
        <p:spPr>
          <a:xfrm>
            <a:off x="6217920" y="5221224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437376" y="5422392"/>
            <a:ext cx="512064" cy="512064"/>
          </a:xfrm>
          <a:prstGeom prst="ellipse">
            <a:avLst/>
          </a:prstGeom>
          <a:solidFill>
            <a:srgbClr val="E7F4F4"/>
          </a:solidFill>
          <a:ln/>
        </p:spPr>
      </p:sp>
      <p:pic>
        <p:nvPicPr>
          <p:cNvPr id="32" name="Image 5" descr="/home/claude/clinicos_deck/icons/clipboard_tea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5392" y="5550408"/>
            <a:ext cx="256032" cy="25603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95744" y="53675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timeline tracked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6437376" y="5934456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enforcement lands ~May 2027 — consent capture and audit logging are being built now, because retrofitting later is the painful path.</a:t>
            </a:r>
            <a:endParaRPr lang="en-US" sz="970" dirty="0"/>
          </a:p>
        </p:txBody>
      </p:sp>
      <p:sp>
        <p:nvSpPr>
          <p:cNvPr id="35" name="Text 2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trust</a:t>
            </a:r>
            <a:endParaRPr lang="en-US" sz="950" dirty="0"/>
          </a:p>
        </p:txBody>
      </p:sp>
      <p:pic>
        <p:nvPicPr>
          <p:cNvPr id="36" name="Image 6" descr="/home/claude/clinicos_deck/logo_mark_transpar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24 months, in four honest stages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jumps ahead of what the last stage proved.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13294B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2404872"/>
            <a:ext cx="512064" cy="512064"/>
          </a:xfrm>
          <a:prstGeom prst="ellipse">
            <a:avLst/>
          </a:prstGeom>
          <a:solidFill>
            <a:srgbClr val="E9A23B"/>
          </a:solidFill>
          <a:ln/>
        </p:spPr>
      </p:sp>
      <p:pic>
        <p:nvPicPr>
          <p:cNvPr id="7" name="Image 0" descr="/home/claude/clinicos_deck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32888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" y="306324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 mo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86384" y="3319272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wedge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86384" y="3886200"/>
            <a:ext cx="21671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doctor interviews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pilot clinics live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 + audit log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6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patient search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92424" y="214884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30168" y="2404872"/>
            <a:ext cx="512064" cy="512064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13" name="Image 1" descr="/home/claude/clinicos_deck/icons/rupe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53288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30168" y="306324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mo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3630168" y="3319272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paid product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3630168" y="3886200"/>
            <a:ext cx="21671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pilots to ₹500/mo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+ phone search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reminders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process live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236208" y="214884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73952" y="2404872"/>
            <a:ext cx="512064" cy="512064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19" name="Image 2" descr="/home/claude/clinicos_deck/icons/user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2532888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73952" y="306324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7–12 mo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473952" y="3319272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product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6473952" y="3886200"/>
            <a:ext cx="21671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Multi-doctor support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 mode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digitisation MVP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+ consent revocation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9079992" y="2148840"/>
            <a:ext cx="2624328" cy="3566160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317736" y="2404872"/>
            <a:ext cx="512064" cy="512064"/>
          </a:xfrm>
          <a:prstGeom prst="ellipse">
            <a:avLst/>
          </a:prstGeom>
          <a:solidFill>
            <a:srgbClr val="0F8B8D"/>
          </a:solidFill>
          <a:ln/>
        </p:spPr>
      </p:sp>
      <p:pic>
        <p:nvPicPr>
          <p:cNvPr id="25" name="Image 3" descr="/home/claude/clinicos_deck/icons/rout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5752" y="25328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17736" y="306324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13–24 mo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9317736" y="3319272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clinic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9317736" y="3886200"/>
            <a:ext cx="21671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ABDM integration pilot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encrypted backup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follow-up + QR</a:t>
            </a:r>
            <a:endParaRPr lang="en-US" sz="950" dirty="0"/>
          </a:p>
          <a:p>
            <a:pPr marL="152400" indent="-152400">
              <a:lnSpc>
                <a:spcPct val="130000"/>
              </a:lnSpc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Multi-clinic foundations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50" dirty="0"/>
          </a:p>
        </p:txBody>
      </p:sp>
      <p:pic>
        <p:nvPicPr>
          <p:cNvPr id="30" name="Image 4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6483096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853928" y="6519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· Varaxis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0B6668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560320" y="4206240"/>
            <a:ext cx="5486400" cy="5486400"/>
          </a:xfrm>
          <a:prstGeom prst="ellipse">
            <a:avLst/>
          </a:prstGeom>
          <a:solidFill>
            <a:srgbClr val="13294B">
              <a:alpha val="9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98755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us reach the next 20 doctors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7" name="Image 0" descr="/home/claude/clinicos_deck/icons/userM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274320" cy="274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ln w="19050">
            <a:solidFill>
              <a:srgbClr val="0F8B8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554480" y="21214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clinical advisors or pilot clinic introductions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554480" y="25328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highest-leverage thing this stage needs.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" y="3044952"/>
            <a:ext cx="548640" cy="54864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2" name="Image 1" descr="/home/claude/clinicos_deck/icons/rocke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82112"/>
            <a:ext cx="274320" cy="274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22960" y="3044952"/>
            <a:ext cx="548640" cy="548640"/>
          </a:xfrm>
          <a:prstGeom prst="ellipse">
            <a:avLst/>
          </a:prstGeom>
          <a:ln w="19050">
            <a:solidFill>
              <a:srgbClr val="0F8B8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554480" y="3017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on the edit-log-as-moat thesis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554480" y="3429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 where this deck's arithmetic is still too optimistic.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22960" y="3941064"/>
            <a:ext cx="548640" cy="54864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7" name="Image 2" descr="/home/claude/clinicos_deck/icons/buildin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78224"/>
            <a:ext cx="274320" cy="2743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941064"/>
            <a:ext cx="548640" cy="548640"/>
          </a:xfrm>
          <a:prstGeom prst="ellipse">
            <a:avLst/>
          </a:prstGeom>
          <a:ln w="19050">
            <a:solidFill>
              <a:srgbClr val="0F8B8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554480" y="391363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pointer toward NVIDIA Inception / cloud credits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554480" y="43251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local inference needs to be validated against cloud accuracy.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7452360" y="2103120"/>
            <a:ext cx="4160520" cy="2880360"/>
          </a:xfrm>
          <a:prstGeom prst="roundRect">
            <a:avLst>
              <a:gd name="adj" fmla="val 3810"/>
            </a:avLst>
          </a:prstGeom>
          <a:solidFill>
            <a:srgbClr val="16324F"/>
          </a:solidFill>
          <a:ln w="12700">
            <a:solidFill>
              <a:srgbClr val="0B6668"/>
            </a:solidFill>
            <a:prstDash val="solid"/>
          </a:ln>
        </p:spPr>
      </p:sp>
      <p:pic>
        <p:nvPicPr>
          <p:cNvPr id="22" name="Image 3" descr="/home/claude/clinicos_deck/icons/rout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395728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772400" y="2926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772400" y="33101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i="1" dirty="0">
                <a:solidFill>
                  <a:srgbClr val="D9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healthcare operating system for the India that hasn't gone digital yet — starting with one doctor, one clinic, one laptop, and expanding only as far as real usage proves it should.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22960" y="5806440"/>
            <a:ext cx="10561320" cy="566928"/>
          </a:xfrm>
          <a:prstGeom prst="roundRect">
            <a:avLst>
              <a:gd name="adj" fmla="val 19355"/>
            </a:avLst>
          </a:prstGeom>
          <a:solidFill>
            <a:srgbClr val="16324F"/>
          </a:solidFill>
          <a:ln/>
        </p:spPr>
      </p:sp>
      <p:pic>
        <p:nvPicPr>
          <p:cNvPr id="26" name="Image 4" descr="/home/claude/clinicos_deck/logo_mark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879592"/>
            <a:ext cx="420624" cy="4206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611880" y="5806440"/>
            <a:ext cx="7635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ClinicOS  </a:t>
            </a:r>
            <a:pPr algn="l" indent="0" marL="0">
              <a:buNone/>
            </a:pPr>
            <a:r>
              <a:rPr lang="en-US" sz="12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Varaxis   ·   Krishnanagar, Nadia, West Bengal   ·   built by Ishaan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2026-08-20T16:01:47Z</dcterms:created>
  <dcterms:modified xsi:type="dcterms:W3CDTF">2026-08-20T16:01:47Z</dcterms:modified>
</cp:coreProperties>
</file>