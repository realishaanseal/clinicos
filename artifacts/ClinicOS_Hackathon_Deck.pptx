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Avg. fields edited per note</c:v>
                </c:pt>
              </c:strCache>
            </c:strRef>
          </c:tx>
          <c:spPr>
            <a:solidFill>
              <a:srgbClr val="0F8B8D"/>
            </a:solidFill>
            <a:ln w="38100" cap="flat">
              <a:solidFill>
                <a:srgbClr val="0F8B8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F8B8D"/>
              </a:solidFill>
              <a:ln w="9525" cap="flat">
                <a:solidFill>
                  <a:srgbClr val="0F8B8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6.4</c:v>
                </c:pt>
                <c:pt idx="1">
                  <c:v>5.8</c:v>
                </c:pt>
                <c:pt idx="2">
                  <c:v>5.1</c:v>
                </c:pt>
                <c:pt idx="3">
                  <c:v>4.3</c:v>
                </c:pt>
                <c:pt idx="4">
                  <c:v>3.6</c:v>
                </c:pt>
                <c:pt idx="5">
                  <c:v>3</c:v>
                </c:pt>
                <c:pt idx="6">
                  <c:v>2.4</c:v>
                </c:pt>
                <c:pt idx="7">
                  <c:v>1.9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2E6EC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l"/>
        <c:majorGridlines>
          <c:spPr>
            <a:ln w="9525" cap="flat">
              <a:solidFill>
                <a:srgbClr val="E2E6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2E6EC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2.png"/><Relationship Id="rId5" Type="http://schemas.openxmlformats.org/officeDocument/2006/relationships/image" Target="../media/image-3-5.png"/><Relationship Id="rId6" Type="http://schemas.openxmlformats.org/officeDocument/2006/relationships/image" Target="../media/image-3-2.png"/><Relationship Id="rId7" Type="http://schemas.openxmlformats.org/officeDocument/2006/relationships/image" Target="../media/image-3-7.png"/><Relationship Id="rId8" Type="http://schemas.openxmlformats.org/officeDocument/2006/relationships/image" Target="../media/image-3-2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1.png"/><Relationship Id="rId5" Type="http://schemas.openxmlformats.org/officeDocument/2006/relationships/image" Target="../media/image-4-1.png"/><Relationship Id="rId6" Type="http://schemas.openxmlformats.org/officeDocument/2006/relationships/image" Target="../media/image-4-1.png"/><Relationship Id="rId7" Type="http://schemas.openxmlformats.org/officeDocument/2006/relationships/image" Target="../media/image-4-1.png"/><Relationship Id="rId8" Type="http://schemas.openxmlformats.org/officeDocument/2006/relationships/image" Target="../media/image-4-1.png"/><Relationship Id="rId9" Type="http://schemas.openxmlformats.org/officeDocument/2006/relationships/image" Target="../media/image-4-1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chart" Target="../charts/chart1.xml"/><Relationship Id="rId5" Type="http://schemas.openxmlformats.org/officeDocument/2006/relationships/image" Target="../media/image-5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2.png"/><Relationship Id="rId5" Type="http://schemas.openxmlformats.org/officeDocument/2006/relationships/image" Target="../media/image-6-5.png"/><Relationship Id="rId6" Type="http://schemas.openxmlformats.org/officeDocument/2006/relationships/image" Target="../media/image-6-2.png"/><Relationship Id="rId7" Type="http://schemas.openxmlformats.org/officeDocument/2006/relationships/image" Target="../media/image-6-7.png"/><Relationship Id="rId8" Type="http://schemas.openxmlformats.org/officeDocument/2006/relationships/image" Target="../media/image-6-2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4.png"/><Relationship Id="rId6" Type="http://schemas.openxmlformats.org/officeDocument/2006/relationships/image" Target="../media/image-9-4.png"/><Relationship Id="rId7" Type="http://schemas.openxmlformats.org/officeDocument/2006/relationships/image" Target="../media/image-9-4.png"/><Relationship Id="rId8" Type="http://schemas.openxmlformats.org/officeDocument/2006/relationships/image" Target="../media/image-9-4.png"/><Relationship Id="rId9" Type="http://schemas.openxmlformats.org/officeDocument/2006/relationships/image" Target="../media/image-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2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B6668">
              <a:alpha val="4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286000" y="3931920"/>
            <a:ext cx="5486400" cy="5486400"/>
          </a:xfrm>
          <a:prstGeom prst="ellipse">
            <a:avLst/>
          </a:prstGeom>
          <a:solidFill>
            <a:srgbClr val="13294B">
              <a:alpha val="90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1207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VARAXIS  ·  HEALTHCARE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572768"/>
            <a:ext cx="6720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scribe for clinics, hospitals and health systems — built in India, built to scale worldwide.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127248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in, structured note and printable prescription out — drafted locally, corrected by the doctor, signed before it ever becomes a record.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4160520"/>
            <a:ext cx="1869034" cy="384048"/>
          </a:xfrm>
          <a:prstGeom prst="roundRect">
            <a:avLst>
              <a:gd name="adj" fmla="val 50000"/>
            </a:avLst>
          </a:prstGeom>
          <a:solidFill>
            <a:srgbClr val="16324F"/>
          </a:solidFill>
          <a:ln w="12700">
            <a:solidFill>
              <a:srgbClr val="0F8B8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160520"/>
            <a:ext cx="18690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or on-site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93162" y="4160520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6324F"/>
          </a:solidFill>
          <a:ln w="12700">
            <a:solidFill>
              <a:srgbClr val="0F8B8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93162" y="4160520"/>
            <a:ext cx="2496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Bengali · Hindi · English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590642" y="4160520"/>
            <a:ext cx="2317090" cy="384048"/>
          </a:xfrm>
          <a:prstGeom prst="roundRect">
            <a:avLst>
              <a:gd name="adj" fmla="val 50000"/>
            </a:avLst>
          </a:prstGeom>
          <a:solidFill>
            <a:srgbClr val="16324F"/>
          </a:solidFill>
          <a:ln w="12700">
            <a:solidFill>
              <a:srgbClr val="0F8B8D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590642" y="4160520"/>
            <a:ext cx="23170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Consent-gated by design</a:t>
            </a:r>
            <a:endParaRPr lang="en-US" sz="1150" dirty="0"/>
          </a:p>
        </p:txBody>
      </p:sp>
      <p:pic>
        <p:nvPicPr>
          <p:cNvPr id="13" name="Image 0" descr="/home/claude/clinicos_deck/logo_full_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207008"/>
            <a:ext cx="3611880" cy="361188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2296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a student hackathon · August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paperwork eats the doctor's day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vast majority of India's small clinics, documentation, history retrieval, prescriptions,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backups and follow-up are still manual work — done on paper, from memory, or not at all.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624328" cy="3566160"/>
          </a:xfrm>
          <a:prstGeom prst="roundRect">
            <a:avLst>
              <a:gd name="adj" fmla="val 418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41248" y="2651760"/>
            <a:ext cx="658368" cy="658368"/>
          </a:xfrm>
          <a:prstGeom prst="ellipse">
            <a:avLst/>
          </a:prstGeom>
          <a:solidFill>
            <a:srgbClr val="E7F4F4"/>
          </a:solidFill>
          <a:ln/>
        </p:spPr>
        <p:txBody>
          <a:bodyPr/>
          <a:p/>
        </p:txBody>
      </p:sp>
      <p:pic>
        <p:nvPicPr>
          <p:cNvPr id="7" name="Image 0" descr="/home/claude/clinicos_deck/icons/history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256" y="2809768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3502152"/>
            <a:ext cx="2112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history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04672" y="4297680"/>
            <a:ext cx="2112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seen six months ago walks back in — and the record doesn't walk in with them.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92424" y="2331720"/>
            <a:ext cx="2624328" cy="3566160"/>
          </a:xfrm>
          <a:prstGeom prst="roundRect">
            <a:avLst>
              <a:gd name="adj" fmla="val 418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85032" y="2651760"/>
            <a:ext cx="658368" cy="658368"/>
          </a:xfrm>
          <a:prstGeom prst="ellipse">
            <a:avLst/>
          </a:prstGeom>
          <a:solidFill>
            <a:srgbClr val="E7F4F4"/>
          </a:solidFill>
          <a:ln/>
        </p:spPr>
        <p:txBody>
          <a:bodyPr/>
          <a:p/>
        </p:txBody>
      </p:sp>
      <p:pic>
        <p:nvPicPr>
          <p:cNvPr id="12" name="Image 1" descr="/home/claude/clinicos_deck/icons/fileTex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3040" y="2809768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8456" y="3502152"/>
            <a:ext cx="2112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Handwritten, unsearchable notes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3648456" y="4297680"/>
            <a:ext cx="2112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structure, no audit trail, and no way to know what changed between visits.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236208" y="2331720"/>
            <a:ext cx="2624328" cy="3566160"/>
          </a:xfrm>
          <a:prstGeom prst="roundRect">
            <a:avLst>
              <a:gd name="adj" fmla="val 418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528816" y="2651760"/>
            <a:ext cx="658368" cy="658368"/>
          </a:xfrm>
          <a:prstGeom prst="ellipse">
            <a:avLst/>
          </a:prstGeom>
          <a:solidFill>
            <a:srgbClr val="E7F4F4"/>
          </a:solidFill>
          <a:ln/>
        </p:spPr>
        <p:txBody>
          <a:bodyPr/>
          <a:p/>
        </p:txBody>
      </p:sp>
      <p:pic>
        <p:nvPicPr>
          <p:cNvPr id="17" name="Image 2" descr="/home/claude/clinicos_deck/icons/database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6824" y="2809768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92240" y="3502152"/>
            <a:ext cx="2112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Fragile backups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6492240" y="4297680"/>
            <a:ext cx="2112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“Copy this file” is not a backup strategy. One laptop failure can end a clinic's records.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079992" y="2331720"/>
            <a:ext cx="2624328" cy="3566160"/>
          </a:xfrm>
          <a:prstGeom prst="roundRect">
            <a:avLst>
              <a:gd name="adj" fmla="val 418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372600" y="2651760"/>
            <a:ext cx="658368" cy="658368"/>
          </a:xfrm>
          <a:prstGeom prst="ellipse">
            <a:avLst/>
          </a:prstGeom>
          <a:solidFill>
            <a:srgbClr val="E7F4F4"/>
          </a:solidFill>
          <a:ln/>
        </p:spPr>
        <p:txBody>
          <a:bodyPr/>
          <a:p/>
        </p:txBody>
      </p:sp>
      <p:pic>
        <p:nvPicPr>
          <p:cNvPr id="22" name="Image 3" descr="/home/claude/clinicos_deck/icons/route_t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0608" y="2809768"/>
            <a:ext cx="342351" cy="342351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336024" y="3502152"/>
            <a:ext cx="2112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nobody tracks</a:t>
            </a:r>
            <a:endParaRPr lang="en-US" sz="1550" dirty="0"/>
          </a:p>
        </p:txBody>
      </p:sp>
      <p:sp>
        <p:nvSpPr>
          <p:cNvPr id="24" name="Text 18"/>
          <p:cNvSpPr/>
          <p:nvPr/>
        </p:nvSpPr>
        <p:spPr>
          <a:xfrm>
            <a:off x="9336024" y="4297680"/>
            <a:ext cx="2112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who should come back often don't — and nobody in the clinic notices.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548640" y="6172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ClinicOS baseline docs — feature backlog and launch plan, Varaxis, Aug 2026.</a:t>
            </a:r>
            <a:endParaRPr lang="en-US" sz="950" dirty="0"/>
          </a:p>
        </p:txBody>
      </p:sp>
      <p:sp>
        <p:nvSpPr>
          <p:cNvPr id="26" name="Text 20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950" dirty="0"/>
          </a:p>
        </p:txBody>
      </p:sp>
      <p:pic>
        <p:nvPicPr>
          <p:cNvPr id="27" name="Image 4" descr="/home/claude/clinicos_deck/logo_mark_transpar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1320" y="6483096"/>
            <a:ext cx="256032" cy="25603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0853928" y="6519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· Varaxis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consultation, five steps, zero typing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talks to the patient like normal. ClinicOS listens, drafts, and gets out of the way — the doctor stays the final authority on every word.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1975104" cy="32461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496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252728" y="2898648"/>
            <a:ext cx="566928" cy="566928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p/>
        </p:txBody>
      </p:sp>
      <p:pic>
        <p:nvPicPr>
          <p:cNvPr id="8" name="Image 0" descr="/home/claude/clinicos_deck/icons/checkCirc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4460" y="3040380"/>
            <a:ext cx="283464" cy="2834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94944" y="36301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13232" y="402336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Bengali consent script shown and confirmed — enforced server-side, not just UI.</a:t>
            </a:r>
            <a:endParaRPr lang="en-US" sz="1000" dirty="0"/>
          </a:p>
        </p:txBody>
      </p:sp>
      <p:pic>
        <p:nvPicPr>
          <p:cNvPr id="11" name="Image 1" descr="/home/claude/clinicos_deck/icons/arrowRight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2888" y="3845052"/>
            <a:ext cx="17373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06624" y="2331720"/>
            <a:ext cx="1975104" cy="32461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2889504" y="2496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3410712" y="2898648"/>
            <a:ext cx="566928" cy="566928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p/>
        </p:txBody>
      </p:sp>
      <p:pic>
        <p:nvPicPr>
          <p:cNvPr id="15" name="Image 2" descr="/home/claude/clinicos_deck/icons/mic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444" y="3040380"/>
            <a:ext cx="283464" cy="28346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852928" y="36301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2871216" y="402336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microphone captures the consult in any mix of Bengali, Hindi and English.</a:t>
            </a:r>
            <a:endParaRPr lang="en-US" sz="1000" dirty="0"/>
          </a:p>
        </p:txBody>
      </p:sp>
      <p:pic>
        <p:nvPicPr>
          <p:cNvPr id="18" name="Image 3" descr="/home/claude/clinicos_deck/icons/arrowRight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3845052"/>
            <a:ext cx="173736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4864608" y="2331720"/>
            <a:ext cx="1975104" cy="32461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Text 14"/>
          <p:cNvSpPr/>
          <p:nvPr/>
        </p:nvSpPr>
        <p:spPr>
          <a:xfrm>
            <a:off x="5047488" y="2496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Shape 15"/>
          <p:cNvSpPr/>
          <p:nvPr/>
        </p:nvSpPr>
        <p:spPr>
          <a:xfrm>
            <a:off x="5568696" y="2898648"/>
            <a:ext cx="566928" cy="566928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p/>
        </p:txBody>
      </p:sp>
      <p:pic>
        <p:nvPicPr>
          <p:cNvPr id="22" name="Image 4" descr="/home/claude/clinicos_deck/icons/waveform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0428" y="3040380"/>
            <a:ext cx="283464" cy="28346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010912" y="36301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Transcribe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5029200" y="402336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faster-whisper turns speech to text, entirely on the clinic's own machine.</a:t>
            </a:r>
            <a:endParaRPr lang="en-US" sz="1000" dirty="0"/>
          </a:p>
        </p:txBody>
      </p:sp>
      <p:pic>
        <p:nvPicPr>
          <p:cNvPr id="25" name="Image 5" descr="/home/claude/clinicos_deck/icons/arrowRight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8856" y="3845052"/>
            <a:ext cx="173736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7022592" y="2331720"/>
            <a:ext cx="1975104" cy="32461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7" name="Text 19"/>
          <p:cNvSpPr/>
          <p:nvPr/>
        </p:nvSpPr>
        <p:spPr>
          <a:xfrm>
            <a:off x="7205472" y="2496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8" name="Shape 20"/>
          <p:cNvSpPr/>
          <p:nvPr/>
        </p:nvSpPr>
        <p:spPr>
          <a:xfrm>
            <a:off x="7726680" y="2898648"/>
            <a:ext cx="566928" cy="566928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p/>
        </p:txBody>
      </p:sp>
      <p:pic>
        <p:nvPicPr>
          <p:cNvPr id="29" name="Image 6" descr="/home/claude/clinicos_deck/icons/fileText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8412" y="3040380"/>
            <a:ext cx="283464" cy="28346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7168896" y="36301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note</a:t>
            </a:r>
            <a:endParaRPr lang="en-US" sz="1400" dirty="0"/>
          </a:p>
        </p:txBody>
      </p:sp>
      <p:sp>
        <p:nvSpPr>
          <p:cNvPr id="31" name="Text 22"/>
          <p:cNvSpPr/>
          <p:nvPr/>
        </p:nvSpPr>
        <p:spPr>
          <a:xfrm>
            <a:off x="7187184" y="402336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local model structures complaint, history, exam, diagnosis, meds, advice.</a:t>
            </a:r>
            <a:endParaRPr lang="en-US" sz="1000" dirty="0"/>
          </a:p>
        </p:txBody>
      </p:sp>
      <p:pic>
        <p:nvPicPr>
          <p:cNvPr id="32" name="Image 7" descr="/home/claude/clinicos_deck/icons/arrowRight_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6840" y="3845052"/>
            <a:ext cx="173736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9180576" y="2331720"/>
            <a:ext cx="1975104" cy="3246120"/>
          </a:xfrm>
          <a:prstGeom prst="roundRect">
            <a:avLst>
              <a:gd name="adj" fmla="val 5556"/>
            </a:avLst>
          </a:prstGeom>
          <a:solidFill>
            <a:srgbClr val="13294B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4" name="Text 24"/>
          <p:cNvSpPr/>
          <p:nvPr/>
        </p:nvSpPr>
        <p:spPr>
          <a:xfrm>
            <a:off x="9363456" y="2496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5" name="Shape 25"/>
          <p:cNvSpPr/>
          <p:nvPr/>
        </p:nvSpPr>
        <p:spPr>
          <a:xfrm>
            <a:off x="9884664" y="2898648"/>
            <a:ext cx="566928" cy="566928"/>
          </a:xfrm>
          <a:prstGeom prst="ellipse">
            <a:avLst/>
          </a:prstGeom>
          <a:solidFill>
            <a:srgbClr val="E9A23B"/>
          </a:solidFill>
          <a:ln/>
        </p:spPr>
        <p:txBody>
          <a:bodyPr/>
          <a:p/>
        </p:txBody>
      </p:sp>
      <p:pic>
        <p:nvPicPr>
          <p:cNvPr id="36" name="Image 8" descr="/home/claude/clinicos_deck/icons/signature_whit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26396" y="3040380"/>
            <a:ext cx="283464" cy="28346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9326880" y="36301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sign</a:t>
            </a:r>
            <a:endParaRPr lang="en-US" sz="1400" dirty="0"/>
          </a:p>
        </p:txBody>
      </p:sp>
      <p:sp>
        <p:nvSpPr>
          <p:cNvPr id="38" name="Text 27"/>
          <p:cNvSpPr/>
          <p:nvPr/>
        </p:nvSpPr>
        <p:spPr>
          <a:xfrm>
            <a:off x="9345168" y="402336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corrects and signs. Only then is the note filed and the raw audio deleted.</a:t>
            </a:r>
            <a:endParaRPr lang="en-US" sz="1000" dirty="0"/>
          </a:p>
        </p:txBody>
      </p:sp>
      <p:sp>
        <p:nvSpPr>
          <p:cNvPr id="39" name="Shape 28"/>
          <p:cNvSpPr/>
          <p:nvPr/>
        </p:nvSpPr>
        <p:spPr>
          <a:xfrm>
            <a:off x="548640" y="5806440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EAF5F5"/>
          </a:solidFill>
          <a:ln/>
        </p:spPr>
        <p:txBody>
          <a:bodyPr/>
          <a:p/>
        </p:txBody>
      </p:sp>
      <p:sp>
        <p:nvSpPr>
          <p:cNvPr id="40" name="Text 29"/>
          <p:cNvSpPr/>
          <p:nvPr/>
        </p:nvSpPr>
        <p:spPr>
          <a:xfrm>
            <a:off x="822960" y="5806440"/>
            <a:ext cx="10515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online as a service, or on the clinic's own computer kept in step with it — the clinic chooses where its data lives.</a:t>
            </a:r>
            <a:endParaRPr lang="en-US" sz="1300" dirty="0"/>
          </a:p>
        </p:txBody>
      </p:sp>
      <p:sp>
        <p:nvSpPr>
          <p:cNvPr id="41" name="Text 30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950" dirty="0"/>
          </a:p>
        </p:txBody>
      </p:sp>
      <p:pic>
        <p:nvPicPr>
          <p:cNvPr id="42" name="Image 9" descr="/home/claude/clinicos_deck/logo_mark_transparent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61320" y="6483096"/>
            <a:ext cx="256032" cy="256032"/>
          </a:xfrm>
          <a:prstGeom prst="rect">
            <a:avLst/>
          </a:prstGeom>
        </p:spPr>
      </p:pic>
      <p:sp>
        <p:nvSpPr>
          <p:cNvPr id="43" name="Text 31"/>
          <p:cNvSpPr/>
          <p:nvPr/>
        </p:nvSpPr>
        <p:spPr>
          <a:xfrm>
            <a:off x="10853928" y="6519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· Varaxis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mockup — a working v0.5 prototype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below runs today, on a MacBook Air, against real recorded consultations.</a:t>
            </a:r>
            <a:endParaRPr lang="en-US" sz="1400" dirty="0"/>
          </a:p>
        </p:txBody>
      </p:sp>
      <p:pic>
        <p:nvPicPr>
          <p:cNvPr id="5" name="Image 0" descr="/home/claude/clinicos_deck/icons/checkCircl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50976" y="2093976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gate enforced server-side — the audio API itself returns 403 without it</a:t>
            </a:r>
            <a:endParaRPr lang="en-US" sz="1200" dirty="0"/>
          </a:p>
        </p:txBody>
      </p:sp>
      <p:pic>
        <p:nvPicPr>
          <p:cNvPr id="7" name="Image 1" descr="/home/claude/clinicos_deck/icons/checkCircle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0"/>
            <a:ext cx="292608" cy="2926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50976" y="3099816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record → transcribe → draft → sign workflow, end to end</a:t>
            </a:r>
            <a:endParaRPr lang="en-US" sz="1200" dirty="0"/>
          </a:p>
        </p:txBody>
      </p:sp>
      <p:pic>
        <p:nvPicPr>
          <p:cNvPr id="9" name="Image 2" descr="/home/claude/clinicos_deck/icons/checkCircle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06240"/>
            <a:ext cx="292608" cy="2926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50976" y="4105656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transcription (faster-whisper) + local note generation (Ollama, qwen2.5:7b)</a:t>
            </a:r>
            <a:endParaRPr lang="en-US" sz="1200" dirty="0"/>
          </a:p>
        </p:txBody>
      </p:sp>
      <p:pic>
        <p:nvPicPr>
          <p:cNvPr id="11" name="Image 3" descr="/home/claude/clinicos_deck/icons/checkCircle_t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5112" y="2194560"/>
            <a:ext cx="292608" cy="29260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4727448" y="2093976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Dual-layer autosave; interrupted consultations are recoverable, not lost</a:t>
            </a:r>
            <a:endParaRPr lang="en-US" sz="1200" dirty="0"/>
          </a:p>
        </p:txBody>
      </p:sp>
      <p:pic>
        <p:nvPicPr>
          <p:cNvPr id="13" name="Image 4" descr="/home/claude/clinicos_deck/icons/checkCircle_te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5112" y="3200400"/>
            <a:ext cx="292608" cy="292608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4727448" y="3099816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notes are immutable; every pre-sign correction is logged as an edit</a:t>
            </a:r>
            <a:endParaRPr lang="en-US" sz="1200" dirty="0"/>
          </a:p>
        </p:txBody>
      </p:sp>
      <p:pic>
        <p:nvPicPr>
          <p:cNvPr id="15" name="Image 5" descr="/home/claude/clinicos_deck/icons/checkCircle_tea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5112" y="4206240"/>
            <a:ext cx="292608" cy="292608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4727448" y="4105656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A4 prescription, generated and printable on the spot</a:t>
            </a:r>
            <a:endParaRPr lang="en-US" sz="1200" dirty="0"/>
          </a:p>
        </p:txBody>
      </p:sp>
      <p:pic>
        <p:nvPicPr>
          <p:cNvPr id="17" name="Image 6" descr="/home/claude/clinicos_deck/icons/checkCircle_tea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1584" y="2194560"/>
            <a:ext cx="292608" cy="292608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8503920" y="2093976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list, full visit history, phone-number search</a:t>
            </a:r>
            <a:endParaRPr lang="en-US" sz="1200" dirty="0"/>
          </a:p>
        </p:txBody>
      </p:sp>
      <p:pic>
        <p:nvPicPr>
          <p:cNvPr id="19" name="Image 7" descr="/home/claude/clinicos_deck/icons/checkCircle_tea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01584" y="3200400"/>
            <a:ext cx="292608" cy="292608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8503920" y="3099816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SQLite backup, automatic daily backups, guarded restore</a:t>
            </a:r>
            <a:endParaRPr lang="en-US" sz="1200" dirty="0"/>
          </a:p>
        </p:txBody>
      </p:sp>
      <p:pic>
        <p:nvPicPr>
          <p:cNvPr id="21" name="Image 8" descr="/home/claude/clinicos_deck/icons/checkCircle_tea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01584" y="4206240"/>
            <a:ext cx="292608" cy="292608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8503920" y="4105656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Type-to-confirm deletion and per-patient JSON export — no lock-in</a:t>
            </a:r>
            <a:endParaRPr lang="en-US" sz="1200" dirty="0"/>
          </a:p>
        </p:txBody>
      </p:sp>
      <p:sp>
        <p:nvSpPr>
          <p:cNvPr id="23" name="Shape 12"/>
          <p:cNvSpPr/>
          <p:nvPr/>
        </p:nvSpPr>
        <p:spPr>
          <a:xfrm>
            <a:off x="548640" y="5870448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13294B"/>
          </a:solidFill>
          <a:ln/>
        </p:spPr>
        <p:txBody>
          <a:bodyPr/>
          <a:p/>
        </p:txBody>
      </p:sp>
      <p:sp>
        <p:nvSpPr>
          <p:cNvPr id="24" name="Text 13"/>
          <p:cNvSpPr/>
          <p:nvPr/>
        </p:nvSpPr>
        <p:spPr>
          <a:xfrm>
            <a:off x="548640" y="5870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  ·  Online or on-site  ·  Data stays where the clinic chose</a:t>
            </a:r>
            <a:endParaRPr lang="en-US" sz="1450" dirty="0"/>
          </a:p>
        </p:txBody>
      </p:sp>
      <p:sp>
        <p:nvSpPr>
          <p:cNvPr id="25" name="Text 14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built</a:t>
            </a:r>
            <a:endParaRPr lang="en-US" sz="950" dirty="0"/>
          </a:p>
        </p:txBody>
      </p:sp>
      <p:pic>
        <p:nvPicPr>
          <p:cNvPr id="26" name="Image 9" descr="/home/claude/clinicos_deck/logo_mark_transparent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61320" y="6483096"/>
            <a:ext cx="256032" cy="256032"/>
          </a:xfrm>
          <a:prstGeom prst="rect">
            <a:avLst/>
          </a:prstGeom>
        </p:spPr>
      </p:pic>
      <p:sp>
        <p:nvSpPr>
          <p:cNvPr id="27" name="Text 15"/>
          <p:cNvSpPr/>
          <p:nvPr/>
        </p:nvSpPr>
        <p:spPr>
          <a:xfrm>
            <a:off x="10853928" y="6519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· Varaxis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INSIGHT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edit log is the point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field the doctor changes between the AI draft and the signed note is captured. That one table quietly does three jobs at once.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66928" cy="566928"/>
          </a:xfrm>
          <a:prstGeom prst="ellipse">
            <a:avLst/>
          </a:prstGeom>
          <a:solidFill>
            <a:srgbClr val="E7F4F4"/>
          </a:solidFill>
          <a:ln/>
        </p:spPr>
        <p:txBody>
          <a:bodyPr/>
          <a:p/>
        </p:txBody>
      </p:sp>
      <p:pic>
        <p:nvPicPr>
          <p:cNvPr id="6" name="Image 0" descr="/home/claude/clinicos_deck/icons/chart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2473452"/>
            <a:ext cx="283464" cy="283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98448" y="231343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accuracy metric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298448" y="262432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“Edits per note” — shown on the home page, not buried in a log file.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3264408"/>
            <a:ext cx="566928" cy="566928"/>
          </a:xfrm>
          <a:prstGeom prst="ellipse">
            <a:avLst/>
          </a:prstGeom>
          <a:solidFill>
            <a:srgbClr val="E7F4F4"/>
          </a:solidFill>
          <a:ln/>
        </p:spPr>
        <p:txBody>
          <a:bodyPr/>
          <a:p/>
        </p:txBody>
      </p:sp>
      <p:pic>
        <p:nvPicPr>
          <p:cNvPr id="10" name="Image 1" descr="/home/claude/clinicos_deck/icons/brain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3406140"/>
            <a:ext cx="283464" cy="2834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98448" y="32461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training signal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1298448" y="35570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where the model is wrong, in Bengali, Hindi and code-mixed speech.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4197096"/>
            <a:ext cx="566928" cy="566928"/>
          </a:xfrm>
          <a:prstGeom prst="ellipse">
            <a:avLst/>
          </a:prstGeom>
          <a:solidFill>
            <a:srgbClr val="E7F4F4"/>
          </a:solidFill>
          <a:ln/>
        </p:spPr>
        <p:txBody>
          <a:bodyPr/>
          <a:p/>
        </p:txBody>
      </p:sp>
      <p:pic>
        <p:nvPicPr>
          <p:cNvPr id="14" name="Image 2" descr="/home/claude/clinicos_deck/icons/star_amb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4338828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98448" y="417880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best investor artefact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1298448" y="4489704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edit rate falling over eight weeks is a real graph — almost nobody at this stage has one.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548640" y="5175504"/>
            <a:ext cx="5577840" cy="868680"/>
          </a:xfrm>
          <a:prstGeom prst="roundRect">
            <a:avLst>
              <a:gd name="adj" fmla="val 12632"/>
            </a:avLst>
          </a:prstGeom>
          <a:solidFill>
            <a:srgbClr val="EAF5F5"/>
          </a:solidFill>
          <a:ln/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822960" y="5175504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Doctors correct the draft — they don't regenerate it. That habit is what keeps the log honest and the metric real.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537960" y="1783080"/>
            <a:ext cx="507492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Text 15"/>
          <p:cNvSpPr/>
          <p:nvPr/>
        </p:nvSpPr>
        <p:spPr>
          <a:xfrm>
            <a:off x="6858000" y="203911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rate per note (illustrative)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6858000" y="231343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trend once pilots are live — not measured yet</a:t>
            </a:r>
            <a:endParaRPr lang="en-US" sz="10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6812280" y="2651760"/>
          <a:ext cx="452628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3" name="Text 17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log</a:t>
            </a:r>
            <a:endParaRPr lang="en-US" sz="950" dirty="0"/>
          </a:p>
        </p:txBody>
      </p:sp>
      <p:pic>
        <p:nvPicPr>
          <p:cNvPr id="24" name="Image 3" descr="/home/claude/clinicos_deck/logo_mark_transpar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1320" y="6483096"/>
            <a:ext cx="256032" cy="25603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0853928" y="6519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· Varaxis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4572000"/>
            <a:ext cx="6400800" cy="6400800"/>
          </a:xfrm>
          <a:prstGeom prst="ellipse">
            <a:avLst/>
          </a:prstGeom>
          <a:solidFill>
            <a:srgbClr val="13294B">
              <a:alpha val="80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 by design, not by accident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audio never touches a network — the only configuration in which the patient consent script can honestly be read as written.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1975104" cy="2103120"/>
          </a:xfrm>
          <a:prstGeom prst="roundRect">
            <a:avLst>
              <a:gd name="adj" fmla="val 4630"/>
            </a:avLst>
          </a:prstGeom>
          <a:solidFill>
            <a:srgbClr val="16324F"/>
          </a:solidFill>
          <a:ln w="12700">
            <a:solidFill>
              <a:srgbClr val="0B6668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261872" y="2450592"/>
            <a:ext cx="548640" cy="548640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p/>
        </p:txBody>
      </p:sp>
      <p:pic>
        <p:nvPicPr>
          <p:cNvPr id="8" name="Image 0" descr="/home/claude/clinicos_deck/icons/mic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9032" y="258775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3127248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mic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58368" y="3529584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5-second chunks, streamed to disk</a:t>
            </a:r>
            <a:endParaRPr lang="en-US" sz="950" dirty="0"/>
          </a:p>
        </p:txBody>
      </p:sp>
      <p:pic>
        <p:nvPicPr>
          <p:cNvPr id="11" name="Image 1" descr="/home/claude/clinicos_deck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032" y="3145536"/>
            <a:ext cx="164592" cy="20116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24912" y="2194560"/>
            <a:ext cx="1975104" cy="2103120"/>
          </a:xfrm>
          <a:prstGeom prst="roundRect">
            <a:avLst>
              <a:gd name="adj" fmla="val 4630"/>
            </a:avLst>
          </a:prstGeom>
          <a:solidFill>
            <a:srgbClr val="16324F"/>
          </a:solidFill>
          <a:ln w="12700">
            <a:solidFill>
              <a:srgbClr val="0B6668"/>
            </a:solidFill>
            <a:prstDash val="solid"/>
          </a:ln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3438144" y="2450592"/>
            <a:ext cx="548640" cy="548640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p/>
        </p:txBody>
      </p:sp>
      <p:pic>
        <p:nvPicPr>
          <p:cNvPr id="14" name="Image 2" descr="/home/claude/clinicos_deck/icons/waveform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5304" y="2587752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834640" y="3127248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faster-whisper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2834640" y="3529584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ASR — Bengali / Hindi / English</a:t>
            </a:r>
            <a:endParaRPr lang="en-US" sz="950" dirty="0"/>
          </a:p>
        </p:txBody>
      </p:sp>
      <p:pic>
        <p:nvPicPr>
          <p:cNvPr id="17" name="Image 3" descr="/home/claude/clinicos_deck/icons/arrowRight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8304" y="3145536"/>
            <a:ext cx="164592" cy="20116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4901184" y="2194560"/>
            <a:ext cx="1975104" cy="2103120"/>
          </a:xfrm>
          <a:prstGeom prst="roundRect">
            <a:avLst>
              <a:gd name="adj" fmla="val 4630"/>
            </a:avLst>
          </a:prstGeom>
          <a:solidFill>
            <a:srgbClr val="16324F"/>
          </a:solidFill>
          <a:ln w="12700">
            <a:solidFill>
              <a:srgbClr val="0B6668"/>
            </a:solidFill>
            <a:prstDash val="solid"/>
          </a:ln>
        </p:spPr>
        <p:txBody>
          <a:bodyPr/>
          <a:p/>
        </p:txBody>
      </p:sp>
      <p:sp>
        <p:nvSpPr>
          <p:cNvPr id="19" name="Shape 13"/>
          <p:cNvSpPr/>
          <p:nvPr/>
        </p:nvSpPr>
        <p:spPr>
          <a:xfrm>
            <a:off x="5614416" y="2450592"/>
            <a:ext cx="548640" cy="548640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p/>
        </p:txBody>
      </p:sp>
      <p:pic>
        <p:nvPicPr>
          <p:cNvPr id="20" name="Image 4" descr="/home/claude/clinicos_deck/icons/brain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1576" y="2587752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5010912" y="3127248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· qwen2.5:7b</a:t>
            </a:r>
            <a:endParaRPr lang="en-US" sz="1250" dirty="0"/>
          </a:p>
        </p:txBody>
      </p:sp>
      <p:sp>
        <p:nvSpPr>
          <p:cNvPr id="22" name="Text 15"/>
          <p:cNvSpPr/>
          <p:nvPr/>
        </p:nvSpPr>
        <p:spPr>
          <a:xfrm>
            <a:off x="5010912" y="3529584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drafts the structured note</a:t>
            </a:r>
            <a:endParaRPr lang="en-US" sz="950" dirty="0"/>
          </a:p>
        </p:txBody>
      </p:sp>
      <p:pic>
        <p:nvPicPr>
          <p:cNvPr id="23" name="Image 5" descr="/home/claude/clinicos_deck/icons/arrowRight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4576" y="3145536"/>
            <a:ext cx="164592" cy="201168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7077456" y="2194560"/>
            <a:ext cx="1975104" cy="2103120"/>
          </a:xfrm>
          <a:prstGeom prst="roundRect">
            <a:avLst>
              <a:gd name="adj" fmla="val 4630"/>
            </a:avLst>
          </a:prstGeom>
          <a:solidFill>
            <a:srgbClr val="16324F"/>
          </a:solidFill>
          <a:ln w="12700">
            <a:solidFill>
              <a:srgbClr val="0B6668"/>
            </a:solidFill>
            <a:prstDash val="solid"/>
          </a:ln>
        </p:spPr>
        <p:txBody>
          <a:bodyPr/>
          <a:p/>
        </p:txBody>
      </p:sp>
      <p:sp>
        <p:nvSpPr>
          <p:cNvPr id="25" name="Shape 17"/>
          <p:cNvSpPr/>
          <p:nvPr/>
        </p:nvSpPr>
        <p:spPr>
          <a:xfrm>
            <a:off x="7790688" y="2450592"/>
            <a:ext cx="548640" cy="548640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p/>
        </p:txBody>
      </p:sp>
      <p:pic>
        <p:nvPicPr>
          <p:cNvPr id="26" name="Image 6" descr="/home/claude/clinicos_deck/icons/database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7848" y="2587752"/>
            <a:ext cx="274320" cy="274320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7187184" y="3127248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250" dirty="0"/>
          </a:p>
        </p:txBody>
      </p:sp>
      <p:sp>
        <p:nvSpPr>
          <p:cNvPr id="28" name="Text 19"/>
          <p:cNvSpPr/>
          <p:nvPr/>
        </p:nvSpPr>
        <p:spPr>
          <a:xfrm>
            <a:off x="7187184" y="3529584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data/clinicos.db — one file, easy to back up</a:t>
            </a:r>
            <a:endParaRPr lang="en-US" sz="950" dirty="0"/>
          </a:p>
        </p:txBody>
      </p:sp>
      <p:pic>
        <p:nvPicPr>
          <p:cNvPr id="29" name="Image 7" descr="/home/claude/clinicos_deck/icons/arrowRight_wh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70848" y="3145536"/>
            <a:ext cx="164592" cy="201168"/>
          </a:xfrm>
          <a:prstGeom prst="rect">
            <a:avLst/>
          </a:prstGeom>
        </p:spPr>
      </p:pic>
      <p:sp>
        <p:nvSpPr>
          <p:cNvPr id="30" name="Shape 20"/>
          <p:cNvSpPr/>
          <p:nvPr/>
        </p:nvSpPr>
        <p:spPr>
          <a:xfrm>
            <a:off x="9253728" y="2194560"/>
            <a:ext cx="1975104" cy="2103120"/>
          </a:xfrm>
          <a:prstGeom prst="roundRect">
            <a:avLst>
              <a:gd name="adj" fmla="val 4630"/>
            </a:avLst>
          </a:prstGeom>
          <a:solidFill>
            <a:srgbClr val="16324F"/>
          </a:solidFill>
          <a:ln w="12700">
            <a:solidFill>
              <a:srgbClr val="0B6668"/>
            </a:solidFill>
            <a:prstDash val="solid"/>
          </a:ln>
        </p:spPr>
        <p:txBody>
          <a:bodyPr/>
          <a:p/>
        </p:txBody>
      </p:sp>
      <p:sp>
        <p:nvSpPr>
          <p:cNvPr id="31" name="Shape 21"/>
          <p:cNvSpPr/>
          <p:nvPr/>
        </p:nvSpPr>
        <p:spPr>
          <a:xfrm>
            <a:off x="9966960" y="2450592"/>
            <a:ext cx="548640" cy="548640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p/>
        </p:txBody>
      </p:sp>
      <p:pic>
        <p:nvPicPr>
          <p:cNvPr id="32" name="Image 8" descr="/home/claude/clinicos_deck/icons/printer_whit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04120" y="2587752"/>
            <a:ext cx="274320" cy="274320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9363456" y="3127248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</a:t>
            </a:r>
            <a:endParaRPr lang="en-US" sz="1250" dirty="0"/>
          </a:p>
        </p:txBody>
      </p:sp>
      <p:sp>
        <p:nvSpPr>
          <p:cNvPr id="34" name="Text 23"/>
          <p:cNvSpPr/>
          <p:nvPr/>
        </p:nvSpPr>
        <p:spPr>
          <a:xfrm>
            <a:off x="9363456" y="3529584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print, generated on the spot</a:t>
            </a:r>
            <a:endParaRPr lang="en-US" sz="950" dirty="0"/>
          </a:p>
        </p:txBody>
      </p:sp>
      <p:sp>
        <p:nvSpPr>
          <p:cNvPr id="35" name="Text 24"/>
          <p:cNvSpPr/>
          <p:nvPr/>
        </p:nvSpPr>
        <p:spPr>
          <a:xfrm>
            <a:off x="548640" y="4617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Next.js 15 · React 19 · TypeScript · better-sqlite3 · Next.js API routes</a:t>
            </a:r>
            <a:endParaRPr lang="en-US" sz="1150" dirty="0"/>
          </a:p>
        </p:txBody>
      </p:sp>
      <p:sp>
        <p:nvSpPr>
          <p:cNvPr id="36" name="Shape 25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6324F"/>
          </a:solidFill>
          <a:ln/>
        </p:spPr>
        <p:txBody>
          <a:bodyPr/>
          <a:p/>
        </p:txBody>
      </p:sp>
      <p:pic>
        <p:nvPicPr>
          <p:cNvPr id="37" name="Image 9" descr="/home/claude/clinicos_deck/icons/shield_amb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960" y="5285232"/>
            <a:ext cx="384048" cy="384048"/>
          </a:xfrm>
          <a:prstGeom prst="rect">
            <a:avLst/>
          </a:prstGeom>
        </p:spPr>
      </p:pic>
      <p:sp>
        <p:nvSpPr>
          <p:cNvPr id="38" name="Text 26"/>
          <p:cNvSpPr/>
          <p:nvPr/>
        </p:nvSpPr>
        <p:spPr>
          <a:xfrm>
            <a:off x="1371600" y="521208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a safety surface.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6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instructed to leave a field empty rather than guess a symptom, dose or diagnosis. Both ASR and note-generation sit behind one swappable interface each — cloud providers can be plugged in later, only after their data policy is checked in writing.</a:t>
            </a:r>
            <a:endParaRPr lang="en-US" sz="1150" dirty="0"/>
          </a:p>
        </p:txBody>
      </p:sp>
      <p:sp>
        <p:nvSpPr>
          <p:cNvPr id="39" name="Text 27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950" dirty="0"/>
          </a:p>
        </p:txBody>
      </p:sp>
      <p:pic>
        <p:nvPicPr>
          <p:cNvPr id="40" name="Image 10" descr="/home/claude/clinicos_deck/logo_mark_transparen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61320" y="6483096"/>
            <a:ext cx="256032" cy="256032"/>
          </a:xfrm>
          <a:prstGeom prst="rect">
            <a:avLst/>
          </a:prstGeom>
        </p:spPr>
      </p:pic>
      <p:sp>
        <p:nvSpPr>
          <p:cNvPr id="41" name="Text 28"/>
          <p:cNvSpPr/>
          <p:nvPr/>
        </p:nvSpPr>
        <p:spPr>
          <a:xfrm>
            <a:off x="10853928" y="6519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· Varaxis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INDIA, WHY NOW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around the transition from paper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digital-health story isn't uniform — and that gap is the product opportunity, not a footnote to build later.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2395728"/>
            <a:ext cx="566928" cy="566928"/>
          </a:xfrm>
          <a:prstGeom prst="ellipse">
            <a:avLst/>
          </a:prstGeom>
          <a:solidFill>
            <a:srgbClr val="E7F4F4"/>
          </a:solidFill>
          <a:ln/>
        </p:spPr>
        <p:txBody>
          <a:bodyPr/>
          <a:p/>
        </p:txBody>
      </p:sp>
      <p:pic>
        <p:nvPicPr>
          <p:cNvPr id="7" name="Image 0" descr="/home/claude/clinicos_deck/icons/languag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2537460"/>
            <a:ext cx="283464" cy="28346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3591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Code-mixed speech is normal here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41248" y="2944368"/>
            <a:ext cx="4809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Bengali, Hindi and English inside a single consultation is treated as a first-class requirement, not an edge case a global product bolts on later.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17920" y="2103120"/>
            <a:ext cx="53949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492240" y="2395728"/>
            <a:ext cx="566928" cy="566928"/>
          </a:xfrm>
          <a:prstGeom prst="ellipse">
            <a:avLst/>
          </a:prstGeom>
          <a:solidFill>
            <a:srgbClr val="E7F4F4"/>
          </a:solidFill>
          <a:ln/>
        </p:spPr>
        <p:txBody>
          <a:bodyPr/>
          <a:p/>
        </p:txBody>
      </p:sp>
      <p:pic>
        <p:nvPicPr>
          <p:cNvPr id="12" name="Image 1" descr="/home/claude/clinicos_deck/icons/wifi_off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972" y="2537460"/>
            <a:ext cx="283464" cy="28346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23760" y="23591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is inconsistent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6510528" y="2944368"/>
            <a:ext cx="4809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losing a consultation isn't a feature — it's what lets a doctor rely on the product every day, whether the connection is fast or patchy.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48640" y="4160520"/>
            <a:ext cx="53949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22960" y="4453128"/>
            <a:ext cx="566928" cy="566928"/>
          </a:xfrm>
          <a:prstGeom prst="ellipse">
            <a:avLst/>
          </a:prstGeom>
          <a:solidFill>
            <a:srgbClr val="E7F4F4"/>
          </a:solidFill>
          <a:ln/>
        </p:spPr>
        <p:txBody>
          <a:bodyPr/>
          <a:p/>
        </p:txBody>
      </p:sp>
      <p:pic>
        <p:nvPicPr>
          <p:cNvPr id="17" name="Image 2" descr="/home/claude/clinicos_deck/icons/route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" y="4594860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54480" y="44165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ABDM is building the rails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841248" y="5001768"/>
            <a:ext cx="4809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Facility Registry, ABHA and consent-aware exchange give an India-first product real interoperability to plug into rather than compete against.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217920" y="4160520"/>
            <a:ext cx="53949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6492240" y="4453128"/>
            <a:ext cx="566928" cy="566928"/>
          </a:xfrm>
          <a:prstGeom prst="ellipse">
            <a:avLst/>
          </a:prstGeom>
          <a:solidFill>
            <a:srgbClr val="E7F4F4"/>
          </a:solidFill>
          <a:ln/>
        </p:spPr>
        <p:txBody>
          <a:bodyPr/>
          <a:p/>
        </p:txBody>
      </p:sp>
      <p:pic>
        <p:nvPicPr>
          <p:cNvPr id="22" name="Image 3" descr="/home/claude/clinicos_deck/icons/bolt_amb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3972" y="4594860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223760" y="44165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scribing just became affordable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6510528" y="5001768"/>
            <a:ext cx="4809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recognition and note drafting now run on an ordinary clinic laptop or a hosted service at low cost — the bar for an AI scribe dropped enough to matter this year.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India, why now</a:t>
            </a:r>
            <a:endParaRPr lang="en-US" sz="950" dirty="0"/>
          </a:p>
        </p:txBody>
      </p:sp>
      <p:pic>
        <p:nvPicPr>
          <p:cNvPr id="26" name="Image 4" descr="/home/claude/clinicos_deck/logo_mark_transpar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1320" y="6483096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0853928" y="6519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· Varaxis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 tail nobody has properly digitized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smallest unit — one doctor, one clinic — then multi-doctor clinics, hospitals and health systems, then international markets.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54203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clinics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94436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822960" y="376732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recurring revenue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228600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13294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99432" y="254203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clinics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99432" y="294436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₹15L MRR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599432" y="376732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6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₹1.8Cr annual recurring revenue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01584" y="228600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375904" y="254203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clinics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75904" y="294436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₹1.5Cr MRR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375904" y="376732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₹18Cr ARR before enterprise expansion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48280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planning assumptions at a blended ARPA of ₹1,500/month — not a forecast. To be replaced with real pilot data.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53492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AF5F5"/>
          </a:solidFill>
          <a:ln/>
        </p:spPr>
        <p:txBody>
          <a:bodyPr/>
          <a:p/>
        </p:txBody>
      </p:sp>
      <p:pic>
        <p:nvPicPr>
          <p:cNvPr id="19" name="Image 0" descr="/home/claude/clinicos_deck/icons/bullsey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577840"/>
            <a:ext cx="457200" cy="4572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63040" y="534924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Beachhead: 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single-doctor and small clinics, where the whole visit rests on one person — then multi-doctor clinics, hospitals and health systems, then international markets. Density through referrals beats advertising early.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950" dirty="0"/>
          </a:p>
        </p:txBody>
      </p:sp>
      <p:pic>
        <p:nvPicPr>
          <p:cNvPr id="22" name="Image 1" descr="/home/claude/clinicos_deck/logo_mark_transpar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483096"/>
            <a:ext cx="256032" cy="256032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0853928" y="6519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· Varaxis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against time saved, not hosting cost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to prove it works. Cheap enough that saying yes costs a doctor almost nothing. Priced up only once the value is obvious.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04672" y="2404872"/>
            <a:ext cx="548640" cy="548640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p/>
        </p:txBody>
      </p:sp>
      <p:pic>
        <p:nvPicPr>
          <p:cNvPr id="7" name="Image 0" descr="/home/claude/clinicos_deck/icons/handshak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54203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4231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pilot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508760" y="271576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days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3227832"/>
            <a:ext cx="30083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clinics, real patients, full support — the doctor risks nothing.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25112" y="214884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581144" y="2404872"/>
            <a:ext cx="548640" cy="548640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p/>
        </p:txBody>
      </p:sp>
      <p:pic>
        <p:nvPicPr>
          <p:cNvPr id="13" name="Image 1" descr="/home/claude/clinicos_deck/icons/rupe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542032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85232" y="24231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paid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5285232" y="271576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₹500 / month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4581144" y="3227832"/>
            <a:ext cx="30083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Crosses the line from “would pay” to actually paying. Target: 5 clinics by week 16.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101584" y="214884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8357616" y="2404872"/>
            <a:ext cx="548640" cy="548640"/>
          </a:xfrm>
          <a:prstGeom prst="ellipse">
            <a:avLst/>
          </a:prstGeom>
          <a:solidFill>
            <a:srgbClr val="E9A23B"/>
          </a:solidFill>
          <a:ln/>
        </p:spPr>
        <p:txBody>
          <a:bodyPr/>
          <a:p/>
        </p:txBody>
      </p:sp>
      <p:pic>
        <p:nvPicPr>
          <p:cNvPr id="19" name="Image 2" descr="/home/claude/clinicos_deck/icons/chart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4776" y="2542032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061704" y="24231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ARPA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9061704" y="271576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₹1,500 / month</a:t>
            </a:r>
            <a:endParaRPr lang="en-US" sz="1900" dirty="0"/>
          </a:p>
        </p:txBody>
      </p:sp>
      <p:sp>
        <p:nvSpPr>
          <p:cNvPr id="22" name="Text 17"/>
          <p:cNvSpPr/>
          <p:nvPr/>
        </p:nvSpPr>
        <p:spPr>
          <a:xfrm>
            <a:off x="8357616" y="3227832"/>
            <a:ext cx="30083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target as receptionist, queue and multi-doctor features land.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548640" y="4709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expansion loop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548640" y="5120640"/>
            <a:ext cx="1664208" cy="566928"/>
          </a:xfrm>
          <a:prstGeom prst="roundRect">
            <a:avLst>
              <a:gd name="adj" fmla="val 50000"/>
            </a:avLst>
          </a:prstGeom>
          <a:solidFill>
            <a:srgbClr val="EAF5F5"/>
          </a:solidFill>
          <a:ln/>
        </p:spPr>
        <p:txBody>
          <a:bodyPr/>
          <a:p/>
        </p:txBody>
      </p:sp>
      <p:sp>
        <p:nvSpPr>
          <p:cNvPr id="25" name="Text 20"/>
          <p:cNvSpPr/>
          <p:nvPr/>
        </p:nvSpPr>
        <p:spPr>
          <a:xfrm>
            <a:off x="548640" y="5120640"/>
            <a:ext cx="1664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doctor</a:t>
            </a:r>
            <a:endParaRPr lang="en-US" sz="1050" dirty="0"/>
          </a:p>
        </p:txBody>
      </p:sp>
      <p:pic>
        <p:nvPicPr>
          <p:cNvPr id="26" name="Image 3" descr="/home/claude/clinicos_deck/icons/arrowRight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7420" y="5303520"/>
            <a:ext cx="128016" cy="18288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2336292" y="5120640"/>
            <a:ext cx="1664208" cy="566928"/>
          </a:xfrm>
          <a:prstGeom prst="roundRect">
            <a:avLst>
              <a:gd name="adj" fmla="val 50000"/>
            </a:avLst>
          </a:prstGeom>
          <a:solidFill>
            <a:srgbClr val="EAF5F5"/>
          </a:solidFill>
          <a:ln/>
        </p:spPr>
        <p:txBody>
          <a:bodyPr/>
          <a:p/>
        </p:txBody>
      </p:sp>
      <p:sp>
        <p:nvSpPr>
          <p:cNvPr id="28" name="Text 22"/>
          <p:cNvSpPr/>
          <p:nvPr/>
        </p:nvSpPr>
        <p:spPr>
          <a:xfrm>
            <a:off x="2336292" y="5120640"/>
            <a:ext cx="1664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</a:t>
            </a:r>
            <a:endParaRPr lang="en-US" sz="1050" dirty="0"/>
          </a:p>
        </p:txBody>
      </p:sp>
      <p:pic>
        <p:nvPicPr>
          <p:cNvPr id="29" name="Image 4" descr="/home/claude/clinicos_deck/icons/arrowRight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5072" y="5303520"/>
            <a:ext cx="128016" cy="182880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4123944" y="5120640"/>
            <a:ext cx="1664208" cy="566928"/>
          </a:xfrm>
          <a:prstGeom prst="roundRect">
            <a:avLst>
              <a:gd name="adj" fmla="val 50000"/>
            </a:avLst>
          </a:prstGeom>
          <a:solidFill>
            <a:srgbClr val="EAF5F5"/>
          </a:solidFill>
          <a:ln/>
        </p:spPr>
        <p:txBody>
          <a:bodyPr/>
          <a:p/>
        </p:txBody>
      </p:sp>
      <p:sp>
        <p:nvSpPr>
          <p:cNvPr id="31" name="Text 24"/>
          <p:cNvSpPr/>
          <p:nvPr/>
        </p:nvSpPr>
        <p:spPr>
          <a:xfrm>
            <a:off x="4123944" y="5120640"/>
            <a:ext cx="1664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doctor</a:t>
            </a:r>
            <a:endParaRPr lang="en-US" sz="1050" dirty="0"/>
          </a:p>
        </p:txBody>
      </p:sp>
      <p:pic>
        <p:nvPicPr>
          <p:cNvPr id="32" name="Image 5" descr="/home/claude/clinicos_deck/icons/arrowRight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2724" y="5303520"/>
            <a:ext cx="128016" cy="182880"/>
          </a:xfrm>
          <a:prstGeom prst="rect">
            <a:avLst/>
          </a:prstGeom>
        </p:spPr>
      </p:pic>
      <p:sp>
        <p:nvSpPr>
          <p:cNvPr id="33" name="Shape 25"/>
          <p:cNvSpPr/>
          <p:nvPr/>
        </p:nvSpPr>
        <p:spPr>
          <a:xfrm>
            <a:off x="5911596" y="5120640"/>
            <a:ext cx="1664208" cy="566928"/>
          </a:xfrm>
          <a:prstGeom prst="roundRect">
            <a:avLst>
              <a:gd name="adj" fmla="val 50000"/>
            </a:avLst>
          </a:prstGeom>
          <a:solidFill>
            <a:srgbClr val="EAF5F5"/>
          </a:solidFill>
          <a:ln/>
        </p:spPr>
        <p:txBody>
          <a:bodyPr/>
          <a:p/>
        </p:txBody>
      </p:sp>
      <p:sp>
        <p:nvSpPr>
          <p:cNvPr id="34" name="Text 26"/>
          <p:cNvSpPr/>
          <p:nvPr/>
        </p:nvSpPr>
        <p:spPr>
          <a:xfrm>
            <a:off x="5911596" y="5120640"/>
            <a:ext cx="1664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clinic</a:t>
            </a:r>
            <a:endParaRPr lang="en-US" sz="1050" dirty="0"/>
          </a:p>
        </p:txBody>
      </p:sp>
      <p:pic>
        <p:nvPicPr>
          <p:cNvPr id="35" name="Image 6" descr="/home/claude/clinicos_deck/icons/arrowRight_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0376" y="5303520"/>
            <a:ext cx="128016" cy="182880"/>
          </a:xfrm>
          <a:prstGeom prst="rect">
            <a:avLst/>
          </a:prstGeom>
        </p:spPr>
      </p:pic>
      <p:sp>
        <p:nvSpPr>
          <p:cNvPr id="36" name="Shape 27"/>
          <p:cNvSpPr/>
          <p:nvPr/>
        </p:nvSpPr>
        <p:spPr>
          <a:xfrm>
            <a:off x="7699248" y="5120640"/>
            <a:ext cx="1664208" cy="566928"/>
          </a:xfrm>
          <a:prstGeom prst="roundRect">
            <a:avLst>
              <a:gd name="adj" fmla="val 50000"/>
            </a:avLst>
          </a:prstGeom>
          <a:solidFill>
            <a:srgbClr val="EAF5F5"/>
          </a:solidFill>
          <a:ln/>
        </p:spPr>
        <p:txBody>
          <a:bodyPr/>
          <a:p/>
        </p:txBody>
      </p:sp>
      <p:sp>
        <p:nvSpPr>
          <p:cNvPr id="37" name="Text 28"/>
          <p:cNvSpPr/>
          <p:nvPr/>
        </p:nvSpPr>
        <p:spPr>
          <a:xfrm>
            <a:off x="7699248" y="5120640"/>
            <a:ext cx="1664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location</a:t>
            </a:r>
            <a:endParaRPr lang="en-US" sz="1050" dirty="0"/>
          </a:p>
        </p:txBody>
      </p:sp>
      <p:pic>
        <p:nvPicPr>
          <p:cNvPr id="38" name="Image 7" descr="/home/claude/clinicos_deck/icons/arrowRight_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68028" y="5303520"/>
            <a:ext cx="128016" cy="182880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9486900" y="5120640"/>
            <a:ext cx="1664208" cy="566928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/>
          <a:p/>
        </p:txBody>
      </p:sp>
      <p:sp>
        <p:nvSpPr>
          <p:cNvPr id="40" name="Text 30"/>
          <p:cNvSpPr/>
          <p:nvPr/>
        </p:nvSpPr>
        <p:spPr>
          <a:xfrm>
            <a:off x="9486900" y="5120640"/>
            <a:ext cx="1664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Multi-clinic</a:t>
            </a:r>
            <a:endParaRPr lang="en-US" sz="1050" dirty="0"/>
          </a:p>
        </p:txBody>
      </p:sp>
      <p:sp>
        <p:nvSpPr>
          <p:cNvPr id="41" name="Text 31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streams beyond subscription: implementation/migration, premium support, enterprise integrations, hospital modules.</a:t>
            </a:r>
            <a:endParaRPr lang="en-US" sz="1100" dirty="0"/>
          </a:p>
        </p:txBody>
      </p:sp>
      <p:sp>
        <p:nvSpPr>
          <p:cNvPr id="42" name="Text 32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950" dirty="0"/>
          </a:p>
        </p:txBody>
      </p:sp>
      <p:pic>
        <p:nvPicPr>
          <p:cNvPr id="43" name="Image 8" descr="/home/claude/clinicos_deck/logo_mark_transpar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61320" y="6483096"/>
            <a:ext cx="256032" cy="256032"/>
          </a:xfrm>
          <a:prstGeom prst="rect">
            <a:avLst/>
          </a:prstGeom>
        </p:spPr>
      </p:pic>
      <p:sp>
        <p:nvSpPr>
          <p:cNvPr id="44" name="Text 33"/>
          <p:cNvSpPr/>
          <p:nvPr/>
        </p:nvSpPr>
        <p:spPr>
          <a:xfrm>
            <a:off x="10853928" y="6519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· Varaxis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before scale — a 16-week validation plan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scarcest resource for a part-time student founder is doctor conversations, not code. Every phase has a kill criterion, written down in advance.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04672" y="2404872"/>
            <a:ext cx="530352" cy="530352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p/>
        </p:txBody>
      </p:sp>
      <p:pic>
        <p:nvPicPr>
          <p:cNvPr id="7" name="Image 0" descr="/home/claude/clinicos_deck/icons/search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537460"/>
            <a:ext cx="265176" cy="26517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3063240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· Weeks 1–4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04672" y="3319272"/>
            <a:ext cx="3008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doctor conversations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04672" y="3867912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selling, no laptop for the first 15 minutes. Listening only.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04672" y="4681728"/>
            <a:ext cx="3008376" cy="530352"/>
          </a:xfrm>
          <a:prstGeom prst="roundRect">
            <a:avLst>
              <a:gd name="adj" fmla="val 13793"/>
            </a:avLst>
          </a:prstGeom>
          <a:solidFill>
            <a:srgbClr val="FCEFDD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932688" y="4681728"/>
            <a:ext cx="2752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Kill: &lt; 6/20 name documentation unprompted as a top-3 pain.</a:t>
            </a:r>
            <a:endParaRPr lang="en-US" sz="950" dirty="0"/>
          </a:p>
        </p:txBody>
      </p:sp>
      <p:pic>
        <p:nvPicPr>
          <p:cNvPr id="13" name="Image 1" descr="/home/claude/clinicos_deck/icons/arrowRight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7368" y="3671316"/>
            <a:ext cx="173736" cy="2011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325112" y="214884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4581144" y="2404872"/>
            <a:ext cx="530352" cy="530352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p/>
        </p:txBody>
      </p:sp>
      <p:pic>
        <p:nvPicPr>
          <p:cNvPr id="16" name="Image 2" descr="/home/claude/clinicos_deck/icons/flask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3732" y="2537460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581144" y="3063240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Weeks 3–8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4581144" y="3319272"/>
            <a:ext cx="3008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free pilot clinics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4581144" y="3867912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patients. Consult volume, cost/consult and edit log instrumented from day one.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4581144" y="4681728"/>
            <a:ext cx="3008376" cy="530352"/>
          </a:xfrm>
          <a:prstGeom prst="roundRect">
            <a:avLst>
              <a:gd name="adj" fmla="val 13793"/>
            </a:avLst>
          </a:prstGeom>
          <a:solidFill>
            <a:srgbClr val="FCEFDD"/>
          </a:solidFill>
          <a:ln/>
        </p:spPr>
        <p:txBody>
          <a:bodyPr/>
          <a:p/>
        </p:txBody>
      </p:sp>
      <p:sp>
        <p:nvSpPr>
          <p:cNvPr id="21" name="Text 16"/>
          <p:cNvSpPr/>
          <p:nvPr/>
        </p:nvSpPr>
        <p:spPr>
          <a:xfrm>
            <a:off x="4709160" y="4681728"/>
            <a:ext cx="2752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still used, unattended, on day 21.</a:t>
            </a:r>
            <a:endParaRPr lang="en-US" sz="950" dirty="0"/>
          </a:p>
        </p:txBody>
      </p:sp>
      <p:pic>
        <p:nvPicPr>
          <p:cNvPr id="22" name="Image 3" descr="/home/claude/clinicos_deck/icons/arrowRight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3671316"/>
            <a:ext cx="173736" cy="201168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8101584" y="214884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4" name="Shape 18"/>
          <p:cNvSpPr/>
          <p:nvPr/>
        </p:nvSpPr>
        <p:spPr>
          <a:xfrm>
            <a:off x="8357616" y="2404872"/>
            <a:ext cx="530352" cy="530352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p/>
        </p:txBody>
      </p:sp>
      <p:pic>
        <p:nvPicPr>
          <p:cNvPr id="25" name="Image 4" descr="/home/claude/clinicos_deck/icons/rupe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0204" y="2537460"/>
            <a:ext cx="265176" cy="26517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8357616" y="3063240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Weeks 9–16</a:t>
            </a:r>
            <a:endParaRPr lang="en-US" sz="1050" dirty="0"/>
          </a:p>
        </p:txBody>
      </p:sp>
      <p:sp>
        <p:nvSpPr>
          <p:cNvPr id="27" name="Text 20"/>
          <p:cNvSpPr/>
          <p:nvPr/>
        </p:nvSpPr>
        <p:spPr>
          <a:xfrm>
            <a:off x="8357616" y="3319272"/>
            <a:ext cx="3008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to ₹500/month</a:t>
            </a:r>
            <a:endParaRPr lang="en-US" sz="1550" dirty="0"/>
          </a:p>
        </p:txBody>
      </p:sp>
      <p:sp>
        <p:nvSpPr>
          <p:cNvPr id="28" name="Text 21"/>
          <p:cNvSpPr/>
          <p:nvPr/>
        </p:nvSpPr>
        <p:spPr>
          <a:xfrm>
            <a:off x="8357616" y="3867912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changing hands matters more than a bigger number promised later.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357616" y="4681728"/>
            <a:ext cx="3008376" cy="530352"/>
          </a:xfrm>
          <a:prstGeom prst="roundRect">
            <a:avLst>
              <a:gd name="adj" fmla="val 13793"/>
            </a:avLst>
          </a:prstGeom>
          <a:solidFill>
            <a:srgbClr val="FCEFDD"/>
          </a:solidFill>
          <a:ln/>
        </p:spPr>
        <p:txBody>
          <a:bodyPr/>
          <a:p/>
        </p:txBody>
      </p:sp>
      <p:sp>
        <p:nvSpPr>
          <p:cNvPr id="30" name="Text 23"/>
          <p:cNvSpPr/>
          <p:nvPr/>
        </p:nvSpPr>
        <p:spPr>
          <a:xfrm>
            <a:off x="8485632" y="4681728"/>
            <a:ext cx="2752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5 paying clinics by week 16.</a:t>
            </a:r>
            <a:endParaRPr lang="en-US" sz="950" dirty="0"/>
          </a:p>
        </p:txBody>
      </p:sp>
      <p:sp>
        <p:nvSpPr>
          <p:cNvPr id="31" name="Text 24"/>
          <p:cNvSpPr/>
          <p:nvPr/>
        </p:nvSpPr>
        <p:spPr>
          <a:xfrm>
            <a:off x="548640" y="56235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after: referral density beats ads — chain referrals, IMA branch introductions, and a referral loop where every satisfied doctor names two colleagues.</a:t>
            </a:r>
            <a:endParaRPr lang="en-US" sz="1150" dirty="0"/>
          </a:p>
        </p:txBody>
      </p:sp>
      <p:sp>
        <p:nvSpPr>
          <p:cNvPr id="32" name="Text 25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950" dirty="0"/>
          </a:p>
        </p:txBody>
      </p:sp>
      <p:pic>
        <p:nvPicPr>
          <p:cNvPr id="33" name="Image 5" descr="/home/claude/clinicos_deck/logo_mark_transpar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1320" y="6483096"/>
            <a:ext cx="256032" cy="256032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0853928" y="6519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· Varaxis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 is doors knocked on, not features bundled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Funded teams can out-bundle a feature list. They will not give every small clinic hands-on, same-day setup — that is the early moat.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13232" y="2148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913632" y="2148840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HIS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537960" y="2148840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cloud EMR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162288" y="2148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1106424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26060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for a solo doctor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13632" y="2606040"/>
            <a:ext cx="2350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Weeks, IT staff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37960" y="2606040"/>
            <a:ext cx="2350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still cloud-dependent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62288" y="2606040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Minutes, online or on-site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172968"/>
            <a:ext cx="11064240" cy="566928"/>
          </a:xfrm>
          <a:prstGeom prst="rect">
            <a:avLst/>
          </a:prstGeom>
          <a:solidFill>
            <a:srgbClr val="EFF2F6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13232" y="317296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working if the internet drops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913632" y="3172968"/>
            <a:ext cx="2350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37960" y="3172968"/>
            <a:ext cx="2350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62288" y="3172968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core loop is fully local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739896"/>
            <a:ext cx="1106424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13232" y="373989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Code-mixed Bengali/Hindi/English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13632" y="3739896"/>
            <a:ext cx="2350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37960" y="3739896"/>
            <a:ext cx="2350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(Eka Care is closest)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62288" y="3739896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First-class, from v0.5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306824"/>
            <a:ext cx="11064240" cy="566928"/>
          </a:xfrm>
          <a:prstGeom prst="rect">
            <a:avLst/>
          </a:prstGeom>
          <a:solidFill>
            <a:srgbClr val="EFF2F6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13232" y="430682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for a ₹500-OPD clinic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913632" y="4306824"/>
            <a:ext cx="2350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reach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37960" y="4306824"/>
            <a:ext cx="2350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out of reach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162288" y="4306824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₹500–1,500/month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2148840"/>
            <a:ext cx="11064240" cy="2724912"/>
          </a:xfrm>
          <a:prstGeom prst="rect">
            <a:avLst/>
          </a:prstGeom>
          <a:ln w="12700">
            <a:solidFill>
              <a:srgbClr val="E2E6EC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EAF5F5"/>
          </a:solidFill>
          <a:ln/>
        </p:spPr>
        <p:txBody>
          <a:bodyPr/>
          <a:p/>
        </p:txBody>
      </p:sp>
      <p:pic>
        <p:nvPicPr>
          <p:cNvPr id="32" name="Image 0" descr="/home/claude/clinicos_deck/icons/shield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138928"/>
            <a:ext cx="457200" cy="457200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1463040" y="4892040"/>
            <a:ext cx="9966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caveat: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Care announced an offline-capable, code-mixing-aware scribe with NVIDIA in Feb 2026 — “no monitoring, no referral loop” describes a roadmap gap, not a permanent one. The first 200 clinics get zero network effect; Phase 1 has to win on standalone product quality alone.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950" dirty="0"/>
          </a:p>
        </p:txBody>
      </p:sp>
      <p:pic>
        <p:nvPicPr>
          <p:cNvPr id="35" name="Image 1" descr="/home/claude/clinicos_deck/logo_mark_transpar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483096"/>
            <a:ext cx="256032" cy="256032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10853928" y="6519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· Varaxis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&amp; TRUST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a feature, built in from v0.5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software earns the right to scale by getting the boring things right first. This is a strategy document, not legal advice — qualified counsel is needed before real deployment.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68096" y="2350008"/>
            <a:ext cx="512064" cy="512064"/>
          </a:xfrm>
          <a:prstGeom prst="ellipse">
            <a:avLst/>
          </a:prstGeom>
          <a:solidFill>
            <a:srgbClr val="E7F4F4"/>
          </a:solidFill>
          <a:ln/>
        </p:spPr>
        <p:txBody>
          <a:bodyPr/>
          <a:p/>
        </p:txBody>
      </p:sp>
      <p:pic>
        <p:nvPicPr>
          <p:cNvPr id="7" name="Image 0" descr="/home/claude/clinicos_deck/icons/balanceScal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47802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26464" y="229514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is Data Fiduciary, ClinicOS is Data Processor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68096" y="2862072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DPDP roles, formalised in a plain-language pilot agreement with each clinic.</a:t>
            </a:r>
            <a:endParaRPr lang="en-US" sz="970" dirty="0"/>
          </a:p>
        </p:txBody>
      </p:sp>
      <p:sp>
        <p:nvSpPr>
          <p:cNvPr id="10" name="Shape 7"/>
          <p:cNvSpPr/>
          <p:nvPr/>
        </p:nvSpPr>
        <p:spPr>
          <a:xfrm>
            <a:off x="6217920" y="214884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437376" y="2350008"/>
            <a:ext cx="512064" cy="512064"/>
          </a:xfrm>
          <a:prstGeom prst="ellipse">
            <a:avLst/>
          </a:prstGeom>
          <a:solidFill>
            <a:srgbClr val="E7F4F4"/>
          </a:solidFill>
          <a:ln/>
        </p:spPr>
        <p:txBody>
          <a:bodyPr/>
          <a:p/>
        </p:txBody>
      </p:sp>
      <p:pic>
        <p:nvPicPr>
          <p:cNvPr id="12" name="Image 1" descr="/home/claude/clinicos_deck/icons/checkCircle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478024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095744" y="229514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before the first byte of audio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6437376" y="2862072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in the API, not just the UI — recording is technically impossible without it.</a:t>
            </a:r>
            <a:endParaRPr lang="en-US" sz="970" dirty="0"/>
          </a:p>
        </p:txBody>
      </p:sp>
      <p:sp>
        <p:nvSpPr>
          <p:cNvPr id="15" name="Shape 11"/>
          <p:cNvSpPr/>
          <p:nvPr/>
        </p:nvSpPr>
        <p:spPr>
          <a:xfrm>
            <a:off x="548640" y="3685032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768096" y="3886200"/>
            <a:ext cx="512064" cy="512064"/>
          </a:xfrm>
          <a:prstGeom prst="ellipse">
            <a:avLst/>
          </a:prstGeom>
          <a:solidFill>
            <a:srgbClr val="E7F4F4"/>
          </a:solidFill>
          <a:ln/>
        </p:spPr>
        <p:txBody>
          <a:bodyPr/>
          <a:p/>
        </p:txBody>
      </p:sp>
      <p:pic>
        <p:nvPicPr>
          <p:cNvPr id="17" name="Image 2" descr="/home/claude/clinicos_deck/icons/shield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4014216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26464" y="383133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pharmaceutical access, ever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768096" y="4398264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patient identity, no prescribing data, no influence on a prescribing decision — survives contract termination.</a:t>
            </a:r>
            <a:endParaRPr lang="en-US" sz="970" dirty="0"/>
          </a:p>
        </p:txBody>
      </p:sp>
      <p:sp>
        <p:nvSpPr>
          <p:cNvPr id="20" name="Shape 15"/>
          <p:cNvSpPr/>
          <p:nvPr/>
        </p:nvSpPr>
        <p:spPr>
          <a:xfrm>
            <a:off x="6217920" y="3685032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6437376" y="3886200"/>
            <a:ext cx="512064" cy="512064"/>
          </a:xfrm>
          <a:prstGeom prst="ellipse">
            <a:avLst/>
          </a:prstGeom>
          <a:solidFill>
            <a:srgbClr val="E7F4F4"/>
          </a:solidFill>
          <a:ln/>
        </p:spPr>
        <p:txBody>
          <a:bodyPr/>
          <a:p/>
        </p:txBody>
      </p:sp>
      <p:pic>
        <p:nvPicPr>
          <p:cNvPr id="22" name="Image 3" descr="/home/claude/clinicos_deck/icons/lock_t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4014216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95744" y="383133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audio deleted at signing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6437376" y="4398264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owns every record; free export in PDF and structured data within 7 days of request, always.</a:t>
            </a:r>
            <a:endParaRPr lang="en-US" sz="970" dirty="0"/>
          </a:p>
        </p:txBody>
      </p:sp>
      <p:sp>
        <p:nvSpPr>
          <p:cNvPr id="25" name="Shape 19"/>
          <p:cNvSpPr/>
          <p:nvPr/>
        </p:nvSpPr>
        <p:spPr>
          <a:xfrm>
            <a:off x="548640" y="5221224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768096" y="5422392"/>
            <a:ext cx="512064" cy="512064"/>
          </a:xfrm>
          <a:prstGeom prst="ellipse">
            <a:avLst/>
          </a:prstGeom>
          <a:solidFill>
            <a:srgbClr val="E7F4F4"/>
          </a:solidFill>
          <a:ln/>
        </p:spPr>
        <p:txBody>
          <a:bodyPr/>
          <a:p/>
        </p:txBody>
      </p:sp>
      <p:pic>
        <p:nvPicPr>
          <p:cNvPr id="27" name="Image 4" descr="/home/claude/clinicos_deck/icons/exclamation_amb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550408"/>
            <a:ext cx="256032" cy="25603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426464" y="536752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CDSCO line, known in advance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768096" y="5934456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and retrieval sit outside SaMD today. Chronic-monitoring / risk-alerting later would cross into regulated territory — that's flagged now, not discovered later.</a:t>
            </a:r>
            <a:endParaRPr lang="en-US" sz="970" dirty="0"/>
          </a:p>
        </p:txBody>
      </p:sp>
      <p:sp>
        <p:nvSpPr>
          <p:cNvPr id="30" name="Shape 23"/>
          <p:cNvSpPr/>
          <p:nvPr/>
        </p:nvSpPr>
        <p:spPr>
          <a:xfrm>
            <a:off x="6217920" y="5221224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</p:spPr>
        <p:txBody>
          <a:bodyPr/>
          <a:p/>
        </p:txBody>
      </p:sp>
      <p:sp>
        <p:nvSpPr>
          <p:cNvPr id="31" name="Shape 24"/>
          <p:cNvSpPr/>
          <p:nvPr/>
        </p:nvSpPr>
        <p:spPr>
          <a:xfrm>
            <a:off x="6437376" y="5422392"/>
            <a:ext cx="512064" cy="512064"/>
          </a:xfrm>
          <a:prstGeom prst="ellipse">
            <a:avLst/>
          </a:prstGeom>
          <a:solidFill>
            <a:srgbClr val="E7F4F4"/>
          </a:solidFill>
          <a:ln/>
        </p:spPr>
        <p:txBody>
          <a:bodyPr/>
          <a:p/>
        </p:txBody>
      </p:sp>
      <p:pic>
        <p:nvPicPr>
          <p:cNvPr id="32" name="Image 5" descr="/home/claude/clinicos_deck/icons/clipboard_tea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5392" y="5550408"/>
            <a:ext cx="256032" cy="25603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7095744" y="536752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timeline tracked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6437376" y="5934456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enforcement lands ~May 2027 — consent capture and audit logging are being built now, because retrofitting later is the painful path.</a:t>
            </a:r>
            <a:endParaRPr lang="en-US" sz="970" dirty="0"/>
          </a:p>
        </p:txBody>
      </p:sp>
      <p:sp>
        <p:nvSpPr>
          <p:cNvPr id="35" name="Text 27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&amp; trust</a:t>
            </a:r>
            <a:endParaRPr lang="en-US" sz="950" dirty="0"/>
          </a:p>
        </p:txBody>
      </p:sp>
      <p:pic>
        <p:nvPicPr>
          <p:cNvPr id="36" name="Image 6" descr="/home/claude/clinicos_deck/logo_mark_transpar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61320" y="6483096"/>
            <a:ext cx="256032" cy="256032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0853928" y="6519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· Varaxis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to 24 months, in four honest stages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jumps ahead of what the last stage proved.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2624328" cy="3566160"/>
          </a:xfrm>
          <a:prstGeom prst="roundRect">
            <a:avLst>
              <a:gd name="adj" fmla="val 4181"/>
            </a:avLst>
          </a:prstGeom>
          <a:solidFill>
            <a:srgbClr val="13294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86384" y="2404872"/>
            <a:ext cx="512064" cy="512064"/>
          </a:xfrm>
          <a:prstGeom prst="ellipse">
            <a:avLst/>
          </a:prstGeom>
          <a:solidFill>
            <a:srgbClr val="E9A23B"/>
          </a:solidFill>
          <a:ln/>
        </p:spPr>
        <p:txBody>
          <a:bodyPr/>
          <a:p/>
        </p:txBody>
      </p:sp>
      <p:pic>
        <p:nvPicPr>
          <p:cNvPr id="7" name="Image 0" descr="/home/claude/clinicos_deck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532888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86384" y="3063240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 mo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86384" y="3319272"/>
            <a:ext cx="216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wedge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86384" y="3886200"/>
            <a:ext cx="216712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C6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doctor interviews</a:t>
            </a:r>
            <a:endParaRPr lang="en-US" sz="950" dirty="0"/>
          </a:p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C6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pilot clinics live</a:t>
            </a:r>
            <a:endParaRPr lang="en-US" sz="950" dirty="0"/>
          </a:p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C6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recovery + audit log</a:t>
            </a:r>
            <a:endParaRPr lang="en-US" sz="950" dirty="0"/>
          </a:p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C6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patient search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92424" y="2148840"/>
            <a:ext cx="2624328" cy="3566160"/>
          </a:xfrm>
          <a:prstGeom prst="roundRect">
            <a:avLst>
              <a:gd name="adj" fmla="val 418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3630168" y="2404872"/>
            <a:ext cx="512064" cy="512064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p/>
        </p:txBody>
      </p:sp>
      <p:pic>
        <p:nvPicPr>
          <p:cNvPr id="13" name="Image 1" descr="/home/claude/clinicos_deck/icons/rupe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8184" y="2532888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30168" y="3063240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mo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3630168" y="3319272"/>
            <a:ext cx="216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paid product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3630168" y="3886200"/>
            <a:ext cx="216712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pilots to ₹500/mo</a:t>
            </a:r>
            <a:endParaRPr lang="en-US" sz="950" dirty="0"/>
          </a:p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+ phone search</a:t>
            </a:r>
            <a:endParaRPr lang="en-US" sz="950" dirty="0"/>
          </a:p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reminders</a:t>
            </a:r>
            <a:endParaRPr lang="en-US" sz="950" dirty="0"/>
          </a:p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process live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236208" y="2148840"/>
            <a:ext cx="2624328" cy="3566160"/>
          </a:xfrm>
          <a:prstGeom prst="roundRect">
            <a:avLst>
              <a:gd name="adj" fmla="val 418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6473952" y="2404872"/>
            <a:ext cx="512064" cy="512064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p/>
        </p:txBody>
      </p:sp>
      <p:pic>
        <p:nvPicPr>
          <p:cNvPr id="19" name="Image 2" descr="/home/claude/clinicos_deck/icons/users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8" y="2532888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473952" y="3063240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7–12 mo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473952" y="3319272"/>
            <a:ext cx="216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product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6473952" y="3886200"/>
            <a:ext cx="216712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Multi-doctor support</a:t>
            </a:r>
            <a:endParaRPr lang="en-US" sz="950" dirty="0"/>
          </a:p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 mode</a:t>
            </a:r>
            <a:endParaRPr lang="en-US" sz="950" dirty="0"/>
          </a:p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digitisation MVP</a:t>
            </a:r>
            <a:endParaRPr lang="en-US" sz="950" dirty="0"/>
          </a:p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+ consent revocation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9079992" y="2148840"/>
            <a:ext cx="2624328" cy="3566160"/>
          </a:xfrm>
          <a:prstGeom prst="roundRect">
            <a:avLst>
              <a:gd name="adj" fmla="val 418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9317736" y="2404872"/>
            <a:ext cx="512064" cy="512064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p/>
        </p:txBody>
      </p:sp>
      <p:pic>
        <p:nvPicPr>
          <p:cNvPr id="25" name="Image 3" descr="/home/claude/clinicos_deck/icons/rout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5752" y="2532888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317736" y="3063240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13–24 mo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9317736" y="3319272"/>
            <a:ext cx="216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clinic</a:t>
            </a:r>
            <a:endParaRPr lang="en-US" sz="1450" dirty="0"/>
          </a:p>
        </p:txBody>
      </p:sp>
      <p:sp>
        <p:nvSpPr>
          <p:cNvPr id="28" name="Text 22"/>
          <p:cNvSpPr/>
          <p:nvPr/>
        </p:nvSpPr>
        <p:spPr>
          <a:xfrm>
            <a:off x="9317736" y="3886200"/>
            <a:ext cx="216712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ABDM integration pilot</a:t>
            </a:r>
            <a:endParaRPr lang="en-US" sz="950" dirty="0"/>
          </a:p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encrypted backup</a:t>
            </a:r>
            <a:endParaRPr lang="en-US" sz="950" dirty="0"/>
          </a:p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follow-up + QR</a:t>
            </a:r>
            <a:endParaRPr lang="en-US" sz="950" dirty="0"/>
          </a:p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Multi-clinic foundations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950" dirty="0"/>
          </a:p>
        </p:txBody>
      </p:sp>
      <p:pic>
        <p:nvPicPr>
          <p:cNvPr id="30" name="Image 4" descr="/home/claude/clinicos_deck/logo_mark_transpar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1320" y="6483096"/>
            <a:ext cx="256032" cy="25603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0853928" y="6519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· Varaxis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0B6668">
              <a:alpha val="4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560320" y="4206240"/>
            <a:ext cx="5486400" cy="5486400"/>
          </a:xfrm>
          <a:prstGeom prst="ellipse">
            <a:avLst/>
          </a:prstGeom>
          <a:solidFill>
            <a:srgbClr val="13294B">
              <a:alpha val="90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685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987552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us reach the next 20 doctors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548640" cy="548640"/>
          </a:xfrm>
          <a:prstGeom prst="ellipse">
            <a:avLst/>
          </a:prstGeom>
          <a:solidFill>
            <a:srgbClr val="16324F"/>
          </a:solidFill>
          <a:ln/>
        </p:spPr>
        <p:txBody>
          <a:bodyPr/>
          <a:p/>
        </p:txBody>
      </p:sp>
      <p:pic>
        <p:nvPicPr>
          <p:cNvPr id="7" name="Image 0" descr="/home/claude/clinicos_deck/icons/userM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86000"/>
            <a:ext cx="274320" cy="2743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2148840"/>
            <a:ext cx="548640" cy="548640"/>
          </a:xfrm>
          <a:prstGeom prst="ellipse">
            <a:avLst/>
          </a:prstGeom>
          <a:ln w="19050">
            <a:solidFill>
              <a:srgbClr val="0F8B8D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554480" y="212140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clinical advisors or pilot clinic introductions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554480" y="253288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highest-leverage thing this stage needs.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22960" y="3044952"/>
            <a:ext cx="548640" cy="548640"/>
          </a:xfrm>
          <a:prstGeom prst="ellipse">
            <a:avLst/>
          </a:prstGeom>
          <a:solidFill>
            <a:srgbClr val="16324F"/>
          </a:solidFill>
          <a:ln/>
        </p:spPr>
        <p:txBody>
          <a:bodyPr/>
          <a:p/>
        </p:txBody>
      </p:sp>
      <p:pic>
        <p:nvPicPr>
          <p:cNvPr id="12" name="Image 1" descr="/home/claude/clinicos_deck/icons/rocke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182112"/>
            <a:ext cx="274320" cy="27432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22960" y="3044952"/>
            <a:ext cx="548640" cy="548640"/>
          </a:xfrm>
          <a:prstGeom prst="ellipse">
            <a:avLst/>
          </a:prstGeom>
          <a:ln w="19050">
            <a:solidFill>
              <a:srgbClr val="0F8B8D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1554480" y="30175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on the edit-log-as-moat thesis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1554480" y="34290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on where this deck's arithmetic is still too optimistic.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22960" y="3941064"/>
            <a:ext cx="548640" cy="548640"/>
          </a:xfrm>
          <a:prstGeom prst="ellipse">
            <a:avLst/>
          </a:prstGeom>
          <a:solidFill>
            <a:srgbClr val="16324F"/>
          </a:solidFill>
          <a:ln/>
        </p:spPr>
        <p:txBody>
          <a:bodyPr/>
          <a:p/>
        </p:txBody>
      </p:sp>
      <p:pic>
        <p:nvPicPr>
          <p:cNvPr id="17" name="Image 2" descr="/home/claude/clinicos_deck/icons/building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078224"/>
            <a:ext cx="274320" cy="2743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22960" y="3941064"/>
            <a:ext cx="548640" cy="548640"/>
          </a:xfrm>
          <a:prstGeom prst="ellipse">
            <a:avLst/>
          </a:prstGeom>
          <a:ln w="19050">
            <a:solidFill>
              <a:srgbClr val="0F8B8D"/>
            </a:solidFill>
            <a:prstDash val="solid"/>
          </a:ln>
        </p:spPr>
        <p:txBody>
          <a:bodyPr/>
          <a:p/>
        </p:txBody>
      </p:sp>
      <p:sp>
        <p:nvSpPr>
          <p:cNvPr id="19" name="Text 14"/>
          <p:cNvSpPr/>
          <p:nvPr/>
        </p:nvSpPr>
        <p:spPr>
          <a:xfrm>
            <a:off x="1554480" y="391363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pointer toward NVIDIA Inception / cloud credits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1554480" y="432511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when local inference needs to be validated against cloud accuracy.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7452360" y="2103120"/>
            <a:ext cx="4160520" cy="2880360"/>
          </a:xfrm>
          <a:prstGeom prst="roundRect">
            <a:avLst>
              <a:gd name="adj" fmla="val 3810"/>
            </a:avLst>
          </a:prstGeom>
          <a:solidFill>
            <a:srgbClr val="16324F"/>
          </a:solidFill>
          <a:ln w="12700">
            <a:solidFill>
              <a:srgbClr val="0B6668"/>
            </a:solidFill>
            <a:prstDash val="solid"/>
          </a:ln>
        </p:spPr>
        <p:txBody>
          <a:bodyPr/>
          <a:p/>
        </p:txBody>
      </p:sp>
      <p:pic>
        <p:nvPicPr>
          <p:cNvPr id="22" name="Image 3" descr="/home/claude/clinicos_deck/icons/rout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2395728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772400" y="29260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vision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7772400" y="3310128"/>
            <a:ext cx="3520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i="1" dirty="0">
                <a:solidFill>
                  <a:srgbClr val="D9E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documentation platform for clinics, hospitals and health systems — starting with one doctor, one clinic, and scaling nationally and internationally as real usage proves it should.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822960" y="5806440"/>
            <a:ext cx="10561320" cy="566928"/>
          </a:xfrm>
          <a:prstGeom prst="roundRect">
            <a:avLst>
              <a:gd name="adj" fmla="val 19355"/>
            </a:avLst>
          </a:prstGeom>
          <a:solidFill>
            <a:srgbClr val="16324F"/>
          </a:solidFill>
          <a:ln/>
        </p:spPr>
        <p:txBody>
          <a:bodyPr/>
          <a:p/>
        </p:txBody>
      </p:sp>
      <p:pic>
        <p:nvPicPr>
          <p:cNvPr id="26" name="Image 4" descr="/home/claude/clinicos_deck/logo_mark_transpar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3240" y="5879592"/>
            <a:ext cx="420624" cy="42062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611880" y="5806440"/>
            <a:ext cx="7635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 </a:t>
            </a:r>
            <a:pPr algn="l" indent="0" marL="0">
              <a:buNone/>
            </a:pPr>
            <a:r>
              <a:rPr lang="en-US" sz="12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Varaxis   ·   built by Ishaan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2026-08-20T16:01:47Z</dcterms:created>
  <dcterms:modified xsi:type="dcterms:W3CDTF">2026-08-20T16:01:47Z</dcterms:modified>
</cp:coreProperties>
</file>