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fields edited per note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Wk 1</c:v>
                  </c:pt>
                  <c:pt idx="1">
                    <c:v>Wk 2</c:v>
                  </c:pt>
                  <c:pt idx="2">
                    <c:v>Wk 3</c:v>
                  </c:pt>
                  <c:pt idx="3">
                    <c:v>Wk 4</c:v>
                  </c:pt>
                  <c:pt idx="4">
                    <c:v>Wk 5</c:v>
                  </c:pt>
                  <c:pt idx="5">
                    <c:v>Wk 6</c:v>
                  </c:pt>
                  <c:pt idx="6">
                    <c:v>Wk 7</c:v>
                  </c:pt>
                  <c:pt idx="7">
                    <c:v>Wk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6.4</c:v>
                </c:pt>
                <c:pt idx="1">
                  <c:v>5.8</c:v>
                </c:pt>
                <c:pt idx="2">
                  <c:v>5.1</c:v>
                </c:pt>
                <c:pt idx="3">
                  <c:v>4.3</c:v>
                </c:pt>
                <c:pt idx="4">
                  <c:v>3.6</c:v>
                </c:pt>
                <c:pt idx="5">
                  <c:v>3</c:v>
                </c:pt>
                <c:pt idx="6">
                  <c:v>2.4</c:v>
                </c:pt>
                <c:pt idx="7">
                  <c:v>1.9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6E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9525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6E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1.png"/><Relationship Id="rId8" Type="http://schemas.openxmlformats.org/officeDocument/2006/relationships/image" Target="../media/image-4-1.png"/><Relationship Id="rId9" Type="http://schemas.openxmlformats.org/officeDocument/2006/relationships/image" Target="../media/image-4-1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chart" Target="../charts/chart1.xml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4.png"/><Relationship Id="rId7" Type="http://schemas.openxmlformats.org/officeDocument/2006/relationships/image" Target="../media/image-9-4.png"/><Relationship Id="rId8" Type="http://schemas.openxmlformats.org/officeDocument/2006/relationships/image" Target="../media/image-9-4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B6668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13294B">
              <a:alpha val="9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VARAXIS  ·  HEALTHCARE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scribe for the Indian clinic that never sends a byte to the cloud.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12724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in, structured note and printable prescription out — drafted locally, corrected by the doctor, signed before it ever becomes a record.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869034" cy="38404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160520"/>
            <a:ext cx="18690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AI, no cloud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93162" y="4160520"/>
            <a:ext cx="2496312" cy="38404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93162" y="416052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· Hindi · English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90642" y="4160520"/>
            <a:ext cx="2317090" cy="38404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 w="1270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590642" y="4160520"/>
            <a:ext cx="2317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by design</a:t>
            </a:r>
            <a:endParaRPr lang="en-US" sz="1150" dirty="0"/>
          </a:p>
        </p:txBody>
      </p:sp>
      <p:pic>
        <p:nvPicPr>
          <p:cNvPr id="13" name="Image 0" descr="/home/claude/clinicos_deck/logo_full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207008"/>
            <a:ext cx="3611880" cy="3611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 student hackathon ·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paperwork eats the doctor's 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vast majority of India's small clinics, documentation, history retrieval, prescriptions,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and follow-up are still manual work — done on paper, from memory, or not at 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651760"/>
            <a:ext cx="658368" cy="65836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7" name="Image 0" descr="/home/claude/clinicos_deck/icons/history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" y="280976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502152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history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429768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seen six months ago walks back in — and the record doesn't walk in with them.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2424" y="233172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85032" y="2651760"/>
            <a:ext cx="658368" cy="65836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12" name="Image 1" descr="/home/claude/clinicos_deck/icons/fileTex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040" y="280976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502152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Handwritten, unsearchable notes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structure, no audit trail, and no way to know what changed between visits.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6208" y="233172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528816" y="2651760"/>
            <a:ext cx="658368" cy="65836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17" name="Image 2" descr="/home/claude/clinicos_deck/icons/databas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824" y="280976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502152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backups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92240" y="429768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“Copy this file” is not a backup strategy. One laptop failure can end a clinic's records.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79992" y="233172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372600" y="2651760"/>
            <a:ext cx="658368" cy="65836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22" name="Image 3" descr="/home/claude/clinicos_deck/icons/rout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0608" y="280976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36024" y="3502152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nobody tracks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336024" y="429768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should come back often don't — and nobody in the clinic notices.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ClinicOS baseline docs — feature backlog and launch plan, Varaxis, Aug 2026.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pic>
        <p:nvPicPr>
          <p:cNvPr id="27" name="Image 4" descr="/home/claude/clinicos_deck/logo_mark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consultation, five steps, zero typing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talks to the patient like normal. ClinicOS listens, drafts, and gets out of the way — the doctor stays the final authority on every word.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75104" cy="32461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52728" y="28986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8" name="Image 0" descr="/home/claude/clinicos_deck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304038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36301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40233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consent script shown and confirmed — enforced server-side, not just UI.</a:t>
            </a:r>
            <a:endParaRPr lang="en-US" sz="1000" dirty="0"/>
          </a:p>
        </p:txBody>
      </p:sp>
      <p:pic>
        <p:nvPicPr>
          <p:cNvPr id="11" name="Image 1" descr="/home/claude/clinicos_deck/icons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3845052"/>
            <a:ext cx="17373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06624" y="2331720"/>
            <a:ext cx="1975104" cy="32461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2889504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410712" y="28986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15" name="Image 2" descr="/home/claude/clinicos_deck/icons/mi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444" y="304038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52928" y="36301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871216" y="40233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microphone captures the consult in any mix of Bengali, Hindi and English.</a:t>
            </a:r>
            <a:endParaRPr lang="en-US" sz="1000" dirty="0"/>
          </a:p>
        </p:txBody>
      </p:sp>
      <p:pic>
        <p:nvPicPr>
          <p:cNvPr id="18" name="Image 3" descr="/home/claude/clinicos_deck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845052"/>
            <a:ext cx="17373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864608" y="2331720"/>
            <a:ext cx="1975104" cy="32461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4"/>
          <p:cNvSpPr/>
          <p:nvPr/>
        </p:nvSpPr>
        <p:spPr>
          <a:xfrm>
            <a:off x="5047488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5568696" y="28986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22" name="Image 4" descr="/home/claude/clinicos_deck/icons/wavefor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0428" y="3040380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10912" y="36301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029200" y="40233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turns speech to text, entirely on the clinic's own machine.</a:t>
            </a:r>
            <a:endParaRPr lang="en-US" sz="1000" dirty="0"/>
          </a:p>
        </p:txBody>
      </p:sp>
      <p:pic>
        <p:nvPicPr>
          <p:cNvPr id="25" name="Image 5" descr="/home/claude/clinicos_deck/icons/arrow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3845052"/>
            <a:ext cx="173736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022592" y="2331720"/>
            <a:ext cx="1975104" cy="32461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19"/>
          <p:cNvSpPr/>
          <p:nvPr/>
        </p:nvSpPr>
        <p:spPr>
          <a:xfrm>
            <a:off x="7205472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0"/>
          <p:cNvSpPr/>
          <p:nvPr/>
        </p:nvSpPr>
        <p:spPr>
          <a:xfrm>
            <a:off x="7726680" y="28986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29" name="Image 6" descr="/home/claude/clinicos_deck/icons/fileTex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8412" y="3040380"/>
            <a:ext cx="283464" cy="28346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68896" y="36301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note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187184" y="40233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model structures complaint, history, exam, diagnosis, meds, advice.</a:t>
            </a:r>
            <a:endParaRPr lang="en-US" sz="1000" dirty="0"/>
          </a:p>
        </p:txBody>
      </p:sp>
      <p:pic>
        <p:nvPicPr>
          <p:cNvPr id="32" name="Image 7" descr="/home/claude/clinicos_deck/icons/arrowRight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3845052"/>
            <a:ext cx="173736" cy="219456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180576" y="2331720"/>
            <a:ext cx="1975104" cy="3246120"/>
          </a:xfrm>
          <a:prstGeom prst="roundRect">
            <a:avLst>
              <a:gd name="adj" fmla="val 5556"/>
            </a:avLst>
          </a:prstGeom>
          <a:solidFill>
            <a:srgbClr val="13294B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Text 24"/>
          <p:cNvSpPr/>
          <p:nvPr/>
        </p:nvSpPr>
        <p:spPr>
          <a:xfrm>
            <a:off x="9363456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25"/>
          <p:cNvSpPr/>
          <p:nvPr/>
        </p:nvSpPr>
        <p:spPr>
          <a:xfrm>
            <a:off x="9884664" y="2898648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p/>
        </p:txBody>
      </p:sp>
      <p:pic>
        <p:nvPicPr>
          <p:cNvPr id="36" name="Image 8" descr="/home/claude/clinicos_deck/icons/signatur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6396" y="3040380"/>
            <a:ext cx="283464" cy="28346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326880" y="36301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sign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345168" y="40233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corrects and signs. Only then is the note filed and the raw audio deleted.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548640" y="580644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EAF5F5"/>
          </a:solidFill>
          <a:ln/>
        </p:spPr>
        <p:txBody>
          <a:bodyPr/>
          <a:p/>
        </p:txBody>
      </p:sp>
      <p:sp>
        <p:nvSpPr>
          <p:cNvPr id="40" name="Text 29"/>
          <p:cNvSpPr/>
          <p:nvPr/>
        </p:nvSpPr>
        <p:spPr>
          <a:xfrm>
            <a:off x="822960" y="580644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the doctor's own laptop. No API keys, no cloud account, no per-consult cost.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pic>
        <p:nvPicPr>
          <p:cNvPr id="42" name="Image 9" descr="/home/claude/clinicos_deck/logo_mark_transpar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a working v0.5 prototype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below runs today, on a MacBook Air, against real recorded consultations.</a:t>
            </a:r>
            <a:endParaRPr lang="en-US" sz="1400" dirty="0"/>
          </a:p>
        </p:txBody>
      </p:sp>
      <p:pic>
        <p:nvPicPr>
          <p:cNvPr id="5" name="Image 0" descr="/home/claude/clinicos_deck/icons/checkCirc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976" y="209397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 enforced server-side — the audio API itself returns 403 without it</a:t>
            </a:r>
            <a:endParaRPr lang="en-US" sz="1200" dirty="0"/>
          </a:p>
        </p:txBody>
      </p:sp>
      <p:pic>
        <p:nvPicPr>
          <p:cNvPr id="7" name="Image 1" descr="/home/claude/clinicos_deck/icons/check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976" y="309981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→ transcribe → draft → sign workflow, end to end</a:t>
            </a:r>
            <a:endParaRPr lang="en-US" sz="1200" dirty="0"/>
          </a:p>
        </p:txBody>
      </p:sp>
      <p:pic>
        <p:nvPicPr>
          <p:cNvPr id="9" name="Image 2" descr="/home/claude/clinicos_deck/icons/check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0624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0976" y="410565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transcription (faster-whisper) + local note generation (Ollama, qwen2.5:7b)</a:t>
            </a:r>
            <a:endParaRPr lang="en-US" sz="1200" dirty="0"/>
          </a:p>
        </p:txBody>
      </p:sp>
      <p:pic>
        <p:nvPicPr>
          <p:cNvPr id="11" name="Image 3" descr="/home/claude/clinicos_deck/icons/checkCirc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219456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27448" y="209397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autosave; interrupted consultations are recoverable, not lost</a:t>
            </a:r>
            <a:endParaRPr lang="en-US" sz="1200" dirty="0"/>
          </a:p>
        </p:txBody>
      </p:sp>
      <p:pic>
        <p:nvPicPr>
          <p:cNvPr id="13" name="Image 4" descr="/home/claude/clinicos_deck/icons/checkCircl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20040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27448" y="309981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notes are immutable; every pre-sign correction is logged as an edit</a:t>
            </a:r>
            <a:endParaRPr lang="en-US" sz="1200" dirty="0"/>
          </a:p>
        </p:txBody>
      </p:sp>
      <p:pic>
        <p:nvPicPr>
          <p:cNvPr id="15" name="Image 5" descr="/home/claude/clinicos_deck/icons/checkCircl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4206240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727448" y="410565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A4 prescription, generated and printable on the spot</a:t>
            </a:r>
            <a:endParaRPr lang="en-US" sz="1200" dirty="0"/>
          </a:p>
        </p:txBody>
      </p:sp>
      <p:pic>
        <p:nvPicPr>
          <p:cNvPr id="17" name="Image 6" descr="/home/claude/clinicos_deck/icons/checkCircle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4" y="2194560"/>
            <a:ext cx="292608" cy="29260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503920" y="209397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list, full visit history, phone-number search</a:t>
            </a:r>
            <a:endParaRPr lang="en-US" sz="1200" dirty="0"/>
          </a:p>
        </p:txBody>
      </p:sp>
      <p:pic>
        <p:nvPicPr>
          <p:cNvPr id="19" name="Image 7" descr="/home/claude/clinicos_deck/icons/checkCircle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4" y="3200400"/>
            <a:ext cx="292608" cy="29260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8503920" y="309981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SQLite backup, automatic daily backups, guarded restore</a:t>
            </a:r>
            <a:endParaRPr lang="en-US" sz="1200" dirty="0"/>
          </a:p>
        </p:txBody>
      </p:sp>
      <p:pic>
        <p:nvPicPr>
          <p:cNvPr id="21" name="Image 8" descr="/home/claude/clinicos_deck/icons/checkCircle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1584" y="4206240"/>
            <a:ext cx="292608" cy="29260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8503920" y="4105656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Type-to-confirm deletion and per-patient JSON export — no lock-in</a:t>
            </a:r>
            <a:endParaRPr lang="en-US" sz="1200" dirty="0"/>
          </a:p>
        </p:txBody>
      </p:sp>
      <p:sp>
        <p:nvSpPr>
          <p:cNvPr id="23" name="Shape 12"/>
          <p:cNvSpPr/>
          <p:nvPr/>
        </p:nvSpPr>
        <p:spPr>
          <a:xfrm>
            <a:off x="548640" y="5870448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24" name="Text 13"/>
          <p:cNvSpPr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calls  ·  Zero API keys  ·  Zero cost to run a consultation</a:t>
            </a:r>
            <a:endParaRPr lang="en-US" sz="1450" dirty="0"/>
          </a:p>
        </p:txBody>
      </p:sp>
      <p:sp>
        <p:nvSpPr>
          <p:cNvPr id="25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950" dirty="0"/>
          </a:p>
        </p:txBody>
      </p:sp>
      <p:pic>
        <p:nvPicPr>
          <p:cNvPr id="26" name="Image 9" descr="/home/claude/clinicos_deck/logo_mark_transpar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 log is the 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the doctor changes between the AI draft and the signed note is captured. That one table quietly does three jobs at once.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6" name="Image 0" descr="/home/claude/clinicos_deck/icons/char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4734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3134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accuracy metric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98448" y="26243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“Edits per note” — shown on the home page, not buried in a log file.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264408"/>
            <a:ext cx="566928" cy="56692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10" name="Image 1" descr="/home/claude/clinicos_deck/icons/brain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406140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246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training signal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98448" y="355701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where the model is wrong, in Bengali, Hindi and code-mixed speech.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566928" cy="56692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14" name="Image 2" descr="/home/claude/clinicos_deck/icons/sta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338828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1788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investor artefact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98448" y="44897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edit rate falling over eight weeks is a real graph — almost nobody at this stage has one.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5175504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EAF5F5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822960" y="517550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correct the draft — they don't regenerate it. That habit is what keeps the log honest and the metric real.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37960" y="178308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6858000" y="203911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rate per note (illustrative)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858000" y="23134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trend once pilots are live — not measured yet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812280" y="2651760"/>
          <a:ext cx="45262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log</a:t>
            </a:r>
            <a:endParaRPr lang="en-US" sz="950" dirty="0"/>
          </a:p>
        </p:txBody>
      </p:sp>
      <p:pic>
        <p:nvPicPr>
          <p:cNvPr id="24" name="Image 3" descr="/home/claude/clinicos_deck/logo_mark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572000"/>
            <a:ext cx="6400800" cy="6400800"/>
          </a:xfrm>
          <a:prstGeom prst="ellipse">
            <a:avLst/>
          </a:prstGeom>
          <a:solidFill>
            <a:srgbClr val="13294B">
              <a:alpha val="8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by design, not by accident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audio never touches a network — the only configuration in which the patient consent script can honestly be read as written.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975104" cy="2103120"/>
          </a:xfrm>
          <a:prstGeom prst="roundRect">
            <a:avLst>
              <a:gd name="adj" fmla="val 4630"/>
            </a:avLst>
          </a:prstGeom>
          <a:solidFill>
            <a:srgbClr val="16324F"/>
          </a:solidFill>
          <a:ln w="12700">
            <a:solidFill>
              <a:srgbClr val="0B666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61872" y="245059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8" name="Image 0" descr="/home/claude/clinicos_deck/icon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58775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1272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mic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3529584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chunks, streamed to disk</a:t>
            </a:r>
            <a:endParaRPr lang="en-US" sz="950" dirty="0"/>
          </a:p>
        </p:txBody>
      </p:sp>
      <p:pic>
        <p:nvPicPr>
          <p:cNvPr id="11" name="Image 1" descr="/home/claude/clinicos_deck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3145536"/>
            <a:ext cx="164592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24912" y="2194560"/>
            <a:ext cx="1975104" cy="2103120"/>
          </a:xfrm>
          <a:prstGeom prst="roundRect">
            <a:avLst>
              <a:gd name="adj" fmla="val 4630"/>
            </a:avLst>
          </a:prstGeom>
          <a:solidFill>
            <a:srgbClr val="16324F"/>
          </a:solidFill>
          <a:ln w="12700">
            <a:solidFill>
              <a:srgbClr val="0B666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38144" y="245059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14" name="Image 2" descr="/home/claude/clinicos_deck/icons/wavefor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5877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34640" y="31272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2834640" y="3529584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ASR — Bengali / Hindi / English</a:t>
            </a:r>
            <a:endParaRPr lang="en-US" sz="950" dirty="0"/>
          </a:p>
        </p:txBody>
      </p:sp>
      <p:pic>
        <p:nvPicPr>
          <p:cNvPr id="17" name="Image 3" descr="/home/claude/clinicos_deck/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3145536"/>
            <a:ext cx="164592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901184" y="2194560"/>
            <a:ext cx="1975104" cy="2103120"/>
          </a:xfrm>
          <a:prstGeom prst="roundRect">
            <a:avLst>
              <a:gd name="adj" fmla="val 4630"/>
            </a:avLst>
          </a:prstGeom>
          <a:solidFill>
            <a:srgbClr val="16324F"/>
          </a:solidFill>
          <a:ln w="12700">
            <a:solidFill>
              <a:srgbClr val="0B6668"/>
            </a:solidFill>
            <a:prstDash val="solid"/>
          </a:ln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5614416" y="245059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20" name="Image 4" descr="/home/claude/clinicos_deck/icon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1576" y="258775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10912" y="31272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qwen2.5:7b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010912" y="3529584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drafts the structured note</a:t>
            </a:r>
            <a:endParaRPr lang="en-US" sz="950" dirty="0"/>
          </a:p>
        </p:txBody>
      </p:sp>
      <p:pic>
        <p:nvPicPr>
          <p:cNvPr id="23" name="Image 5" descr="/home/claude/clinicos_deck/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3145536"/>
            <a:ext cx="164592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077456" y="2194560"/>
            <a:ext cx="1975104" cy="2103120"/>
          </a:xfrm>
          <a:prstGeom prst="roundRect">
            <a:avLst>
              <a:gd name="adj" fmla="val 4630"/>
            </a:avLst>
          </a:prstGeom>
          <a:solidFill>
            <a:srgbClr val="16324F"/>
          </a:solidFill>
          <a:ln w="12700">
            <a:solidFill>
              <a:srgbClr val="0B6668"/>
            </a:solidFill>
            <a:prstDash val="solid"/>
          </a:ln>
        </p:spPr>
        <p:txBody>
          <a:bodyPr/>
          <a:p/>
        </p:txBody>
      </p:sp>
      <p:sp>
        <p:nvSpPr>
          <p:cNvPr id="25" name="Shape 17"/>
          <p:cNvSpPr/>
          <p:nvPr/>
        </p:nvSpPr>
        <p:spPr>
          <a:xfrm>
            <a:off x="7790688" y="245059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26" name="Image 6" descr="/home/claude/clinicos_deck/icons/databa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2587752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187184" y="31272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7187184" y="3529584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data/clinicos.db — one file, easy to back up</a:t>
            </a:r>
            <a:endParaRPr lang="en-US" sz="950" dirty="0"/>
          </a:p>
        </p:txBody>
      </p:sp>
      <p:pic>
        <p:nvPicPr>
          <p:cNvPr id="29" name="Image 7" descr="/home/claude/clinicos_deck/icons/arrowRigh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848" y="3145536"/>
            <a:ext cx="164592" cy="20116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253728" y="2194560"/>
            <a:ext cx="1975104" cy="2103120"/>
          </a:xfrm>
          <a:prstGeom prst="roundRect">
            <a:avLst>
              <a:gd name="adj" fmla="val 4630"/>
            </a:avLst>
          </a:prstGeom>
          <a:solidFill>
            <a:srgbClr val="16324F"/>
          </a:solidFill>
          <a:ln w="12700">
            <a:solidFill>
              <a:srgbClr val="0B6668"/>
            </a:solidFill>
            <a:prstDash val="solid"/>
          </a:ln>
        </p:spPr>
        <p:txBody>
          <a:bodyPr/>
          <a:p/>
        </p:txBody>
      </p:sp>
      <p:sp>
        <p:nvSpPr>
          <p:cNvPr id="31" name="Shape 21"/>
          <p:cNvSpPr/>
          <p:nvPr/>
        </p:nvSpPr>
        <p:spPr>
          <a:xfrm>
            <a:off x="9966960" y="245059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32" name="Image 8" descr="/home/claude/clinicos_deck/icons/printe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4120" y="2587752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363456" y="31272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9363456" y="3529584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print, generated on the spot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Next.js 15 · React 19 · TypeScript · better-sqlite3 · Next.js API routes</a:t>
            </a:r>
            <a:endParaRPr lang="en-US" sz="1150" dirty="0"/>
          </a:p>
        </p:txBody>
      </p:sp>
      <p:sp>
        <p:nvSpPr>
          <p:cNvPr id="36" name="Shape 25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6324F"/>
          </a:solidFill>
          <a:ln/>
        </p:spPr>
        <p:txBody>
          <a:bodyPr/>
          <a:p/>
        </p:txBody>
      </p:sp>
      <p:pic>
        <p:nvPicPr>
          <p:cNvPr id="37" name="Image 9" descr="/home/claude/clinicos_deck/icons/shield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285232"/>
            <a:ext cx="384048" cy="38404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1371600" y="5212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a safety surface.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 to leave a field empty rather than guess a symptom, dose or diagnosis. Both ASR and note-generation sit behind one swappable interface each — cloud providers can be plugged in later, only after their data policy is checked in writing.</a:t>
            </a:r>
            <a:endParaRPr lang="en-US" sz="1150" dirty="0"/>
          </a:p>
        </p:txBody>
      </p:sp>
      <p:sp>
        <p:nvSpPr>
          <p:cNvPr id="3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pic>
        <p:nvPicPr>
          <p:cNvPr id="40" name="Image 10" descr="/home/claude/clinicos_deck/logo_mark_transpare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INDIA, 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the transition from paper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digital-health story isn't uniform — and that gap is the product opportunity, not a footnote to build later.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395728"/>
            <a:ext cx="566928" cy="56692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7" name="Image 0" descr="/home/claude/clinicos_deck/icons/languag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53746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591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speech is normal here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2944368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Bengali, Hindi and English inside a single consultation is treated as a first-class requirement, not an edge case a global product bolts on later.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92240" y="2395728"/>
            <a:ext cx="566928" cy="56692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12" name="Image 1" descr="/home/claude/clinicos_deck/icons/wifi_off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72" y="253746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3591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is inconsistent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10528" y="2944368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isn't a resilience feature — it's the only way a clinic in a district with patchy internet can rely on the product every day.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22960" y="4453128"/>
            <a:ext cx="566928" cy="56692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17" name="Image 2" descr="/home/claude/clinicos_deck/icons/rout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594860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4165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is building the rails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1248" y="5001768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Facility Registry, ABHA and consent-aware exchange give an India-first product real interoperability to plug into rather than compete against.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41605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92240" y="4453128"/>
            <a:ext cx="566928" cy="566928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22" name="Image 3" descr="/home/claude/clinicos_deck/icons/bol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4594860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4165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just became affordable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10528" y="5001768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7B-parameter model and Whisper both run acceptably on an 8–16GB laptop — the hardware bar for “local-first” dropped enough to matter this year.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India, why now</a:t>
            </a:r>
            <a:endParaRPr lang="en-US" sz="950" dirty="0"/>
          </a:p>
        </p:txBody>
      </p:sp>
      <p:pic>
        <p:nvPicPr>
          <p:cNvPr id="26" name="Image 4" descr="/home/claude/clinicos_deck/logo_mark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tail nobody has properly digitized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a vast base of owner-operated clinics still running on paper. Land with the smallest unit — one doctor, one clinic, one laptop — and the economics scale from there.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542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clinics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767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2860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2542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clinics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9443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₹15L MRR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99432" y="3767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₹1.8Cr annual recurring revenue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22860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75904" y="2542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clinics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75904" y="29443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₹1.5Cr MRR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75904" y="3767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₹18Cr ARR before enterprise expansion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828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planning assumptions at a blended ARPA of ₹1,500/month — not a forecast. To be replaced with real pilot data.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AF5F5"/>
          </a:solidFill>
          <a:ln/>
        </p:spPr>
        <p:txBody>
          <a:bodyPr/>
          <a:p/>
        </p:txBody>
      </p:sp>
      <p:pic>
        <p:nvPicPr>
          <p:cNvPr id="19" name="Image 0" descr="/home/claude/clinicos_deck/icons/bullsey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7784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534924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single-doctor and small clinics, where the whole visit rests on one person — then multi-doctor clinics, hospitals and health systems, then international markets. Density through referrals beats advertising early.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50" dirty="0"/>
          </a:p>
        </p:txBody>
      </p:sp>
      <p:pic>
        <p:nvPicPr>
          <p:cNvPr id="22" name="Image 1" descr="/home/claude/clinicos_deck/logo_mark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against time saved, not hosting cost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prove it works. Cheap enough that saying yes costs a doctor almost nothing. Priced up only once the value is obvious.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40487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7" name="Image 0" descr="/home/claude/clinicos_deck/icons/handsh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5420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508760" y="2715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04672" y="3227832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clinics, real patients, full support — the doctor risks nothing.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21488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81144" y="2404872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13" name="Image 1" descr="/home/claude/clinicos_deck/icons/rupe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54203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paid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285232" y="2715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 / month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581144" y="3227832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Crosses the line from “would pay” to actually paying. Target: 5 clinics by week 16.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01584" y="21488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357616" y="2404872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p/>
        </p:txBody>
      </p:sp>
      <p:pic>
        <p:nvPicPr>
          <p:cNvPr id="19" name="Image 2" descr="/home/claude/clinicos_deck/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5420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61704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ARPA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9061704" y="2715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 / month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357616" y="3227832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target as receptionist, queue and multi-doctor features land.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expansion loop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548640" y="5120640"/>
            <a:ext cx="1664208" cy="566928"/>
          </a:xfrm>
          <a:prstGeom prst="roundRect">
            <a:avLst>
              <a:gd name="adj" fmla="val 50000"/>
            </a:avLst>
          </a:prstGeom>
          <a:solidFill>
            <a:srgbClr val="EAF5F5"/>
          </a:solidFill>
          <a:ln/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548640" y="5120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doctor</a:t>
            </a:r>
            <a:endParaRPr lang="en-US" sz="1050" dirty="0"/>
          </a:p>
        </p:txBody>
      </p:sp>
      <p:pic>
        <p:nvPicPr>
          <p:cNvPr id="26" name="Image 3" descr="/home/claude/clinicos_deck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420" y="5303520"/>
            <a:ext cx="128016" cy="1828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336292" y="5120640"/>
            <a:ext cx="1664208" cy="566928"/>
          </a:xfrm>
          <a:prstGeom prst="roundRect">
            <a:avLst>
              <a:gd name="adj" fmla="val 50000"/>
            </a:avLst>
          </a:prstGeom>
          <a:solidFill>
            <a:srgbClr val="EAF5F5"/>
          </a:solidFill>
          <a:ln/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2336292" y="5120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050" dirty="0"/>
          </a:p>
        </p:txBody>
      </p:sp>
      <p:pic>
        <p:nvPicPr>
          <p:cNvPr id="29" name="Image 4" descr="/home/claude/clinicos_deck/icons/arrowRigh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5303520"/>
            <a:ext cx="128016" cy="1828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123944" y="5120640"/>
            <a:ext cx="1664208" cy="566928"/>
          </a:xfrm>
          <a:prstGeom prst="roundRect">
            <a:avLst>
              <a:gd name="adj" fmla="val 50000"/>
            </a:avLst>
          </a:prstGeom>
          <a:solidFill>
            <a:srgbClr val="EAF5F5"/>
          </a:solidFill>
          <a:ln/>
        </p:spPr>
        <p:txBody>
          <a:bodyPr/>
          <a:p/>
        </p:txBody>
      </p:sp>
      <p:sp>
        <p:nvSpPr>
          <p:cNvPr id="31" name="Text 24"/>
          <p:cNvSpPr/>
          <p:nvPr/>
        </p:nvSpPr>
        <p:spPr>
          <a:xfrm>
            <a:off x="4123944" y="5120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doctor</a:t>
            </a:r>
            <a:endParaRPr lang="en-US" sz="1050" dirty="0"/>
          </a:p>
        </p:txBody>
      </p:sp>
      <p:pic>
        <p:nvPicPr>
          <p:cNvPr id="32" name="Image 5" descr="/home/claude/clinicos_deck/icons/arrow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2724" y="5303520"/>
            <a:ext cx="128016" cy="1828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911596" y="5120640"/>
            <a:ext cx="1664208" cy="566928"/>
          </a:xfrm>
          <a:prstGeom prst="roundRect">
            <a:avLst>
              <a:gd name="adj" fmla="val 50000"/>
            </a:avLst>
          </a:prstGeom>
          <a:solidFill>
            <a:srgbClr val="EAF5F5"/>
          </a:solidFill>
          <a:ln/>
        </p:spPr>
        <p:txBody>
          <a:bodyPr/>
          <a:p/>
        </p:txBody>
      </p:sp>
      <p:sp>
        <p:nvSpPr>
          <p:cNvPr id="34" name="Text 26"/>
          <p:cNvSpPr/>
          <p:nvPr/>
        </p:nvSpPr>
        <p:spPr>
          <a:xfrm>
            <a:off x="5911596" y="5120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clinic</a:t>
            </a:r>
            <a:endParaRPr lang="en-US" sz="1050" dirty="0"/>
          </a:p>
        </p:txBody>
      </p:sp>
      <p:pic>
        <p:nvPicPr>
          <p:cNvPr id="35" name="Image 6" descr="/home/claude/clinicos_deck/icons/arrowRigh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376" y="5303520"/>
            <a:ext cx="128016" cy="18288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699248" y="5120640"/>
            <a:ext cx="1664208" cy="566928"/>
          </a:xfrm>
          <a:prstGeom prst="roundRect">
            <a:avLst>
              <a:gd name="adj" fmla="val 50000"/>
            </a:avLst>
          </a:prstGeom>
          <a:solidFill>
            <a:srgbClr val="EAF5F5"/>
          </a:solidFill>
          <a:ln/>
        </p:spPr>
        <p:txBody>
          <a:bodyPr/>
          <a:p/>
        </p:txBody>
      </p:sp>
      <p:sp>
        <p:nvSpPr>
          <p:cNvPr id="37" name="Text 28"/>
          <p:cNvSpPr/>
          <p:nvPr/>
        </p:nvSpPr>
        <p:spPr>
          <a:xfrm>
            <a:off x="7699248" y="5120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location</a:t>
            </a:r>
            <a:endParaRPr lang="en-US" sz="1050" dirty="0"/>
          </a:p>
        </p:txBody>
      </p:sp>
      <p:pic>
        <p:nvPicPr>
          <p:cNvPr id="38" name="Image 7" descr="/home/claude/clinicos_deck/icons/arrowRight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028" y="5303520"/>
            <a:ext cx="128016" cy="18288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486900" y="5120640"/>
            <a:ext cx="1664208" cy="56692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40" name="Text 30"/>
          <p:cNvSpPr/>
          <p:nvPr/>
        </p:nvSpPr>
        <p:spPr>
          <a:xfrm>
            <a:off x="9486900" y="5120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Multi-clinic</a:t>
            </a:r>
            <a:endParaRPr lang="en-US" sz="1050" dirty="0"/>
          </a:p>
        </p:txBody>
      </p:sp>
      <p:sp>
        <p:nvSpPr>
          <p:cNvPr id="41" name="Text 3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beyond subscription: implementation/migration, premium support, enterprise integrations, hospital modules.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50" dirty="0"/>
          </a:p>
        </p:txBody>
      </p:sp>
      <p:pic>
        <p:nvPicPr>
          <p:cNvPr id="43" name="Image 8" descr="/home/claude/clinicos_deck/logo_mark_transpar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before scale — a 16-week validation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scarcest resource for a part-time student founder is doctor conversations, not code. Every phase has a kill criterion, written down in advance.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404872"/>
            <a:ext cx="530352" cy="530352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7" name="Image 0" descr="/home/claude/clinicos_deck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537460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Weeks 1–4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3319272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doctor conversations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4672" y="3867912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selling, no laptop for the first 15 minutes. Listening only.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4672" y="4681728"/>
            <a:ext cx="3008376" cy="530352"/>
          </a:xfrm>
          <a:prstGeom prst="roundRect">
            <a:avLst>
              <a:gd name="adj" fmla="val 13793"/>
            </a:avLst>
          </a:prstGeom>
          <a:solidFill>
            <a:srgbClr val="FCEFDD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32688" y="4681728"/>
            <a:ext cx="2752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Kill: &lt; 6/20 name documentation unprompted as a top-3 pain.</a:t>
            </a:r>
            <a:endParaRPr lang="en-US" sz="950" dirty="0"/>
          </a:p>
        </p:txBody>
      </p:sp>
      <p:pic>
        <p:nvPicPr>
          <p:cNvPr id="13" name="Image 1" descr="/home/claude/clinicos_deck/icons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3671316"/>
            <a:ext cx="173736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25112" y="214884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581144" y="2404872"/>
            <a:ext cx="530352" cy="530352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16" name="Image 2" descr="/home/claude/clinicos_deck/icons/flas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53746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81144" y="306324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Weeks 3–8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81144" y="3319272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free pilot clinics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581144" y="3867912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patients. Consult volume, cost/consult and edit log instrumented from day one.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81144" y="4681728"/>
            <a:ext cx="3008376" cy="530352"/>
          </a:xfrm>
          <a:prstGeom prst="roundRect">
            <a:avLst>
              <a:gd name="adj" fmla="val 13793"/>
            </a:avLst>
          </a:prstGeom>
          <a:solidFill>
            <a:srgbClr val="FCEFDD"/>
          </a:solidFill>
          <a:ln/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4709160" y="4681728"/>
            <a:ext cx="2752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still used, unattended, on day 21.</a:t>
            </a:r>
            <a:endParaRPr lang="en-US" sz="950" dirty="0"/>
          </a:p>
        </p:txBody>
      </p:sp>
      <p:pic>
        <p:nvPicPr>
          <p:cNvPr id="22" name="Image 3" descr="/home/claude/clinicos_deck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671316"/>
            <a:ext cx="173736" cy="20116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01584" y="214884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8357616" y="2404872"/>
            <a:ext cx="530352" cy="530352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25" name="Image 4" descr="/home/claude/clinicos_deck/icons/rupe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2537460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57616" y="306324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Weeks 9–16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8357616" y="3319272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₹500/month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8357616" y="3867912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changing hands matters more than a bigger number promised later.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357616" y="4681728"/>
            <a:ext cx="3008376" cy="530352"/>
          </a:xfrm>
          <a:prstGeom prst="roundRect">
            <a:avLst>
              <a:gd name="adj" fmla="val 13793"/>
            </a:avLst>
          </a:prstGeom>
          <a:solidFill>
            <a:srgbClr val="FCEFDD"/>
          </a:solidFill>
          <a:ln/>
        </p:spPr>
        <p:txBody>
          <a:bodyPr/>
          <a:p/>
        </p:txBody>
      </p:sp>
      <p:sp>
        <p:nvSpPr>
          <p:cNvPr id="30" name="Text 23"/>
          <p:cNvSpPr/>
          <p:nvPr/>
        </p:nvSpPr>
        <p:spPr>
          <a:xfrm>
            <a:off x="8485632" y="4681728"/>
            <a:ext cx="2752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 paying clinics by week 16.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after: referral density beats ads — chain referrals, IMA branch introductions, and a referral loop where every satisfied doctor names two colleagues.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50" dirty="0"/>
          </a:p>
        </p:txBody>
      </p:sp>
      <p:pic>
        <p:nvPicPr>
          <p:cNvPr id="33" name="Image 5" descr="/home/claude/clinicos_deck/logo_mark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doors knocked on, not features bundled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teams can out-bundle a feature list. They will not give every small clinic hands-on, same-day setup — that is the early moat.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13632" y="214884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cloud EMR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62288" y="2148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606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for a solo doctor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13632" y="2606040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IT staff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still cloud-dependent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62288" y="2606040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works offline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11064240" cy="566928"/>
          </a:xfrm>
          <a:prstGeom prst="rect">
            <a:avLst/>
          </a:prstGeom>
          <a:solidFill>
            <a:srgbClr val="EFF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3232" y="31729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internet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13632" y="3172968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172968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62288" y="317296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core loop is fully local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39896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37398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Bengali/Hindi/English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13632" y="3739896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739896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(Eka Care is closest)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62288" y="3739896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First-class, from v0.5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06824"/>
            <a:ext cx="11064240" cy="566928"/>
          </a:xfrm>
          <a:prstGeom prst="rect">
            <a:avLst/>
          </a:prstGeom>
          <a:solidFill>
            <a:srgbClr val="EFF2F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13232" y="43068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 a ₹500-OPD clinic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13632" y="4306824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reach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4306824"/>
            <a:ext cx="2350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out of reach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62288" y="4306824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₹500–1,500/month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2148840"/>
            <a:ext cx="11064240" cy="2724912"/>
          </a:xfrm>
          <a:prstGeom prst="rect">
            <a:avLst/>
          </a:prstGeom>
          <a:ln w="12700">
            <a:solidFill>
              <a:srgbClr val="E2E6EC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EAF5F5"/>
          </a:solidFill>
          <a:ln/>
        </p:spPr>
        <p:txBody>
          <a:bodyPr/>
          <a:p/>
        </p:txBody>
      </p:sp>
      <p:pic>
        <p:nvPicPr>
          <p:cNvPr id="32" name="Image 0" descr="/home/claude/clinicos_deck/icons/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138928"/>
            <a:ext cx="457200" cy="4572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463040" y="4892040"/>
            <a:ext cx="9966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Care announced an offline-capable, code-mixing-aware scribe with NVIDIA in Feb 2026 — “no monitoring, no referral loop” describes a roadmap gap, not a permanent one. The first 200 clinics get zero network effect; Phase 1 has to win on standalone product quality alone.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50" dirty="0"/>
          </a:p>
        </p:txBody>
      </p:sp>
      <p:pic>
        <p:nvPicPr>
          <p:cNvPr id="35" name="Image 1" descr="/home/claude/clinicos_deck/logo_mark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TRUST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a feature, built in from v0.5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software earns the right to scale by getting the boring things right first. This is a strategy document, not legal advice — qualified counsel is needed before real deployment.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" y="2350008"/>
            <a:ext cx="512064" cy="512064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7" name="Image 0" descr="/home/claude/clinicos_deck/icons/balanceSca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780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22951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is Data Fiduciary, ClinicOS is Data Processor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" y="2862072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DPDP roles, formalised in a plain-language pilot agreement with each clinic.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6217920" y="21488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37376" y="2350008"/>
            <a:ext cx="512064" cy="512064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12" name="Image 1" descr="/home/claude/clinicos_deck/icons/check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47802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95744" y="22951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before the first byte of audio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37376" y="2862072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the API, not just the UI — recording is technically impossible without it.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548640" y="3685032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68096" y="3886200"/>
            <a:ext cx="512064" cy="512064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17" name="Image 2" descr="/home/claude/clinicos_deck/icons/shield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01421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26464" y="38313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pharmaceutical access, ever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68096" y="4398264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identity, no prescribing data, no influence on a prescribing decision — survives contract termination.</a:t>
            </a:r>
            <a:endParaRPr lang="en-US" sz="970" dirty="0"/>
          </a:p>
        </p:txBody>
      </p:sp>
      <p:sp>
        <p:nvSpPr>
          <p:cNvPr id="20" name="Shape 15"/>
          <p:cNvSpPr/>
          <p:nvPr/>
        </p:nvSpPr>
        <p:spPr>
          <a:xfrm>
            <a:off x="6217920" y="3685032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37376" y="3886200"/>
            <a:ext cx="512064" cy="512064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22" name="Image 3" descr="/home/claude/clinicos_deck/icons/lo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01421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95744" y="38313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 deleted at signing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37376" y="4398264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owns every record; free export in PDF and structured data within 7 days of request, always.</a:t>
            </a:r>
            <a:endParaRPr lang="en-US" sz="970" dirty="0"/>
          </a:p>
        </p:txBody>
      </p:sp>
      <p:sp>
        <p:nvSpPr>
          <p:cNvPr id="25" name="Shape 19"/>
          <p:cNvSpPr/>
          <p:nvPr/>
        </p:nvSpPr>
        <p:spPr>
          <a:xfrm>
            <a:off x="548640" y="5221224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768096" y="5422392"/>
            <a:ext cx="512064" cy="512064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27" name="Image 4" descr="/home/claude/clinicos_deck/icons/exclamation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5040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26464" y="53675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line, known in advance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68096" y="5934456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retrieval sit outside SaMD today. Chronic-monitoring / risk-alerting later would cross into regulated territory — that's flagged now, not discovered later.</a:t>
            </a:r>
            <a:endParaRPr lang="en-US" sz="970" dirty="0"/>
          </a:p>
        </p:txBody>
      </p:sp>
      <p:sp>
        <p:nvSpPr>
          <p:cNvPr id="30" name="Shape 23"/>
          <p:cNvSpPr/>
          <p:nvPr/>
        </p:nvSpPr>
        <p:spPr>
          <a:xfrm>
            <a:off x="6217920" y="5221224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437376" y="5422392"/>
            <a:ext cx="512064" cy="512064"/>
          </a:xfrm>
          <a:prstGeom prst="ellipse">
            <a:avLst/>
          </a:prstGeom>
          <a:solidFill>
            <a:srgbClr val="E7F4F4"/>
          </a:solidFill>
          <a:ln/>
        </p:spPr>
        <p:txBody>
          <a:bodyPr/>
          <a:p/>
        </p:txBody>
      </p:sp>
      <p:pic>
        <p:nvPicPr>
          <p:cNvPr id="32" name="Image 5" descr="/home/claude/clinicos_deck/icons/clipboard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555040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95744" y="53675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timeline tracked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437376" y="5934456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enforcement lands ~May 2027 — consent capture and audit logging are being built now, because retrofitting later is the painful path.</a:t>
            </a:r>
            <a:endParaRPr lang="en-US" sz="970" dirty="0"/>
          </a:p>
        </p:txBody>
      </p:sp>
      <p:sp>
        <p:nvSpPr>
          <p:cNvPr id="35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trust</a:t>
            </a:r>
            <a:endParaRPr lang="en-US" sz="950" dirty="0"/>
          </a:p>
        </p:txBody>
      </p:sp>
      <p:pic>
        <p:nvPicPr>
          <p:cNvPr id="36" name="Image 6" descr="/home/claude/clinicos_deck/logo_mark_transpar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24 months, in four honest stages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jumps ahead of what the last stage proved.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86384" y="2404872"/>
            <a:ext cx="512064" cy="512064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p/>
        </p:txBody>
      </p:sp>
      <p:pic>
        <p:nvPicPr>
          <p:cNvPr id="7" name="Image 0" descr="/home/claude/clinicos_deck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328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306324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6384" y="331927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wedge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3886200"/>
            <a:ext cx="216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C6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doctor interviews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C6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pilot clinics live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C6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 + audit log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C6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patient search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92424" y="214884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630168" y="2404872"/>
            <a:ext cx="512064" cy="512064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13" name="Image 1" descr="/home/claude/clinicos_deck/icons/rupe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253288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306324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30168" y="331927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product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30168" y="3886200"/>
            <a:ext cx="216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pilots to ₹500/mo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phone search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reminders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process live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36208" y="214884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6473952" y="2404872"/>
            <a:ext cx="512064" cy="512064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19" name="Image 2" descr="/home/claude/clinicos_deck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53288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306324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 mo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73952" y="331927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product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473952" y="3886200"/>
            <a:ext cx="216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Multi-doctor support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mode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digitisation MVP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consent revocation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9079992" y="214884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9317736" y="2404872"/>
            <a:ext cx="512064" cy="512064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p/>
        </p:txBody>
      </p:sp>
      <p:pic>
        <p:nvPicPr>
          <p:cNvPr id="25" name="Image 3" descr="/home/claude/clinicos_deck/icons/rou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253288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17736" y="306324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13–24 mo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17736" y="331927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clinic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317736" y="3886200"/>
            <a:ext cx="216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integration pilot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encrypted backup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follow-up + QR</a:t>
            </a:r>
            <a:endParaRPr lang="en-US" sz="9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Multi-clinic foundations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pic>
        <p:nvPicPr>
          <p:cNvPr id="30" name="Image 4" descr="/home/claude/clinicos_deck/logo_mark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6483096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853928" y="6519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· Varaxis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0B6668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560320" y="4206240"/>
            <a:ext cx="5486400" cy="5486400"/>
          </a:xfrm>
          <a:prstGeom prst="ellipse">
            <a:avLst/>
          </a:prstGeom>
          <a:solidFill>
            <a:srgbClr val="13294B">
              <a:alpha val="9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98755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reach the next 20 doctors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p/>
        </p:txBody>
      </p:sp>
      <p:pic>
        <p:nvPicPr>
          <p:cNvPr id="7" name="Image 0" descr="/home/claude/clinicos_deck/icons/userM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ln w="1905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54480" y="21214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clinical advisors or pilot clinic introductions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54480" y="25328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highest-leverage thing this stage needs.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3044952"/>
            <a:ext cx="548640" cy="54864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p/>
        </p:txBody>
      </p:sp>
      <p:pic>
        <p:nvPicPr>
          <p:cNvPr id="12" name="Image 1" descr="/home/claude/clinicos_deck/icons/rock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3044952"/>
            <a:ext cx="548640" cy="548640"/>
          </a:xfrm>
          <a:prstGeom prst="ellipse">
            <a:avLst/>
          </a:prstGeom>
          <a:ln w="1905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554480" y="3017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the edit-log-as-moat thesis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554480" y="3429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where this deck's arithmetic is still too optimistic.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" y="3941064"/>
            <a:ext cx="548640" cy="54864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p/>
        </p:txBody>
      </p:sp>
      <p:pic>
        <p:nvPicPr>
          <p:cNvPr id="17" name="Image 2" descr="/home/claude/clinicos_deck/icons/build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78224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" y="3941064"/>
            <a:ext cx="548640" cy="548640"/>
          </a:xfrm>
          <a:prstGeom prst="ellipse">
            <a:avLst/>
          </a:prstGeom>
          <a:ln w="19050">
            <a:solidFill>
              <a:srgbClr val="0F8B8D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1554480" y="391363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toward NVIDIA Inception / cloud credits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554480" y="43251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when local inference needs to be validated against cloud accuracy.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452360" y="2103120"/>
            <a:ext cx="4160520" cy="2880360"/>
          </a:xfrm>
          <a:prstGeom prst="roundRect">
            <a:avLst>
              <a:gd name="adj" fmla="val 3810"/>
            </a:avLst>
          </a:prstGeom>
          <a:solidFill>
            <a:srgbClr val="16324F"/>
          </a:solidFill>
          <a:ln w="12700">
            <a:solidFill>
              <a:srgbClr val="0B6668"/>
            </a:solidFill>
            <a:prstDash val="solid"/>
          </a:ln>
        </p:spPr>
        <p:txBody>
          <a:bodyPr/>
          <a:p/>
        </p:txBody>
      </p:sp>
      <p:pic>
        <p:nvPicPr>
          <p:cNvPr id="22" name="Image 3" descr="/home/claude/clinicos_deck/icons/rou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39572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0" y="2926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772400" y="3310128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healthcare operating system for the India that hasn't gone digital yet — starting with one doctor, one clinic, one laptop, and expanding only as far as real usage proves it should.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22960" y="5806440"/>
            <a:ext cx="10561320" cy="566928"/>
          </a:xfrm>
          <a:prstGeom prst="roundRect">
            <a:avLst>
              <a:gd name="adj" fmla="val 19355"/>
            </a:avLst>
          </a:prstGeom>
          <a:solidFill>
            <a:srgbClr val="16324F"/>
          </a:solidFill>
          <a:ln/>
        </p:spPr>
        <p:txBody>
          <a:bodyPr/>
          <a:p/>
        </p:txBody>
      </p:sp>
      <p:pic>
        <p:nvPicPr>
          <p:cNvPr id="26" name="Image 4" descr="/home/claude/clinicos_deck/logo_mark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5879592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5806440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ClinicOS  </a:t>
            </a:r>
            <a:pPr algn="l"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Varaxis   ·   built by Ishaan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2026-08-20T16:01:47Z</dcterms:created>
  <dcterms:modified xsi:type="dcterms:W3CDTF">2026-08-20T16:01:47Z</dcterms:modified>
</cp:coreProperties>
</file>