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a one-room clinic in Krishnanagar.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Shape 1"/>
          <p:cNvSpPr/>
          <p:nvPr/>
        </p:nvSpPr>
        <p:spPr>
          <a:xfrm>
            <a:off x="8595360" y="-1371600"/>
            <a:ext cx="5852160" cy="5852160"/>
          </a:xfrm>
          <a:prstGeom prst="ellipse">
            <a:avLst/>
          </a:prstGeom>
          <a:solidFill>
            <a:srgbClr val="0E6E6B">
              <a:alpha val="12000"/>
            </a:srgbClr>
          </a:solidFill>
          <a:ln/>
        </p:spPr>
        <p:txBody>
          <a:bodyPr/>
          <a:p/>
        </p:txBody>
      </p:sp>
      <p:sp>
        <p:nvSpPr>
          <p:cNvPr id="4" name="Shape 2"/>
          <p:cNvSpPr/>
          <p:nvPr/>
        </p:nvSpPr>
        <p:spPr>
          <a:xfrm>
            <a:off x="9966960" y="91440"/>
            <a:ext cx="3108960" cy="3108960"/>
          </a:xfrm>
          <a:prstGeom prst="ellipse">
            <a:avLst/>
          </a:prstGeom>
          <a:solidFill>
            <a:srgbClr val="5FB3AB">
              <a:alpha val="10000"/>
            </a:srgbClr>
          </a:solidFill>
          <a:ln/>
        </p:spPr>
        <p:txBody>
          <a:bodyPr/>
          <a:p/>
        </p:txBody>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PRODUCT CASE STUDY  ·  VARAXIS</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A design-thinking case study of one product built to grow: from the single-doctor clinic to multi-doctor clinics, hospitals and health systems, and then internationally.</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Varaxis</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Healthcare Technology</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txBody>
          <a:bodyPr/>
          <a:p/>
        </p:txBody>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txBody>
          <a:bodyPr/>
          <a:p/>
        </p:txBody>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txBody>
          <a:bodyPr/>
          <a:p/>
        </p:txBody>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txBody>
          <a:bodyPr/>
          <a:p/>
        </p:txBody>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txBody>
          <a:bodyPr/>
          <a:p/>
        </p:txBody>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txBody>
          <a:bodyPr/>
          <a:p/>
        </p:txBody>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consultation, every size of institution</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Outpatient care runs under time pressure everywhere, and in India it is extreme. Patients are seen in public health centres, private solo chambers, multi-doctor clinics and hospital outpatient departments — the same short consultation in every one.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The unit this project studies is the consultation itself. It starts with the single-doctor clinic, where the whole visit rests on one person, and grows into multi-doctor clinics, hospitals and health systems.</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First rung: the single-doctor clinic. Then larger institutions, then international.</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txBody>
          <a:bodyPr/>
          <a:p/>
        </p:txBody>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txBody>
          <a:bodyPr/>
          <a:p/>
        </p:txBody>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public health centre — time is scarce</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txBody>
          <a:bodyPr/>
          <a:p/>
        </p:txBody>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txBody>
          <a:bodyPr/>
          <a:p/>
        </p:txBody>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txBody>
          <a:bodyPr/>
          <a:p/>
        </p:txBody>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2" name="Shape 10"/>
          <p:cNvSpPr/>
          <p:nvPr/>
        </p:nvSpPr>
        <p:spPr>
          <a:xfrm>
            <a:off x="1024128" y="2423160"/>
            <a:ext cx="658368" cy="658368"/>
          </a:xfrm>
          <a:prstGeom prst="ellipse">
            <a:avLst/>
          </a:prstGeom>
          <a:solidFill>
            <a:srgbClr val="0E6E6B"/>
          </a:solidFill>
          <a:ln/>
        </p:spPr>
        <p:txBody>
          <a:bodyPr/>
          <a:p/>
        </p:txBody>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4722266" y="2423160"/>
            <a:ext cx="658368" cy="658368"/>
          </a:xfrm>
          <a:prstGeom prst="ellipse">
            <a:avLst/>
          </a:prstGeom>
          <a:solidFill>
            <a:srgbClr val="0E6E6B"/>
          </a:solidFill>
          <a:ln/>
        </p:spPr>
        <p:txBody>
          <a:bodyPr/>
          <a:p/>
        </p:txBody>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4" name="Shape 20"/>
          <p:cNvSpPr/>
          <p:nvPr/>
        </p:nvSpPr>
        <p:spPr>
          <a:xfrm>
            <a:off x="8420405" y="2423160"/>
            <a:ext cx="658368" cy="658368"/>
          </a:xfrm>
          <a:prstGeom prst="ellipse">
            <a:avLst/>
          </a:prstGeom>
          <a:solidFill>
            <a:srgbClr val="0E6E6B"/>
          </a:solidFill>
          <a:ln/>
        </p:spPr>
        <p:txBody>
          <a:bodyPr/>
          <a:p/>
        </p:txBody>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txBody>
          <a:bodyPr/>
          <a:p/>
        </p:txBody>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11680"/>
            <a:ext cx="5532120" cy="3703320"/>
          </a:xfrm>
          <a:prstGeom prst="roundRect">
            <a:avLst>
              <a:gd name="adj" fmla="val 1728"/>
            </a:avLst>
          </a:prstGeom>
          <a:solidFill>
            <a:srgbClr val="EFF4F3"/>
          </a:solidFill>
          <a:ln/>
        </p:spPr>
        <p:txBody>
          <a:bodyPr/>
          <a:p/>
        </p:txBody>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txBody>
          <a:bodyPr/>
          <a:p/>
        </p:txBody>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txBody>
          <a:bodyPr/>
          <a:p/>
        </p:txBody>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txBody>
          <a:bodyPr/>
          <a:p/>
        </p:txBody>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txBody>
          <a:bodyPr/>
          <a:p/>
        </p:txBody>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txBody>
          <a:bodyPr/>
          <a:p/>
        </p:txBody>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txBody>
          <a:bodyPr/>
          <a:p/>
        </p:txBody>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Internet access now reaches a large majority of Indian households — the gap is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txBody>
          <a:bodyPr/>
          <a:p/>
        </p:txBody>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txBody>
          <a:bodyPr/>
          <a:p/>
        </p:txBody>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2" name="Shape 10"/>
          <p:cNvSpPr/>
          <p:nvPr/>
        </p:nvSpPr>
        <p:spPr>
          <a:xfrm>
            <a:off x="1024128" y="2377440"/>
            <a:ext cx="960120" cy="960120"/>
          </a:xfrm>
          <a:prstGeom prst="ellipse">
            <a:avLst/>
          </a:prstGeom>
          <a:solidFill>
            <a:srgbClr val="0E6E6B"/>
          </a:solidFill>
          <a:ln/>
        </p:spPr>
        <p:txBody>
          <a:bodyPr/>
          <a:p/>
        </p:txBody>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Practitioner running his own clinic</a:t>
            </a:r>
            <a:endParaRPr lang="en-US" sz="1250" dirty="0"/>
          </a:p>
        </p:txBody>
      </p:sp>
      <p:sp>
        <p:nvSpPr>
          <p:cNvPr id="16" name="Shape 14"/>
          <p:cNvSpPr/>
          <p:nvPr/>
        </p:nvSpPr>
        <p:spPr>
          <a:xfrm>
            <a:off x="1042416" y="4434840"/>
            <a:ext cx="109728" cy="109728"/>
          </a:xfrm>
          <a:prstGeom prst="ellipse">
            <a:avLst/>
          </a:prstGeom>
          <a:solidFill>
            <a:srgbClr val="C9821F"/>
          </a:solidFill>
          <a:ln/>
        </p:spPr>
        <p:txBody>
          <a:bodyPr/>
          <a:p/>
        </p:txBody>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txBody>
          <a:bodyPr/>
          <a:p/>
        </p:txBody>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txBody>
          <a:bodyPr/>
          <a:p/>
        </p:txBody>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txBody>
          <a:bodyPr/>
          <a:p/>
        </p:txBody>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txBody>
          <a:bodyPr/>
          <a:p/>
        </p:txBody>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65960"/>
            <a:ext cx="1650949" cy="841248"/>
          </a:xfrm>
          <a:prstGeom prst="roundRect">
            <a:avLst>
              <a:gd name="adj" fmla="val 7609"/>
            </a:avLst>
          </a:prstGeom>
          <a:solidFill>
            <a:srgbClr val="EFF4F3"/>
          </a:solidFill>
          <a:ln/>
        </p:spPr>
        <p:txBody>
          <a:bodyPr/>
          <a:p/>
        </p:txBody>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txBody>
          <a:bodyPr/>
          <a:p/>
        </p:txBody>
      </p:sp>
      <p:sp>
        <p:nvSpPr>
          <p:cNvPr id="15" name="Shape 13"/>
          <p:cNvSpPr/>
          <p:nvPr/>
        </p:nvSpPr>
        <p:spPr>
          <a:xfrm>
            <a:off x="2492197" y="1965960"/>
            <a:ext cx="1650949" cy="841248"/>
          </a:xfrm>
          <a:prstGeom prst="roundRect">
            <a:avLst>
              <a:gd name="adj" fmla="val 7609"/>
            </a:avLst>
          </a:prstGeom>
          <a:solidFill>
            <a:srgbClr val="EFF4F3"/>
          </a:solidFill>
          <a:ln/>
        </p:spPr>
        <p:txBody>
          <a:bodyPr/>
          <a:p/>
        </p:txBody>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txBody>
          <a:bodyPr/>
          <a:p/>
        </p:txBody>
      </p:sp>
      <p:sp>
        <p:nvSpPr>
          <p:cNvPr id="19" name="Shape 17"/>
          <p:cNvSpPr/>
          <p:nvPr/>
        </p:nvSpPr>
        <p:spPr>
          <a:xfrm>
            <a:off x="4344314" y="1965960"/>
            <a:ext cx="1650949" cy="841248"/>
          </a:xfrm>
          <a:prstGeom prst="roundRect">
            <a:avLst>
              <a:gd name="adj" fmla="val 7609"/>
            </a:avLst>
          </a:prstGeom>
          <a:solidFill>
            <a:srgbClr val="EFF4F3"/>
          </a:solidFill>
          <a:ln/>
        </p:spPr>
        <p:txBody>
          <a:bodyPr/>
          <a:p/>
        </p:txBody>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txBody>
          <a:bodyPr/>
          <a:p/>
        </p:txBody>
      </p:sp>
      <p:sp>
        <p:nvSpPr>
          <p:cNvPr id="23" name="Shape 21"/>
          <p:cNvSpPr/>
          <p:nvPr/>
        </p:nvSpPr>
        <p:spPr>
          <a:xfrm>
            <a:off x="6196432" y="1965960"/>
            <a:ext cx="1650949" cy="841248"/>
          </a:xfrm>
          <a:prstGeom prst="roundRect">
            <a:avLst>
              <a:gd name="adj" fmla="val 7609"/>
            </a:avLst>
          </a:prstGeom>
          <a:solidFill>
            <a:srgbClr val="EFF4F3"/>
          </a:solidFill>
          <a:ln/>
        </p:spPr>
        <p:txBody>
          <a:bodyPr/>
          <a:p/>
        </p:txBody>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txBody>
          <a:bodyPr/>
          <a:p/>
        </p:txBody>
      </p:sp>
      <p:sp>
        <p:nvSpPr>
          <p:cNvPr id="27" name="Shape 25"/>
          <p:cNvSpPr/>
          <p:nvPr/>
        </p:nvSpPr>
        <p:spPr>
          <a:xfrm>
            <a:off x="8048549" y="1965960"/>
            <a:ext cx="1650949" cy="841248"/>
          </a:xfrm>
          <a:prstGeom prst="roundRect">
            <a:avLst>
              <a:gd name="adj" fmla="val 7609"/>
            </a:avLst>
          </a:prstGeom>
          <a:solidFill>
            <a:srgbClr val="EFF4F3"/>
          </a:solidFill>
          <a:ln/>
        </p:spPr>
        <p:txBody>
          <a:bodyPr/>
          <a:p/>
        </p:txBody>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txBody>
          <a:bodyPr/>
          <a:p/>
        </p:txBody>
      </p:sp>
      <p:sp>
        <p:nvSpPr>
          <p:cNvPr id="31" name="Shape 29"/>
          <p:cNvSpPr/>
          <p:nvPr/>
        </p:nvSpPr>
        <p:spPr>
          <a:xfrm>
            <a:off x="9900666" y="1965960"/>
            <a:ext cx="1650949" cy="841248"/>
          </a:xfrm>
          <a:prstGeom prst="roundRect">
            <a:avLst>
              <a:gd name="adj" fmla="val 7609"/>
            </a:avLst>
          </a:prstGeom>
          <a:solidFill>
            <a:srgbClr val="EFF4F3"/>
          </a:solidFill>
          <a:ln/>
        </p:spPr>
        <p:txBody>
          <a:bodyPr/>
          <a:p/>
        </p:txBody>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txBody>
          <a:bodyPr/>
          <a:p/>
        </p:txBody>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txBody>
          <a:bodyPr/>
          <a:p/>
        </p:txBody>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txBody>
          <a:bodyPr/>
          <a:p/>
        </p:txBody>
      </p:sp>
      <p:sp>
        <p:nvSpPr>
          <p:cNvPr id="5" name="Shape 3"/>
          <p:cNvSpPr/>
          <p:nvPr/>
        </p:nvSpPr>
        <p:spPr>
          <a:xfrm>
            <a:off x="10614355" y="548640"/>
            <a:ext cx="141732" cy="141732"/>
          </a:xfrm>
          <a:prstGeom prst="ellipse">
            <a:avLst/>
          </a:prstGeom>
          <a:solidFill>
            <a:srgbClr val="C9821F"/>
          </a:solidFill>
          <a:ln/>
        </p:spPr>
        <p:txBody>
          <a:bodyPr/>
          <a:p/>
        </p:txBody>
      </p:sp>
      <p:sp>
        <p:nvSpPr>
          <p:cNvPr id="6" name="Shape 4"/>
          <p:cNvSpPr/>
          <p:nvPr/>
        </p:nvSpPr>
        <p:spPr>
          <a:xfrm>
            <a:off x="10879531" y="548640"/>
            <a:ext cx="141732" cy="141732"/>
          </a:xfrm>
          <a:prstGeom prst="ellipse">
            <a:avLst/>
          </a:prstGeom>
          <a:solidFill>
            <a:srgbClr val="2A4E4E"/>
          </a:solidFill>
          <a:ln/>
        </p:spPr>
        <p:txBody>
          <a:bodyPr/>
          <a:p/>
        </p:txBody>
      </p:sp>
      <p:sp>
        <p:nvSpPr>
          <p:cNvPr id="7" name="Shape 5"/>
          <p:cNvSpPr/>
          <p:nvPr/>
        </p:nvSpPr>
        <p:spPr>
          <a:xfrm>
            <a:off x="11144707" y="548640"/>
            <a:ext cx="141732" cy="141732"/>
          </a:xfrm>
          <a:prstGeom prst="ellipse">
            <a:avLst/>
          </a:prstGeom>
          <a:solidFill>
            <a:srgbClr val="2A4E4E"/>
          </a:solidFill>
          <a:ln/>
        </p:spPr>
        <p:txBody>
          <a:bodyPr/>
          <a:p/>
        </p:txBody>
      </p:sp>
      <p:sp>
        <p:nvSpPr>
          <p:cNvPr id="8" name="Shape 6"/>
          <p:cNvSpPr/>
          <p:nvPr/>
        </p:nvSpPr>
        <p:spPr>
          <a:xfrm>
            <a:off x="11409883" y="548640"/>
            <a:ext cx="141732" cy="141732"/>
          </a:xfrm>
          <a:prstGeom prst="ellipse">
            <a:avLst/>
          </a:prstGeom>
          <a:solidFill>
            <a:srgbClr val="2A4E4E"/>
          </a:solidFill>
          <a:ln/>
        </p:spPr>
        <p:txBody>
          <a:bodyPr/>
          <a:p/>
        </p:txBody>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busy outpatient practice — starting with the single-doctor clinic — a consultation lasting roughly two minutes must produce both care and a record,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txBody>
          <a:bodyPr/>
          <a:p/>
        </p:txBody>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20240"/>
            <a:ext cx="10911535" cy="1371600"/>
          </a:xfrm>
          <a:prstGeom prst="roundRect">
            <a:avLst>
              <a:gd name="adj" fmla="val 4667"/>
            </a:avLst>
          </a:prstGeom>
          <a:solidFill>
            <a:srgbClr val="EFF4F3"/>
          </a:solidFill>
          <a:ln/>
        </p:spPr>
        <p:txBody>
          <a:bodyPr/>
          <a:p/>
        </p:txBody>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548640" cy="548640"/>
          </a:xfrm>
          <a:prstGeom prst="ellipse">
            <a:avLst/>
          </a:prstGeom>
          <a:solidFill>
            <a:srgbClr val="0B2B2E"/>
          </a:solidFill>
          <a:ln/>
        </p:spPr>
        <p:txBody>
          <a:bodyPr/>
          <a:p/>
        </p:txBody>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932688" y="4407408"/>
            <a:ext cx="548640" cy="548640"/>
          </a:xfrm>
          <a:prstGeom prst="ellipse">
            <a:avLst/>
          </a:prstGeom>
          <a:solidFill>
            <a:srgbClr val="0B2B2E"/>
          </a:solidFill>
          <a:ln/>
        </p:spPr>
        <p:txBody>
          <a:bodyPr/>
          <a:p/>
        </p:txBody>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an early-stage product exactly as they apply to an established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identifiable leaves the machine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cloud, no upload,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C9821F"/>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txBody>
          <a:bodyPr/>
          <a:p/>
        </p:txBody>
      </p:sp>
      <p:sp>
        <p:nvSpPr>
          <p:cNvPr id="12" name="Shape 10"/>
          <p:cNvSpPr/>
          <p:nvPr/>
        </p:nvSpPr>
        <p:spPr>
          <a:xfrm>
            <a:off x="950976" y="2194560"/>
            <a:ext cx="365760" cy="365760"/>
          </a:xfrm>
          <a:prstGeom prst="ellipse">
            <a:avLst/>
          </a:prstGeom>
          <a:solidFill>
            <a:srgbClr val="DFEAE8"/>
          </a:solidFill>
          <a:ln/>
        </p:spPr>
        <p:txBody>
          <a:bodyPr/>
          <a:p/>
        </p:txBody>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txBody>
          <a:bodyPr/>
          <a:p/>
        </p:txBody>
      </p:sp>
      <p:sp>
        <p:nvSpPr>
          <p:cNvPr id="17" name="Shape 15"/>
          <p:cNvSpPr/>
          <p:nvPr/>
        </p:nvSpPr>
        <p:spPr>
          <a:xfrm>
            <a:off x="950976" y="3246120"/>
            <a:ext cx="365760" cy="365760"/>
          </a:xfrm>
          <a:prstGeom prst="ellipse">
            <a:avLst/>
          </a:prstGeom>
          <a:solidFill>
            <a:srgbClr val="DFEAE8"/>
          </a:solidFill>
          <a:ln/>
        </p:spPr>
        <p:txBody>
          <a:bodyPr/>
          <a:p/>
        </p:txBody>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txBody>
          <a:bodyPr/>
          <a:p/>
        </p:txBody>
      </p:sp>
      <p:sp>
        <p:nvSpPr>
          <p:cNvPr id="22" name="Shape 20"/>
          <p:cNvSpPr/>
          <p:nvPr/>
        </p:nvSpPr>
        <p:spPr>
          <a:xfrm>
            <a:off x="950976" y="4297680"/>
            <a:ext cx="365760" cy="365760"/>
          </a:xfrm>
          <a:prstGeom prst="ellipse">
            <a:avLst/>
          </a:prstGeom>
          <a:solidFill>
            <a:srgbClr val="DFEAE8"/>
          </a:solidFill>
          <a:ln/>
        </p:spPr>
        <p:txBody>
          <a:bodyPr/>
          <a:p/>
        </p:txBody>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cloud AI scribe</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Sends the most sensitive audio a clinic produces off the premises,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7" name="Shape 25"/>
          <p:cNvSpPr/>
          <p:nvPr/>
        </p:nvSpPr>
        <p:spPr>
          <a:xfrm>
            <a:off x="950976" y="5349240"/>
            <a:ext cx="365760" cy="365760"/>
          </a:xfrm>
          <a:prstGeom prst="ellipse">
            <a:avLst/>
          </a:prstGeom>
          <a:solidFill>
            <a:srgbClr val="C9821F"/>
          </a:solidFill>
          <a:ln/>
        </p:spPr>
        <p:txBody>
          <a:bodyPr/>
          <a:p/>
        </p:txBody>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on-device ambient scribe</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locally,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C9821F"/>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69264" y="2560320"/>
            <a:ext cx="621792" cy="621792"/>
          </a:xfrm>
          <a:prstGeom prst="ellipse">
            <a:avLst/>
          </a:prstGeom>
          <a:solidFill>
            <a:srgbClr val="0E6E6B"/>
          </a:solidFill>
          <a:ln/>
        </p:spPr>
        <p:txBody>
          <a:bodyPr/>
          <a:p/>
        </p:txBody>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8" name="Shape 15"/>
          <p:cNvSpPr/>
          <p:nvPr/>
        </p:nvSpPr>
        <p:spPr>
          <a:xfrm>
            <a:off x="3756584" y="2560320"/>
            <a:ext cx="621792" cy="621792"/>
          </a:xfrm>
          <a:prstGeom prst="ellipse">
            <a:avLst/>
          </a:prstGeom>
          <a:solidFill>
            <a:srgbClr val="C9821F"/>
          </a:solidFill>
          <a:ln/>
        </p:spPr>
        <p:txBody>
          <a:bodyPr/>
          <a:p/>
        </p:txBody>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19"/>
          <p:cNvSpPr/>
          <p:nvPr/>
        </p:nvSpPr>
        <p:spPr>
          <a:xfrm>
            <a:off x="6543904" y="2560320"/>
            <a:ext cx="621792" cy="621792"/>
          </a:xfrm>
          <a:prstGeom prst="ellipse">
            <a:avLst/>
          </a:prstGeom>
          <a:solidFill>
            <a:srgbClr val="0E6E6B"/>
          </a:solidFill>
          <a:ln/>
        </p:spPr>
        <p:txBody>
          <a:bodyPr/>
          <a:p/>
        </p:txBody>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3"/>
          <p:cNvSpPr/>
          <p:nvPr/>
        </p:nvSpPr>
        <p:spPr>
          <a:xfrm>
            <a:off x="9331223" y="2560320"/>
            <a:ext cx="621792" cy="621792"/>
          </a:xfrm>
          <a:prstGeom prst="ellipse">
            <a:avLst/>
          </a:prstGeom>
          <a:solidFill>
            <a:srgbClr val="0E6E6B"/>
          </a:solidFill>
          <a:ln/>
        </p:spPr>
        <p:txBody>
          <a:bodyPr/>
          <a:p/>
        </p:txBody>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C9821F"/>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 an ordinary laptop with no internet connection and no account.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never leaves the machine</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C9821F"/>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txBody>
          <a:bodyPr/>
          <a:p/>
        </p:txBody>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txBody>
          <a:bodyPr/>
          <a:p/>
        </p:txBody>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DFEAE8"/>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C9821F"/>
          </a:solidFill>
          <a:ln/>
        </p:spPr>
        <p:txBody>
          <a:bodyPr/>
          <a:p/>
        </p:txBody>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txBody>
          <a:bodyPr/>
          <a:p/>
        </p:txBody>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SCALE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Clinics first. Then the world.</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SCALE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Single-doctor clinics first, then multi-doctor clinics, hospitals and health systems, then international markets.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Accounts and roles</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 front desk and clinic admin — checked on every request, not just hidden behind a menu.</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front desk that runs the day</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queue, a day's list and a doctor's worklist, so the clinic works as more than one person.</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An activity log</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account action is recorded, so who did what is always answerable.</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public site, live</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Describing the product to clinics of every size, and taking enquiries beyond the pilot.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txBody>
          <a:bodyPr/>
          <a:p/>
        </p:txBody>
      </p:sp>
      <p:sp>
        <p:nvSpPr>
          <p:cNvPr id="5" name="Shape 3"/>
          <p:cNvSpPr/>
          <p:nvPr/>
        </p:nvSpPr>
        <p:spPr>
          <a:xfrm>
            <a:off x="10614355" y="548640"/>
            <a:ext cx="141732" cy="141732"/>
          </a:xfrm>
          <a:prstGeom prst="ellipse">
            <a:avLst/>
          </a:prstGeom>
          <a:solidFill>
            <a:srgbClr val="C9821F"/>
          </a:solidFill>
          <a:ln/>
        </p:spPr>
        <p:txBody>
          <a:bodyPr/>
          <a:p/>
        </p:txBody>
      </p:sp>
      <p:sp>
        <p:nvSpPr>
          <p:cNvPr id="6" name="Shape 4"/>
          <p:cNvSpPr/>
          <p:nvPr/>
        </p:nvSpPr>
        <p:spPr>
          <a:xfrm>
            <a:off x="10879531" y="548640"/>
            <a:ext cx="141732" cy="141732"/>
          </a:xfrm>
          <a:prstGeom prst="ellipse">
            <a:avLst/>
          </a:prstGeom>
          <a:solidFill>
            <a:srgbClr val="C9821F"/>
          </a:solidFill>
          <a:ln/>
        </p:spPr>
        <p:txBody>
          <a:bodyPr/>
          <a:p/>
        </p:txBody>
      </p:sp>
      <p:sp>
        <p:nvSpPr>
          <p:cNvPr id="7" name="Shape 5"/>
          <p:cNvSpPr/>
          <p:nvPr/>
        </p:nvSpPr>
        <p:spPr>
          <a:xfrm>
            <a:off x="11144707" y="548640"/>
            <a:ext cx="141732" cy="141732"/>
          </a:xfrm>
          <a:prstGeom prst="ellipse">
            <a:avLst/>
          </a:prstGeom>
          <a:solidFill>
            <a:srgbClr val="C9821F"/>
          </a:solidFill>
          <a:ln/>
        </p:spPr>
        <p:txBody>
          <a:bodyPr/>
          <a:p/>
        </p:txBody>
      </p:sp>
      <p:sp>
        <p:nvSpPr>
          <p:cNvPr id="8" name="Shape 6"/>
          <p:cNvSpPr/>
          <p:nvPr/>
        </p:nvSpPr>
        <p:spPr>
          <a:xfrm>
            <a:off x="11409883" y="548640"/>
            <a:ext cx="141732" cy="141732"/>
          </a:xfrm>
          <a:prstGeom prst="ellipse">
            <a:avLst/>
          </a:prstGeom>
          <a:solidFill>
            <a:srgbClr val="C9821F"/>
          </a:solidFill>
          <a:ln/>
        </p:spPr>
        <p:txBody>
          <a:bodyPr/>
          <a:p/>
        </p:txBody>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txBody>
          <a:bodyPr/>
          <a:p/>
        </p:txBody>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Varaxis</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