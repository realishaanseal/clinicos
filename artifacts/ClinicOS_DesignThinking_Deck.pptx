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4" r:id="rId25"/>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9.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setting in one line: a one-room clinic in Krishnanagar. This deck walks the five design-thinking stages in order, and each stage changed something about what we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this slide is scale: not hospitals, not chains — a single doctor, alone, with a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plainly: we did not start from a solution. The prototype is stage four of five, and stage five has not passed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the anti-leading-question design. This is the methodological point the course cares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that the right-hand column is not yet answered. Honesty here is the point — do not present unheard quotes as findings.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shows the process working. Our first framing was wrong, and the data — not an opinion — is what corrected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Composite persona built from the context of the field site. The third block is the one that killed most of our early ideas.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six steps quickly, then land hard on the bar chart: the record is thinnest exactly where the clinical value is highest.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Cluster 2 is the insight the project turns on: no one in the room is advocating for the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slide aloud, slowly. It is the hinge of the whole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How-Might-We questions map one-to-one onto the four principles later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no diagnosis feature: it is a regulatory line, not a technical limitation. Say so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third rejection is on privacy and reliability, not capability — the cloud option would have worked technically.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Principle two is the one that generated the most engineering work and the least visible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real app here if the room allows it. A running prototype is worth more than any slide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 three is a direct answer to something observed, not a feature chosen for its own sake.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that these numbers were written down before any testing began. That is what makes them a test rather than a description.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third reflection. Invite challenge on the untested parts — that is the honest position and it reads as confidence.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2B2E"/>
          </a:solidFill>
          <a:ln w="12700">
            <a:solidFill>
              <a:srgbClr val="0B2B2E"/>
            </a:solidFill>
            <a:prstDash val="solid"/>
          </a:ln>
        </p:spPr>
        <p:txBody>
          <a:bodyPr/>
          <a:p/>
        </p:txBody>
      </p:sp>
      <p:sp>
        <p:nvSpPr>
          <p:cNvPr id="3" name="Shape 1"/>
          <p:cNvSpPr/>
          <p:nvPr/>
        </p:nvSpPr>
        <p:spPr>
          <a:xfrm>
            <a:off x="8595360" y="-1371600"/>
            <a:ext cx="5852160" cy="5852160"/>
          </a:xfrm>
          <a:prstGeom prst="ellipse">
            <a:avLst/>
          </a:prstGeom>
          <a:solidFill>
            <a:srgbClr val="0E6E6B">
              <a:alpha val="12000"/>
            </a:srgbClr>
          </a:solidFill>
          <a:ln/>
        </p:spPr>
        <p:txBody>
          <a:bodyPr/>
          <a:p/>
        </p:txBody>
      </p:sp>
      <p:sp>
        <p:nvSpPr>
          <p:cNvPr id="4" name="Shape 2"/>
          <p:cNvSpPr/>
          <p:nvPr/>
        </p:nvSpPr>
        <p:spPr>
          <a:xfrm>
            <a:off x="9966960" y="91440"/>
            <a:ext cx="3108960" cy="3108960"/>
          </a:xfrm>
          <a:prstGeom prst="ellipse">
            <a:avLst/>
          </a:prstGeom>
          <a:solidFill>
            <a:srgbClr val="5FB3AB">
              <a:alpha val="10000"/>
            </a:srgbClr>
          </a:solidFill>
          <a:ln/>
        </p:spPr>
        <p:txBody>
          <a:bodyPr/>
          <a:p/>
        </p:txBody>
      </p:sp>
      <p:sp>
        <p:nvSpPr>
          <p:cNvPr id="5" name="Text 3"/>
          <p:cNvSpPr txBox="1"/>
          <p:nvPr/>
        </p:nvSpPr>
        <p:spPr>
          <a:xfrm>
            <a:off x="640080" y="1078992"/>
            <a:ext cx="7863840" cy="274320"/>
          </a:xfrm>
          <a:prstGeom prst="rect">
            <a:avLst/>
          </a:prstGeom>
          <a:noFill/>
          <a:ln/>
        </p:spPr>
        <p:txBody>
          <a:bodyPr wrap="square" lIns="0" tIns="0" rIns="0" bIns="0" rtlCol="0" anchor="ctr"/>
          <a:lstStyle/>
          <a:p>
            <a:pPr indent="0" marL="0">
              <a:buNone/>
            </a:pPr>
            <a:r>
              <a:rPr lang="en-US" sz="1150" b="1" spc="260" kern="0" dirty="0">
                <a:solidFill>
                  <a:srgbClr val="C9821F"/>
                </a:solidFill>
                <a:latin typeface="Calibri" pitchFamily="34" charset="0"/>
                <a:ea typeface="Calibri" pitchFamily="34" charset="-122"/>
                <a:cs typeface="Calibri" pitchFamily="34" charset="-120"/>
              </a:rPr>
              <a:t>DESIGN THINKING  ·  PRODUCT CASE STUDY  ·  VARAXIS</a:t>
            </a:r>
            <a:endParaRPr lang="en-US" sz="1150" dirty="0"/>
          </a:p>
        </p:txBody>
      </p:sp>
      <p:sp>
        <p:nvSpPr>
          <p:cNvPr id="6" name="Text 4"/>
          <p:cNvSpPr txBox="1"/>
          <p:nvPr/>
        </p:nvSpPr>
        <p:spPr>
          <a:xfrm>
            <a:off x="640080" y="1481328"/>
            <a:ext cx="7863840" cy="960120"/>
          </a:xfrm>
          <a:prstGeom prst="rect">
            <a:avLst/>
          </a:prstGeom>
          <a:noFill/>
          <a:ln/>
        </p:spPr>
        <p:txBody>
          <a:bodyPr wrap="square" lIns="0" tIns="0" rIns="0" bIns="0" rtlCol="0" anchor="ctr"/>
          <a:lstStyle/>
          <a:p>
            <a:pPr indent="0" marL="0">
              <a:buNone/>
            </a:pPr>
            <a:r>
              <a:rPr lang="en-US" sz="5800" b="1" dirty="0">
                <a:solidFill>
                  <a:srgbClr val="FFFFFF"/>
                </a:solidFill>
                <a:latin typeface="Cambria" pitchFamily="34" charset="0"/>
                <a:ea typeface="Cambria" pitchFamily="34" charset="-122"/>
                <a:cs typeface="Cambria" pitchFamily="34" charset="-120"/>
              </a:rPr>
              <a:t>ClinicOS</a:t>
            </a:r>
            <a:endParaRPr lang="en-US" sz="5800" dirty="0"/>
          </a:p>
        </p:txBody>
      </p:sp>
      <p:sp>
        <p:nvSpPr>
          <p:cNvPr id="7" name="Text 5"/>
          <p:cNvSpPr txBox="1"/>
          <p:nvPr/>
        </p:nvSpPr>
        <p:spPr>
          <a:xfrm>
            <a:off x="640080" y="2487168"/>
            <a:ext cx="7498080" cy="457200"/>
          </a:xfrm>
          <a:prstGeom prst="rect">
            <a:avLst/>
          </a:prstGeom>
          <a:noFill/>
          <a:ln/>
        </p:spPr>
        <p:txBody>
          <a:bodyPr wrap="square" lIns="0" tIns="0" rIns="0" bIns="0" rtlCol="0" anchor="ctr"/>
          <a:lstStyle/>
          <a:p>
            <a:pPr indent="0" marL="0">
              <a:buNone/>
            </a:pPr>
            <a:r>
              <a:rPr lang="en-US" sz="2300" dirty="0">
                <a:solidFill>
                  <a:srgbClr val="5FB3AB"/>
                </a:solidFill>
                <a:latin typeface="Cambria" pitchFamily="34" charset="0"/>
                <a:ea typeface="Cambria" pitchFamily="34" charset="-122"/>
                <a:cs typeface="Cambria" pitchFamily="34" charset="-120"/>
              </a:rPr>
              <a:t>Designing documentation for the two-minute consultation</a:t>
            </a:r>
            <a:endParaRPr lang="en-US" sz="2300" dirty="0"/>
          </a:p>
        </p:txBody>
      </p:sp>
      <p:sp>
        <p:nvSpPr>
          <p:cNvPr id="8" name="Text 6"/>
          <p:cNvSpPr txBox="1"/>
          <p:nvPr/>
        </p:nvSpPr>
        <p:spPr>
          <a:xfrm>
            <a:off x="640080" y="3246120"/>
            <a:ext cx="6309360" cy="1005840"/>
          </a:xfrm>
          <a:prstGeom prst="rect">
            <a:avLst/>
          </a:prstGeom>
          <a:noFill/>
          <a:ln/>
        </p:spPr>
        <p:txBody>
          <a:bodyPr wrap="square" lIns="0" tIns="0" rIns="0" bIns="0" rtlCol="0" anchor="ctr"/>
          <a:lstStyle/>
          <a:p>
            <a:pPr indent="0" marL="0">
              <a:lnSpc>
                <a:spcPts val="2400"/>
              </a:lnSpc>
              <a:buNone/>
            </a:pPr>
            <a:r>
              <a:rPr lang="en-US" sz="1450" dirty="0">
                <a:solidFill>
                  <a:srgbClr val="AFC3C4"/>
                </a:solidFill>
                <a:latin typeface="Calibri" pitchFamily="34" charset="0"/>
                <a:ea typeface="Calibri" pitchFamily="34" charset="-122"/>
                <a:cs typeface="Calibri" pitchFamily="34" charset="-120"/>
              </a:rPr>
              <a:t>Built by Varaxis to work at the scale of the whole country, and in time, beyond it — this design-thinking case study traces the evidence back to where it started: a single-doctor rural clinic, one room, one doctor, one register.</a:t>
            </a:r>
            <a:endParaRPr lang="en-US" sz="1450" dirty="0"/>
          </a:p>
        </p:txBody>
      </p:sp>
      <p:sp>
        <p:nvSpPr>
          <p:cNvPr id="9" name="Text 7"/>
          <p:cNvSpPr txBox="1"/>
          <p:nvPr/>
        </p:nvSpPr>
        <p:spPr>
          <a:xfrm>
            <a:off x="640080" y="5394960"/>
            <a:ext cx="3657600"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Varaxis</a:t>
            </a:r>
            <a:endParaRPr lang="en-US" sz="1400" dirty="0"/>
          </a:p>
        </p:txBody>
      </p:sp>
      <p:sp>
        <p:nvSpPr>
          <p:cNvPr id="10" name="Text 8"/>
          <p:cNvSpPr txBox="1"/>
          <p:nvPr/>
        </p:nvSpPr>
        <p:spPr>
          <a:xfrm>
            <a:off x="640080" y="5687568"/>
            <a:ext cx="4572000" cy="274320"/>
          </a:xfrm>
          <a:prstGeom prst="rect">
            <a:avLst/>
          </a:prstGeom>
          <a:noFill/>
          <a:ln/>
        </p:spPr>
        <p:txBody>
          <a:bodyPr wrap="square" lIns="0" tIns="0" rIns="0" bIns="0" rtlCol="0" anchor="ctr"/>
          <a:lstStyle/>
          <a:p>
            <a:pPr indent="0" marL="0">
              <a:buNone/>
            </a:pPr>
            <a:r>
              <a:rPr lang="en-US" sz="1200" dirty="0">
                <a:solidFill>
                  <a:srgbClr val="8B9C9D"/>
                </a:solidFill>
                <a:latin typeface="Calibri" pitchFamily="34" charset="0"/>
                <a:ea typeface="Calibri" pitchFamily="34" charset="-122"/>
                <a:cs typeface="Calibri" pitchFamily="34" charset="-120"/>
              </a:rPr>
              <a:t>National reach today. Global reach ahead.</a:t>
            </a:r>
            <a:endParaRPr lang="en-US" sz="1200" dirty="0"/>
          </a:p>
        </p:txBody>
      </p:sp>
      <p:sp>
        <p:nvSpPr>
          <p:cNvPr id="11" name="Shape 9"/>
          <p:cNvSpPr/>
          <p:nvPr/>
        </p:nvSpPr>
        <p:spPr>
          <a:xfrm>
            <a:off x="7818120" y="3063240"/>
            <a:ext cx="3730752" cy="2697480"/>
          </a:xfrm>
          <a:prstGeom prst="roundRect">
            <a:avLst>
              <a:gd name="adj" fmla="val 3051"/>
            </a:avLst>
          </a:prstGeom>
          <a:solidFill>
            <a:srgbClr val="16403F"/>
          </a:solidFill>
          <a:ln/>
        </p:spPr>
        <p:txBody>
          <a:bodyPr/>
          <a:p/>
        </p:txBody>
      </p:sp>
      <p:sp>
        <p:nvSpPr>
          <p:cNvPr id="12" name="Text 10"/>
          <p:cNvSpPr txBox="1"/>
          <p:nvPr/>
        </p:nvSpPr>
        <p:spPr>
          <a:xfrm>
            <a:off x="8183880" y="3310128"/>
            <a:ext cx="3017520" cy="256032"/>
          </a:xfrm>
          <a:prstGeom prst="rect">
            <a:avLst/>
          </a:prstGeom>
          <a:noFill/>
          <a:ln/>
        </p:spPr>
        <p:txBody>
          <a:bodyPr wrap="square" lIns="0" tIns="0" rIns="0" bIns="0" rtlCol="0" anchor="ctr"/>
          <a:lstStyle/>
          <a:p>
            <a:pPr indent="0" marL="0">
              <a:buNone/>
            </a:pPr>
            <a:r>
              <a:rPr lang="en-US" sz="950" b="1" spc="200" kern="0" dirty="0">
                <a:solidFill>
                  <a:srgbClr val="5FB3AB"/>
                </a:solidFill>
                <a:latin typeface="Calibri" pitchFamily="34" charset="0"/>
                <a:ea typeface="Calibri" pitchFamily="34" charset="-122"/>
                <a:cs typeface="Calibri" pitchFamily="34" charset="-120"/>
              </a:rPr>
              <a:t>THE PROCESS</a:t>
            </a:r>
            <a:endParaRPr lang="en-US" sz="950" dirty="0"/>
          </a:p>
        </p:txBody>
      </p:sp>
      <p:sp>
        <p:nvSpPr>
          <p:cNvPr id="13" name="Shape 11"/>
          <p:cNvSpPr/>
          <p:nvPr/>
        </p:nvSpPr>
        <p:spPr>
          <a:xfrm>
            <a:off x="8183880" y="3721608"/>
            <a:ext cx="155448" cy="155448"/>
          </a:xfrm>
          <a:prstGeom prst="ellipse">
            <a:avLst/>
          </a:prstGeom>
          <a:solidFill>
            <a:srgbClr val="C9821F"/>
          </a:solidFill>
          <a:ln/>
        </p:spPr>
        <p:txBody>
          <a:bodyPr/>
          <a:p/>
        </p:txBody>
      </p:sp>
      <p:sp>
        <p:nvSpPr>
          <p:cNvPr id="14" name="Text 12"/>
          <p:cNvSpPr txBox="1"/>
          <p:nvPr/>
        </p:nvSpPr>
        <p:spPr>
          <a:xfrm>
            <a:off x="8485632" y="3675888"/>
            <a:ext cx="2651760" cy="256032"/>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Empathize</a:t>
            </a:r>
            <a:endParaRPr lang="en-US" sz="1350" dirty="0"/>
          </a:p>
        </p:txBody>
      </p:sp>
      <p:sp>
        <p:nvSpPr>
          <p:cNvPr id="15" name="Shape 13"/>
          <p:cNvSpPr/>
          <p:nvPr/>
        </p:nvSpPr>
        <p:spPr>
          <a:xfrm>
            <a:off x="8183880" y="4123944"/>
            <a:ext cx="155448" cy="155448"/>
          </a:xfrm>
          <a:prstGeom prst="ellipse">
            <a:avLst/>
          </a:prstGeom>
          <a:solidFill>
            <a:srgbClr val="35605E"/>
          </a:solidFill>
          <a:ln/>
        </p:spPr>
        <p:txBody>
          <a:bodyPr/>
          <a:p/>
        </p:txBody>
      </p:sp>
      <p:sp>
        <p:nvSpPr>
          <p:cNvPr id="16" name="Text 14"/>
          <p:cNvSpPr txBox="1"/>
          <p:nvPr/>
        </p:nvSpPr>
        <p:spPr>
          <a:xfrm>
            <a:off x="8485632" y="4078224"/>
            <a:ext cx="2651760" cy="256032"/>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Define</a:t>
            </a:r>
            <a:endParaRPr lang="en-US" sz="1350" dirty="0"/>
          </a:p>
        </p:txBody>
      </p:sp>
      <p:sp>
        <p:nvSpPr>
          <p:cNvPr id="17" name="Shape 15"/>
          <p:cNvSpPr/>
          <p:nvPr/>
        </p:nvSpPr>
        <p:spPr>
          <a:xfrm>
            <a:off x="8183880" y="4526280"/>
            <a:ext cx="155448" cy="155448"/>
          </a:xfrm>
          <a:prstGeom prst="ellipse">
            <a:avLst/>
          </a:prstGeom>
          <a:solidFill>
            <a:srgbClr val="35605E"/>
          </a:solidFill>
          <a:ln/>
        </p:spPr>
        <p:txBody>
          <a:bodyPr/>
          <a:p/>
        </p:txBody>
      </p:sp>
      <p:sp>
        <p:nvSpPr>
          <p:cNvPr id="18" name="Text 16"/>
          <p:cNvSpPr txBox="1"/>
          <p:nvPr/>
        </p:nvSpPr>
        <p:spPr>
          <a:xfrm>
            <a:off x="8485632" y="4480560"/>
            <a:ext cx="2651760" cy="256032"/>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Ideate</a:t>
            </a:r>
            <a:endParaRPr lang="en-US" sz="1350" dirty="0"/>
          </a:p>
        </p:txBody>
      </p:sp>
      <p:sp>
        <p:nvSpPr>
          <p:cNvPr id="19" name="Shape 17"/>
          <p:cNvSpPr/>
          <p:nvPr/>
        </p:nvSpPr>
        <p:spPr>
          <a:xfrm>
            <a:off x="8183880" y="4928616"/>
            <a:ext cx="155448" cy="155448"/>
          </a:xfrm>
          <a:prstGeom prst="ellipse">
            <a:avLst/>
          </a:prstGeom>
          <a:solidFill>
            <a:srgbClr val="35605E"/>
          </a:solidFill>
          <a:ln/>
        </p:spPr>
        <p:txBody>
          <a:bodyPr/>
          <a:p/>
        </p:txBody>
      </p:sp>
      <p:sp>
        <p:nvSpPr>
          <p:cNvPr id="20" name="Text 18"/>
          <p:cNvSpPr txBox="1"/>
          <p:nvPr/>
        </p:nvSpPr>
        <p:spPr>
          <a:xfrm>
            <a:off x="8485632" y="4882896"/>
            <a:ext cx="2651760" cy="256032"/>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Prototype</a:t>
            </a:r>
            <a:endParaRPr lang="en-US" sz="1350" dirty="0"/>
          </a:p>
        </p:txBody>
      </p:sp>
      <p:sp>
        <p:nvSpPr>
          <p:cNvPr id="21" name="Shape 19"/>
          <p:cNvSpPr/>
          <p:nvPr/>
        </p:nvSpPr>
        <p:spPr>
          <a:xfrm>
            <a:off x="8183880" y="5330952"/>
            <a:ext cx="155448" cy="155448"/>
          </a:xfrm>
          <a:prstGeom prst="ellipse">
            <a:avLst/>
          </a:prstGeom>
          <a:solidFill>
            <a:srgbClr val="35605E"/>
          </a:solidFill>
          <a:ln/>
        </p:spPr>
        <p:txBody>
          <a:bodyPr/>
          <a:p/>
        </p:txBody>
      </p:sp>
      <p:sp>
        <p:nvSpPr>
          <p:cNvPr id="22" name="Text 20"/>
          <p:cNvSpPr txBox="1"/>
          <p:nvPr/>
        </p:nvSpPr>
        <p:spPr>
          <a:xfrm>
            <a:off x="8485632" y="5285232"/>
            <a:ext cx="2651760" cy="256032"/>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Test</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p/>
        </p:txBody>
      </p:sp>
      <p:sp>
        <p:nvSpPr>
          <p:cNvPr id="3" name="Text 1"/>
          <p:cNvSpPr txBox="1"/>
          <p:nvPr/>
        </p:nvSpPr>
        <p:spPr>
          <a:xfrm>
            <a:off x="640080" y="475488"/>
            <a:ext cx="7315200" cy="256032"/>
          </a:xfrm>
          <a:prstGeom prst="rect">
            <a:avLst/>
          </a:prstGeom>
          <a:noFill/>
          <a:ln/>
        </p:spPr>
        <p:txBody>
          <a:bodyPr wrap="square" lIns="0" tIns="0" rIns="0" bIns="0" rtlCol="0" anchor="ctr"/>
          <a:lstStyle/>
          <a:p>
            <a:pPr indent="0" marL="0">
              <a:buNone/>
            </a:pPr>
            <a:r>
              <a:rPr lang="en-US" sz="1100" b="1" spc="240" kern="0" dirty="0">
                <a:solidFill>
                  <a:srgbClr val="0E6E6B"/>
                </a:solidFill>
                <a:latin typeface="Calibri" pitchFamily="34" charset="0"/>
                <a:ea typeface="Calibri" pitchFamily="34" charset="-122"/>
                <a:cs typeface="Calibri" pitchFamily="34" charset="-120"/>
              </a:rPr>
              <a:t>CONTEXT</a:t>
            </a:r>
            <a:endParaRPr lang="en-US" sz="1100" dirty="0"/>
          </a:p>
        </p:txBody>
      </p:sp>
      <p:sp>
        <p:nvSpPr>
          <p:cNvPr id="4" name="Text 2"/>
          <p:cNvSpPr txBox="1"/>
          <p:nvPr/>
        </p:nvSpPr>
        <p:spPr>
          <a:xfrm>
            <a:off x="640080" y="822960"/>
            <a:ext cx="9509760" cy="777240"/>
          </a:xfrm>
          <a:prstGeom prst="rect">
            <a:avLst/>
          </a:prstGeom>
          <a:noFill/>
          <a:ln/>
        </p:spPr>
        <p:txBody>
          <a:bodyPr wrap="square" lIns="0" tIns="0" rIns="0" bIns="0" rtlCol="0" anchor="ctr"/>
          <a:lstStyle/>
          <a:p>
            <a:pPr indent="0" marL="0">
              <a:buNone/>
            </a:pPr>
            <a:r>
              <a:rPr lang="en-US" sz="3400" b="1" dirty="0">
                <a:solidFill>
                  <a:srgbClr val="0B2B2E"/>
                </a:solidFill>
                <a:latin typeface="Cambria" pitchFamily="34" charset="0"/>
                <a:ea typeface="Cambria" pitchFamily="34" charset="-122"/>
                <a:cs typeface="Cambria" pitchFamily="34" charset="-120"/>
              </a:rPr>
              <a:t>One room, one doctor, one register</a:t>
            </a:r>
            <a:endParaRPr lang="en-US" sz="3400" dirty="0"/>
          </a:p>
        </p:txBody>
      </p:sp>
      <p:sp>
        <p:nvSpPr>
          <p:cNvPr id="5" name="Text 3"/>
          <p:cNvSpPr txBox="1"/>
          <p:nvPr/>
        </p:nvSpPr>
        <p:spPr>
          <a:xfrm>
            <a:off x="640080" y="2121408"/>
            <a:ext cx="5577840" cy="1188720"/>
          </a:xfrm>
          <a:prstGeom prst="rect">
            <a:avLst/>
          </a:prstGeom>
          <a:noFill/>
          <a:ln/>
        </p:spPr>
        <p:txBody>
          <a:bodyPr wrap="square" lIns="0" tIns="0" rIns="0" bIns="0" rtlCol="0" anchor="ctr"/>
          <a:lstStyle/>
          <a:p>
            <a:pPr indent="0" marL="0">
              <a:lnSpc>
                <a:spcPts val="2600"/>
              </a:lnSpc>
              <a:buNone/>
            </a:pPr>
            <a:r>
              <a:rPr lang="en-US" sz="1500" dirty="0">
                <a:solidFill>
                  <a:srgbClr val="0B2B2E"/>
                </a:solidFill>
                <a:latin typeface="Calibri" pitchFamily="34" charset="0"/>
                <a:ea typeface="Calibri" pitchFamily="34" charset="-122"/>
                <a:cs typeface="Calibri" pitchFamily="34" charset="-120"/>
              </a:rPr>
              <a:t>Indian rural primary care runs on very small units. Alongside the public network of health centres sits a far larger, largely uncounted layer of private single-doctor chambers: one room, one doctor, a paper register and a queue outside.</a:t>
            </a:r>
            <a:endParaRPr lang="en-US" sz="1500" dirty="0"/>
          </a:p>
        </p:txBody>
      </p:sp>
      <p:sp>
        <p:nvSpPr>
          <p:cNvPr id="6" name="Text 4"/>
          <p:cNvSpPr txBox="1"/>
          <p:nvPr/>
        </p:nvSpPr>
        <p:spPr>
          <a:xfrm>
            <a:off x="640080" y="3529584"/>
            <a:ext cx="5577840" cy="1005840"/>
          </a:xfrm>
          <a:prstGeom prst="rect">
            <a:avLst/>
          </a:prstGeom>
          <a:noFill/>
          <a:ln/>
        </p:spPr>
        <p:txBody>
          <a:bodyPr wrap="square" lIns="0" tIns="0" rIns="0" bIns="0" rtlCol="0" anchor="ctr"/>
          <a:lstStyle/>
          <a:p>
            <a:pPr indent="0" marL="0">
              <a:lnSpc>
                <a:spcPts val="2600"/>
              </a:lnSpc>
              <a:buNone/>
            </a:pPr>
            <a:r>
              <a:rPr lang="en-US" sz="1500" dirty="0">
                <a:solidFill>
                  <a:srgbClr val="56696A"/>
                </a:solidFill>
                <a:latin typeface="Calibri" pitchFamily="34" charset="0"/>
                <a:ea typeface="Calibri" pitchFamily="34" charset="-122"/>
                <a:cs typeface="Calibri" pitchFamily="34" charset="-120"/>
              </a:rPr>
              <a:t>That chamber is the unit this project studies — it is where the largest number of Indian patients are seen, and almost no clinical software is built for it. It is also where Varaxis's national ambitions for this product begin.</a:t>
            </a:r>
            <a:endParaRPr lang="en-US" sz="1500" dirty="0"/>
          </a:p>
        </p:txBody>
      </p:sp>
      <p:sp>
        <p:nvSpPr>
          <p:cNvPr id="7" name="Text 5"/>
          <p:cNvSpPr txBox="1"/>
          <p:nvPr/>
        </p:nvSpPr>
        <p:spPr>
          <a:xfrm>
            <a:off x="640080" y="4919472"/>
            <a:ext cx="5577840" cy="310896"/>
          </a:xfrm>
          <a:prstGeom prst="rect">
            <a:avLst/>
          </a:prstGeom>
          <a:noFill/>
          <a:ln/>
        </p:spPr>
        <p:txBody>
          <a:bodyPr wrap="square" lIns="0" tIns="0" rIns="0" bIns="0" rtlCol="0" anchor="ctr"/>
          <a:lstStyle/>
          <a:p>
            <a:pPr indent="0" marL="0">
              <a:buNone/>
            </a:pPr>
            <a:r>
              <a:rPr lang="en-US" sz="1250" b="1" dirty="0">
                <a:solidFill>
                  <a:srgbClr val="0E6E6B"/>
                </a:solidFill>
                <a:latin typeface="Calibri" pitchFamily="34" charset="0"/>
                <a:ea typeface="Calibri" pitchFamily="34" charset="-122"/>
                <a:cs typeface="Calibri" pitchFamily="34" charset="-120"/>
              </a:rPr>
              <a:t>Where this began: a single-doctor rural clinic — the starting point, not the limit.</a:t>
            </a:r>
            <a:endParaRPr lang="en-US" sz="1250" dirty="0"/>
          </a:p>
        </p:txBody>
      </p:sp>
      <p:sp>
        <p:nvSpPr>
          <p:cNvPr id="8" name="Shape 6"/>
          <p:cNvSpPr/>
          <p:nvPr/>
        </p:nvSpPr>
        <p:spPr>
          <a:xfrm>
            <a:off x="6720840" y="2084832"/>
            <a:ext cx="4828032" cy="1042416"/>
          </a:xfrm>
          <a:prstGeom prst="roundRect">
            <a:avLst>
              <a:gd name="adj" fmla="val 6140"/>
            </a:avLst>
          </a:prstGeom>
          <a:solidFill>
            <a:srgbClr val="EFF4F3"/>
          </a:solidFill>
          <a:ln/>
        </p:spPr>
        <p:txBody>
          <a:bodyPr/>
          <a:p/>
        </p:txBody>
      </p:sp>
      <p:sp>
        <p:nvSpPr>
          <p:cNvPr id="9" name="Text 7"/>
          <p:cNvSpPr txBox="1"/>
          <p:nvPr/>
        </p:nvSpPr>
        <p:spPr>
          <a:xfrm>
            <a:off x="7040880" y="2231136"/>
            <a:ext cx="1691640" cy="731520"/>
          </a:xfrm>
          <a:prstGeom prst="rect">
            <a:avLst/>
          </a:prstGeom>
          <a:noFill/>
          <a:ln/>
        </p:spPr>
        <p:txBody>
          <a:bodyPr wrap="square" lIns="0" tIns="0" rIns="0" bIns="0" rtlCol="0" anchor="ctr"/>
          <a:lstStyle/>
          <a:p>
            <a:pPr indent="0" marL="0">
              <a:buNone/>
            </a:pPr>
            <a:r>
              <a:rPr lang="en-US" sz="3200" b="1" dirty="0">
                <a:solidFill>
                  <a:srgbClr val="0E6E6B"/>
                </a:solidFill>
                <a:latin typeface="Cambria" pitchFamily="34" charset="0"/>
                <a:ea typeface="Cambria" pitchFamily="34" charset="-122"/>
                <a:cs typeface="Cambria" pitchFamily="34" charset="-120"/>
              </a:rPr>
              <a:t>31,882</a:t>
            </a:r>
            <a:endParaRPr lang="en-US" sz="3200" dirty="0"/>
          </a:p>
        </p:txBody>
      </p:sp>
      <p:sp>
        <p:nvSpPr>
          <p:cNvPr id="10" name="Text 8"/>
          <p:cNvSpPr txBox="1"/>
          <p:nvPr/>
        </p:nvSpPr>
        <p:spPr>
          <a:xfrm>
            <a:off x="8778240" y="2231136"/>
            <a:ext cx="2514600" cy="731520"/>
          </a:xfrm>
          <a:prstGeom prst="rect">
            <a:avLst/>
          </a:prstGeom>
          <a:noFill/>
          <a:ln/>
        </p:spPr>
        <p:txBody>
          <a:bodyPr wrap="square" lIns="0" tIns="0" rIns="0" bIns="0" rtlCol="0" anchor="ctr"/>
          <a:lstStyle/>
          <a:p>
            <a:pPr indent="0" marL="0">
              <a:lnSpc>
                <a:spcPts val="1700"/>
              </a:lnSpc>
              <a:buNone/>
            </a:pPr>
            <a:r>
              <a:rPr lang="en-US" sz="1250" dirty="0">
                <a:solidFill>
                  <a:srgbClr val="56696A"/>
                </a:solidFill>
                <a:latin typeface="Calibri" pitchFamily="34" charset="0"/>
                <a:ea typeface="Calibri" pitchFamily="34" charset="-122"/>
                <a:cs typeface="Calibri" pitchFamily="34" charset="-120"/>
              </a:rPr>
              <a:t>Primary Health Centres across rural India</a:t>
            </a:r>
            <a:endParaRPr lang="en-US" sz="1250" dirty="0"/>
          </a:p>
        </p:txBody>
      </p:sp>
      <p:sp>
        <p:nvSpPr>
          <p:cNvPr id="11" name="Shape 9"/>
          <p:cNvSpPr/>
          <p:nvPr/>
        </p:nvSpPr>
        <p:spPr>
          <a:xfrm>
            <a:off x="6720840" y="3310128"/>
            <a:ext cx="4828032" cy="1042416"/>
          </a:xfrm>
          <a:prstGeom prst="roundRect">
            <a:avLst>
              <a:gd name="adj" fmla="val 6140"/>
            </a:avLst>
          </a:prstGeom>
          <a:solidFill>
            <a:srgbClr val="EFF4F3"/>
          </a:solidFill>
          <a:ln/>
        </p:spPr>
        <p:txBody>
          <a:bodyPr/>
          <a:p/>
        </p:txBody>
      </p:sp>
      <p:sp>
        <p:nvSpPr>
          <p:cNvPr id="12" name="Text 10"/>
          <p:cNvSpPr txBox="1"/>
          <p:nvPr/>
        </p:nvSpPr>
        <p:spPr>
          <a:xfrm>
            <a:off x="7040880" y="3456432"/>
            <a:ext cx="1691640" cy="731520"/>
          </a:xfrm>
          <a:prstGeom prst="rect">
            <a:avLst/>
          </a:prstGeom>
          <a:noFill/>
          <a:ln/>
        </p:spPr>
        <p:txBody>
          <a:bodyPr wrap="square" lIns="0" tIns="0" rIns="0" bIns="0" rtlCol="0" anchor="ctr"/>
          <a:lstStyle/>
          <a:p>
            <a:pPr indent="0" marL="0">
              <a:buNone/>
            </a:pPr>
            <a:r>
              <a:rPr lang="en-US" sz="3200" b="1" dirty="0">
                <a:solidFill>
                  <a:srgbClr val="0E6E6B"/>
                </a:solidFill>
                <a:latin typeface="Cambria" pitchFamily="34" charset="0"/>
                <a:ea typeface="Cambria" pitchFamily="34" charset="-122"/>
                <a:cs typeface="Cambria" pitchFamily="34" charset="-120"/>
              </a:rPr>
              <a:t>40,583</a:t>
            </a:r>
            <a:endParaRPr lang="en-US" sz="3200" dirty="0"/>
          </a:p>
        </p:txBody>
      </p:sp>
      <p:sp>
        <p:nvSpPr>
          <p:cNvPr id="13" name="Text 11"/>
          <p:cNvSpPr txBox="1"/>
          <p:nvPr/>
        </p:nvSpPr>
        <p:spPr>
          <a:xfrm>
            <a:off x="8778240" y="3456432"/>
            <a:ext cx="2514600" cy="731520"/>
          </a:xfrm>
          <a:prstGeom prst="rect">
            <a:avLst/>
          </a:prstGeom>
          <a:noFill/>
          <a:ln/>
        </p:spPr>
        <p:txBody>
          <a:bodyPr wrap="square" lIns="0" tIns="0" rIns="0" bIns="0" rtlCol="0" anchor="ctr"/>
          <a:lstStyle/>
          <a:p>
            <a:pPr indent="0" marL="0">
              <a:lnSpc>
                <a:spcPts val="1700"/>
              </a:lnSpc>
              <a:buNone/>
            </a:pPr>
            <a:r>
              <a:rPr lang="en-US" sz="1250" dirty="0">
                <a:solidFill>
                  <a:srgbClr val="56696A"/>
                </a:solidFill>
                <a:latin typeface="Calibri" pitchFamily="34" charset="0"/>
                <a:ea typeface="Calibri" pitchFamily="34" charset="-122"/>
                <a:cs typeface="Calibri" pitchFamily="34" charset="-120"/>
              </a:rPr>
              <a:t>doctors posted across all of them</a:t>
            </a:r>
            <a:endParaRPr lang="en-US" sz="1250" dirty="0"/>
          </a:p>
        </p:txBody>
      </p:sp>
      <p:sp>
        <p:nvSpPr>
          <p:cNvPr id="14" name="Shape 12"/>
          <p:cNvSpPr/>
          <p:nvPr/>
        </p:nvSpPr>
        <p:spPr>
          <a:xfrm>
            <a:off x="6720840" y="4535424"/>
            <a:ext cx="4828032" cy="1042416"/>
          </a:xfrm>
          <a:prstGeom prst="roundRect">
            <a:avLst>
              <a:gd name="adj" fmla="val 6140"/>
            </a:avLst>
          </a:prstGeom>
          <a:solidFill>
            <a:srgbClr val="0B2B2E"/>
          </a:solidFill>
          <a:ln/>
          <a:effectLst>
            <a:outerShdw sx="100000" sy="100000" kx="0" ky="0" algn="bl" rotWithShape="0" blurRad="152400" dist="25400" dir="5400000">
              <a:srgbClr val="0B2B2E">
                <a:alpha val="9000"/>
              </a:srgbClr>
            </a:outerShdw>
          </a:effectLst>
        </p:spPr>
        <p:txBody>
          <a:bodyPr/>
          <a:p/>
        </p:txBody>
      </p:sp>
      <p:sp>
        <p:nvSpPr>
          <p:cNvPr id="15" name="Text 13"/>
          <p:cNvSpPr txBox="1"/>
          <p:nvPr/>
        </p:nvSpPr>
        <p:spPr>
          <a:xfrm>
            <a:off x="7040880" y="4681728"/>
            <a:ext cx="169164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 1.3</a:t>
            </a:r>
            <a:endParaRPr lang="en-US" sz="3200" dirty="0"/>
          </a:p>
        </p:txBody>
      </p:sp>
      <p:sp>
        <p:nvSpPr>
          <p:cNvPr id="16" name="Text 14"/>
          <p:cNvSpPr txBox="1"/>
          <p:nvPr/>
        </p:nvSpPr>
        <p:spPr>
          <a:xfrm>
            <a:off x="8778240" y="4681728"/>
            <a:ext cx="2514600" cy="731520"/>
          </a:xfrm>
          <a:prstGeom prst="rect">
            <a:avLst/>
          </a:prstGeom>
          <a:noFill/>
          <a:ln/>
        </p:spPr>
        <p:txBody>
          <a:bodyPr wrap="square" lIns="0" tIns="0" rIns="0" bIns="0" rtlCol="0" anchor="ctr"/>
          <a:lstStyle/>
          <a:p>
            <a:pPr indent="0" marL="0">
              <a:lnSpc>
                <a:spcPts val="1700"/>
              </a:lnSpc>
              <a:buNone/>
            </a:pPr>
            <a:r>
              <a:rPr lang="en-US" sz="1250" dirty="0">
                <a:solidFill>
                  <a:srgbClr val="AFC3C4"/>
                </a:solidFill>
                <a:latin typeface="Calibri" pitchFamily="34" charset="0"/>
                <a:ea typeface="Calibri" pitchFamily="34" charset="-122"/>
                <a:cs typeface="Calibri" pitchFamily="34" charset="-120"/>
              </a:rPr>
              <a:t>doctors per centre — the scale we design for</a:t>
            </a:r>
            <a:endParaRPr lang="en-US" sz="1250" dirty="0"/>
          </a:p>
        </p:txBody>
      </p:sp>
      <p:sp>
        <p:nvSpPr>
          <p:cNvPr id="17" name="Text 15"/>
          <p:cNvSpPr txBox="1"/>
          <p:nvPr/>
        </p:nvSpPr>
        <p:spPr>
          <a:xfrm>
            <a:off x="640080" y="6291072"/>
            <a:ext cx="10911535" cy="292608"/>
          </a:xfrm>
          <a:prstGeom prst="rect">
            <a:avLst/>
          </a:prstGeom>
          <a:noFill/>
          <a:ln/>
        </p:spPr>
        <p:txBody>
          <a:bodyPr wrap="square" lIns="0" tIns="0" rIns="0" bIns="0" rtlCol="0" anchor="ctr"/>
          <a:lstStyle/>
          <a:p>
            <a:pPr indent="0" marL="0">
              <a:buNone/>
            </a:pPr>
            <a:r>
              <a:rPr lang="en-US" sz="950" dirty="0">
                <a:solidFill>
                  <a:srgbClr val="8B9C9D"/>
                </a:solidFill>
                <a:latin typeface="Calibri" pitchFamily="34" charset="0"/>
                <a:ea typeface="Calibri" pitchFamily="34" charset="-122"/>
                <a:cs typeface="Calibri" pitchFamily="34" charset="-120"/>
              </a:rPr>
              <a:t>Health Dynamics of India (Infrastructure &amp; Human Resources) 2022–23, Ministry of Health &amp; Family Welfare — figures as of 31 March 2023.</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Text 1"/>
          <p:cNvSpPr txBox="1"/>
          <p:nvPr/>
        </p:nvSpPr>
        <p:spPr>
          <a:xfrm>
            <a:off x="640080" y="475488"/>
            <a:ext cx="7315200" cy="256032"/>
          </a:xfrm>
          <a:prstGeom prst="rect">
            <a:avLst/>
          </a:prstGeom>
          <a:noFill/>
          <a:ln/>
        </p:spPr>
        <p:txBody>
          <a:bodyPr wrap="square" lIns="0" tIns="0" rIns="0" bIns="0" rtlCol="0" anchor="ctr"/>
          <a:lstStyle/>
          <a:p>
            <a:pPr indent="0" marL="0">
              <a:buNone/>
            </a:pPr>
            <a:r>
              <a:rPr lang="en-US" sz="1100" b="1" spc="240" kern="0" dirty="0">
                <a:solidFill>
                  <a:srgbClr val="0E6E6B"/>
                </a:solidFill>
                <a:latin typeface="Calibri" pitchFamily="34" charset="0"/>
                <a:ea typeface="Calibri" pitchFamily="34" charset="-122"/>
                <a:cs typeface="Calibri" pitchFamily="34" charset="-120"/>
              </a:rPr>
              <a:t>METHOD</a:t>
            </a:r>
            <a:endParaRPr lang="en-US" sz="1100" dirty="0"/>
          </a:p>
        </p:txBody>
      </p:sp>
      <p:sp>
        <p:nvSpPr>
          <p:cNvPr id="4" name="Text 2"/>
          <p:cNvSpPr txBox="1"/>
          <p:nvPr/>
        </p:nvSpPr>
        <p:spPr>
          <a:xfrm>
            <a:off x="640080" y="822960"/>
            <a:ext cx="9509760" cy="777240"/>
          </a:xfrm>
          <a:prstGeom prst="rect">
            <a:avLst/>
          </a:prstGeom>
          <a:noFill/>
          <a:ln/>
        </p:spPr>
        <p:txBody>
          <a:bodyPr wrap="square" lIns="0" tIns="0" rIns="0" bIns="0" rtlCol="0" anchor="ctr"/>
          <a:lstStyle/>
          <a:p>
            <a:pPr indent="0" marL="0">
              <a:buNone/>
            </a:pPr>
            <a:r>
              <a:rPr lang="en-US" sz="3400" b="1" dirty="0">
                <a:solidFill>
                  <a:srgbClr val="0B2B2E"/>
                </a:solidFill>
                <a:latin typeface="Cambria" pitchFamily="34" charset="0"/>
                <a:ea typeface="Cambria" pitchFamily="34" charset="-122"/>
                <a:cs typeface="Cambria" pitchFamily="34" charset="-120"/>
              </a:rPr>
              <a:t>How the project was run</a:t>
            </a:r>
            <a:endParaRPr lang="en-US" sz="3400" dirty="0"/>
          </a:p>
        </p:txBody>
      </p:sp>
      <p:sp>
        <p:nvSpPr>
          <p:cNvPr id="5" name="Text 3"/>
          <p:cNvSpPr txBox="1"/>
          <p:nvPr/>
        </p:nvSpPr>
        <p:spPr>
          <a:xfrm>
            <a:off x="640080" y="1664208"/>
            <a:ext cx="8686800" cy="365760"/>
          </a:xfrm>
          <a:prstGeom prst="rect">
            <a:avLst/>
          </a:prstGeom>
          <a:noFill/>
          <a:ln/>
        </p:spPr>
        <p:txBody>
          <a:bodyPr wrap="square" lIns="0" tIns="0" rIns="0" bIns="0" rtlCol="0" anchor="ctr"/>
          <a:lstStyle/>
          <a:p>
            <a:pPr indent="0" marL="0">
              <a:buNone/>
            </a:pPr>
            <a:r>
              <a:rPr lang="en-US" sz="1450" dirty="0">
                <a:solidFill>
                  <a:srgbClr val="56696A"/>
                </a:solidFill>
                <a:latin typeface="Calibri" pitchFamily="34" charset="0"/>
                <a:ea typeface="Calibri" pitchFamily="34" charset="-122"/>
                <a:cs typeface="Calibri" pitchFamily="34" charset="-120"/>
              </a:rPr>
              <a:t>Each stage produced something the next one had to answer to. The order below is the order of this deck.</a:t>
            </a:r>
            <a:endParaRPr lang="en-US" sz="1450" dirty="0"/>
          </a:p>
        </p:txBody>
      </p:sp>
      <p:sp>
        <p:nvSpPr>
          <p:cNvPr id="6" name="Shape 4"/>
          <p:cNvSpPr/>
          <p:nvPr/>
        </p:nvSpPr>
        <p:spPr>
          <a:xfrm>
            <a:off x="1106424" y="3401568"/>
            <a:ext cx="9978847" cy="0"/>
          </a:xfrm>
          <a:prstGeom prst="line">
            <a:avLst/>
          </a:prstGeom>
          <a:noFill/>
          <a:ln w="25400">
            <a:solidFill>
              <a:srgbClr val="DFEAE8"/>
            </a:solidFill>
            <a:prstDash val="solid"/>
          </a:ln>
        </p:spPr>
      </p:sp>
      <p:sp>
        <p:nvSpPr>
          <p:cNvPr id="7" name="Shape 5"/>
          <p:cNvSpPr/>
          <p:nvPr/>
        </p:nvSpPr>
        <p:spPr>
          <a:xfrm>
            <a:off x="640080" y="2935224"/>
            <a:ext cx="932688" cy="932688"/>
          </a:xfrm>
          <a:prstGeom prst="ellipse">
            <a:avLst/>
          </a:prstGeom>
          <a:solidFill>
            <a:srgbClr val="0E6E6B"/>
          </a:solidFill>
          <a:ln w="25400">
            <a:solidFill>
              <a:srgbClr val="0E6E6B"/>
            </a:solidFill>
            <a:prstDash val="solid"/>
          </a:ln>
          <a:effectLst>
            <a:outerShdw sx="100000" sy="100000" kx="0" ky="0" algn="bl" rotWithShape="0" blurRad="101600" dist="25400" dir="5400000">
              <a:srgbClr val="0B2B2E">
                <a:alpha val="7000"/>
              </a:srgbClr>
            </a:outerShdw>
          </a:effectLst>
        </p:spPr>
      </p:sp>
      <p:sp>
        <p:nvSpPr>
          <p:cNvPr id="8" name="Text 6"/>
          <p:cNvSpPr txBox="1"/>
          <p:nvPr/>
        </p:nvSpPr>
        <p:spPr>
          <a:xfrm>
            <a:off x="640080" y="2935224"/>
            <a:ext cx="932688" cy="93268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01</a:t>
            </a:r>
            <a:endParaRPr lang="en-US" sz="2000" dirty="0"/>
          </a:p>
        </p:txBody>
      </p:sp>
      <p:sp>
        <p:nvSpPr>
          <p:cNvPr id="9" name="Text 7"/>
          <p:cNvSpPr txBox="1"/>
          <p:nvPr/>
        </p:nvSpPr>
        <p:spPr>
          <a:xfrm>
            <a:off x="73152" y="4050792"/>
            <a:ext cx="2066544" cy="274320"/>
          </a:xfrm>
          <a:prstGeom prst="rect">
            <a:avLst/>
          </a:prstGeom>
          <a:noFill/>
          <a:ln/>
        </p:spPr>
        <p:txBody>
          <a:bodyPr wrap="square" lIns="0" tIns="0" rIns="0" bIns="0" rtlCol="0" anchor="ctr"/>
          <a:lstStyle/>
          <a:p>
            <a:pPr algn="ctr" indent="0" marL="0">
              <a:buNone/>
            </a:pPr>
            <a:r>
              <a:rPr lang="en-US" sz="1450" b="1" dirty="0">
                <a:solidFill>
                  <a:srgbClr val="0B2B2E"/>
                </a:solidFill>
                <a:latin typeface="Calibri" pitchFamily="34" charset="0"/>
                <a:ea typeface="Calibri" pitchFamily="34" charset="-122"/>
                <a:cs typeface="Calibri" pitchFamily="34" charset="-120"/>
              </a:rPr>
              <a:t>Empathize</a:t>
            </a:r>
            <a:endParaRPr lang="en-US" sz="1450" dirty="0"/>
          </a:p>
        </p:txBody>
      </p:sp>
      <p:sp>
        <p:nvSpPr>
          <p:cNvPr id="10" name="Text 8"/>
          <p:cNvSpPr txBox="1"/>
          <p:nvPr/>
        </p:nvSpPr>
        <p:spPr>
          <a:xfrm>
            <a:off x="73152" y="4370832"/>
            <a:ext cx="2066544" cy="914400"/>
          </a:xfrm>
          <a:prstGeom prst="rect">
            <a:avLst/>
          </a:prstGeom>
          <a:noFill/>
          <a:ln/>
        </p:spPr>
        <p:txBody>
          <a:bodyPr wrap="square" lIns="0" tIns="0" rIns="0" bIns="0" rtlCol="0" anchor="ctr"/>
          <a:lstStyle/>
          <a:p>
            <a:pPr algn="ctr" indent="0" marL="0">
              <a:lnSpc>
                <a:spcPts val="1600"/>
              </a:lnSpc>
              <a:buNone/>
            </a:pPr>
            <a:r>
              <a:rPr lang="en-US" sz="1150" dirty="0">
                <a:solidFill>
                  <a:srgbClr val="56696A"/>
                </a:solidFill>
                <a:latin typeface="Calibri" pitchFamily="34" charset="0"/>
                <a:ea typeface="Calibri" pitchFamily="34" charset="-122"/>
                <a:cs typeface="Calibri" pitchFamily="34" charset="-120"/>
              </a:rPr>
              <a:t>Interviews and</a:t>
            </a:r>
            <a:endParaRPr lang="en-US" sz="1150" dirty="0"/>
          </a:p>
          <a:p>
            <a:pPr algn="ctr" indent="0" marL="0">
              <a:lnSpc>
                <a:spcPts val="1600"/>
              </a:lnSpc>
              <a:buNone/>
            </a:pPr>
            <a:r>
              <a:rPr lang="en-US" sz="1150" dirty="0">
                <a:solidFill>
                  <a:srgbClr val="56696A"/>
                </a:solidFill>
                <a:latin typeface="Calibri" pitchFamily="34" charset="0"/>
                <a:ea typeface="Calibri" pitchFamily="34" charset="-122"/>
                <a:cs typeface="Calibri" pitchFamily="34" charset="-120"/>
              </a:rPr>
              <a:t>observation in</a:t>
            </a:r>
            <a:endParaRPr lang="en-US" sz="1150" dirty="0"/>
          </a:p>
          <a:p>
            <a:pPr algn="ctr" indent="0" marL="0">
              <a:lnSpc>
                <a:spcPts val="1600"/>
              </a:lnSpc>
              <a:buNone/>
            </a:pPr>
            <a:r>
              <a:rPr lang="en-US" sz="1150" dirty="0">
                <a:solidFill>
                  <a:srgbClr val="56696A"/>
                </a:solidFill>
                <a:latin typeface="Calibri" pitchFamily="34" charset="0"/>
                <a:ea typeface="Calibri" pitchFamily="34" charset="-122"/>
                <a:cs typeface="Calibri" pitchFamily="34" charset="-120"/>
              </a:rPr>
              <a:t>real clinics</a:t>
            </a:r>
            <a:endParaRPr lang="en-US" sz="1150" dirty="0"/>
          </a:p>
        </p:txBody>
      </p:sp>
      <p:sp>
        <p:nvSpPr>
          <p:cNvPr id="11" name="Shape 9"/>
          <p:cNvSpPr/>
          <p:nvPr/>
        </p:nvSpPr>
        <p:spPr>
          <a:xfrm>
            <a:off x="3134792" y="2935224"/>
            <a:ext cx="932688" cy="932688"/>
          </a:xfrm>
          <a:prstGeom prst="ellipse">
            <a:avLst/>
          </a:prstGeom>
          <a:solidFill>
            <a:srgbClr val="FFFFFF"/>
          </a:solidFill>
          <a:ln w="25400">
            <a:solidFill>
              <a:srgbClr val="DFEAE8"/>
            </a:solidFill>
            <a:prstDash val="solid"/>
          </a:ln>
          <a:effectLst>
            <a:outerShdw sx="100000" sy="100000" kx="0" ky="0" algn="bl" rotWithShape="0" blurRad="101600" dist="25400" dir="5400000">
              <a:srgbClr val="0B2B2E">
                <a:alpha val="7000"/>
              </a:srgbClr>
            </a:outerShdw>
          </a:effectLst>
        </p:spPr>
      </p:sp>
      <p:sp>
        <p:nvSpPr>
          <p:cNvPr id="12" name="Text 10"/>
          <p:cNvSpPr txBox="1"/>
          <p:nvPr/>
        </p:nvSpPr>
        <p:spPr>
          <a:xfrm>
            <a:off x="3134792" y="2935224"/>
            <a:ext cx="932688" cy="932688"/>
          </a:xfrm>
          <a:prstGeom prst="rect">
            <a:avLst/>
          </a:prstGeom>
          <a:noFill/>
          <a:ln/>
        </p:spPr>
        <p:txBody>
          <a:bodyPr wrap="square" lIns="0" tIns="0" rIns="0" bIns="0" rtlCol="0" anchor="ctr"/>
          <a:lstStyle/>
          <a:p>
            <a:pPr algn="ctr" indent="0" marL="0">
              <a:buNone/>
            </a:pPr>
            <a:r>
              <a:rPr lang="en-US" sz="2000" b="1" dirty="0">
                <a:solidFill>
                  <a:srgbClr val="0E6E6B"/>
                </a:solidFill>
                <a:latin typeface="Cambria" pitchFamily="34" charset="0"/>
                <a:ea typeface="Cambria" pitchFamily="34" charset="-122"/>
                <a:cs typeface="Cambria" pitchFamily="34" charset="-120"/>
              </a:rPr>
              <a:t>02</a:t>
            </a:r>
            <a:endParaRPr lang="en-US" sz="2000" dirty="0"/>
          </a:p>
        </p:txBody>
      </p:sp>
      <p:sp>
        <p:nvSpPr>
          <p:cNvPr id="13" name="Text 11"/>
          <p:cNvSpPr txBox="1"/>
          <p:nvPr/>
        </p:nvSpPr>
        <p:spPr>
          <a:xfrm>
            <a:off x="2567864" y="4050792"/>
            <a:ext cx="2066544" cy="274320"/>
          </a:xfrm>
          <a:prstGeom prst="rect">
            <a:avLst/>
          </a:prstGeom>
          <a:noFill/>
          <a:ln/>
        </p:spPr>
        <p:txBody>
          <a:bodyPr wrap="square" lIns="0" tIns="0" rIns="0" bIns="0" rtlCol="0" anchor="ctr"/>
          <a:lstStyle/>
          <a:p>
            <a:pPr algn="ctr" indent="0" marL="0">
              <a:buNone/>
            </a:pPr>
            <a:r>
              <a:rPr lang="en-US" sz="1450" b="1" dirty="0">
                <a:solidFill>
                  <a:srgbClr val="0B2B2E"/>
                </a:solidFill>
                <a:latin typeface="Calibri" pitchFamily="34" charset="0"/>
                <a:ea typeface="Calibri" pitchFamily="34" charset="-122"/>
                <a:cs typeface="Calibri" pitchFamily="34" charset="-120"/>
              </a:rPr>
              <a:t>Define</a:t>
            </a:r>
            <a:endParaRPr lang="en-US" sz="1450" dirty="0"/>
          </a:p>
        </p:txBody>
      </p:sp>
      <p:sp>
        <p:nvSpPr>
          <p:cNvPr id="14" name="Text 12"/>
          <p:cNvSpPr txBox="1"/>
          <p:nvPr/>
        </p:nvSpPr>
        <p:spPr>
          <a:xfrm>
            <a:off x="2567864" y="4370832"/>
            <a:ext cx="2066544" cy="914400"/>
          </a:xfrm>
          <a:prstGeom prst="rect">
            <a:avLst/>
          </a:prstGeom>
          <a:noFill/>
          <a:ln/>
        </p:spPr>
        <p:txBody>
          <a:bodyPr wrap="square" lIns="0" tIns="0" rIns="0" bIns="0" rtlCol="0" anchor="ctr"/>
          <a:lstStyle/>
          <a:p>
            <a:pPr algn="ctr" indent="0" marL="0">
              <a:lnSpc>
                <a:spcPts val="1600"/>
              </a:lnSpc>
              <a:buNone/>
            </a:pPr>
            <a:r>
              <a:rPr lang="en-US" sz="1150" dirty="0">
                <a:solidFill>
                  <a:srgbClr val="56696A"/>
                </a:solidFill>
                <a:latin typeface="Calibri" pitchFamily="34" charset="0"/>
                <a:ea typeface="Calibri" pitchFamily="34" charset="-122"/>
                <a:cs typeface="Calibri" pitchFamily="34" charset="-120"/>
              </a:rPr>
              <a:t>One problem</a:t>
            </a:r>
            <a:endParaRPr lang="en-US" sz="1150" dirty="0"/>
          </a:p>
          <a:p>
            <a:pPr algn="ctr" indent="0" marL="0">
              <a:lnSpc>
                <a:spcPts val="1600"/>
              </a:lnSpc>
              <a:buNone/>
            </a:pPr>
            <a:r>
              <a:rPr lang="en-US" sz="1150" dirty="0">
                <a:solidFill>
                  <a:srgbClr val="56696A"/>
                </a:solidFill>
                <a:latin typeface="Calibri" pitchFamily="34" charset="0"/>
                <a:ea typeface="Calibri" pitchFamily="34" charset="-122"/>
                <a:cs typeface="Calibri" pitchFamily="34" charset="-120"/>
              </a:rPr>
              <a:t>statement the</a:t>
            </a:r>
            <a:endParaRPr lang="en-US" sz="1150" dirty="0"/>
          </a:p>
          <a:p>
            <a:pPr algn="ctr" indent="0" marL="0">
              <a:lnSpc>
                <a:spcPts val="1600"/>
              </a:lnSpc>
              <a:buNone/>
            </a:pPr>
            <a:r>
              <a:rPr lang="en-US" sz="1150" dirty="0">
                <a:solidFill>
                  <a:srgbClr val="56696A"/>
                </a:solidFill>
                <a:latin typeface="Calibri" pitchFamily="34" charset="0"/>
                <a:ea typeface="Calibri" pitchFamily="34" charset="-122"/>
                <a:cs typeface="Calibri" pitchFamily="34" charset="-120"/>
              </a:rPr>
              <a:t>team agreed on</a:t>
            </a:r>
            <a:endParaRPr lang="en-US" sz="1150" dirty="0"/>
          </a:p>
        </p:txBody>
      </p:sp>
      <p:sp>
        <p:nvSpPr>
          <p:cNvPr id="15" name="Shape 13"/>
          <p:cNvSpPr/>
          <p:nvPr/>
        </p:nvSpPr>
        <p:spPr>
          <a:xfrm>
            <a:off x="5629504" y="2935224"/>
            <a:ext cx="932688" cy="932688"/>
          </a:xfrm>
          <a:prstGeom prst="ellipse">
            <a:avLst/>
          </a:prstGeom>
          <a:solidFill>
            <a:srgbClr val="FFFFFF"/>
          </a:solidFill>
          <a:ln w="25400">
            <a:solidFill>
              <a:srgbClr val="DFEAE8"/>
            </a:solidFill>
            <a:prstDash val="solid"/>
          </a:ln>
          <a:effectLst>
            <a:outerShdw sx="100000" sy="100000" kx="0" ky="0" algn="bl" rotWithShape="0" blurRad="101600" dist="25400" dir="5400000">
              <a:srgbClr val="0B2B2E">
                <a:alpha val="7000"/>
              </a:srgbClr>
            </a:outerShdw>
          </a:effectLst>
        </p:spPr>
      </p:sp>
      <p:sp>
        <p:nvSpPr>
          <p:cNvPr id="16" name="Text 14"/>
          <p:cNvSpPr txBox="1"/>
          <p:nvPr/>
        </p:nvSpPr>
        <p:spPr>
          <a:xfrm>
            <a:off x="5629504" y="2935224"/>
            <a:ext cx="932688" cy="932688"/>
          </a:xfrm>
          <a:prstGeom prst="rect">
            <a:avLst/>
          </a:prstGeom>
          <a:noFill/>
          <a:ln/>
        </p:spPr>
        <p:txBody>
          <a:bodyPr wrap="square" lIns="0" tIns="0" rIns="0" bIns="0" rtlCol="0" anchor="ctr"/>
          <a:lstStyle/>
          <a:p>
            <a:pPr algn="ctr" indent="0" marL="0">
              <a:buNone/>
            </a:pPr>
            <a:r>
              <a:rPr lang="en-US" sz="2000" b="1" dirty="0">
                <a:solidFill>
                  <a:srgbClr val="0E6E6B"/>
                </a:solidFill>
                <a:latin typeface="Cambria" pitchFamily="34" charset="0"/>
                <a:ea typeface="Cambria" pitchFamily="34" charset="-122"/>
                <a:cs typeface="Cambria" pitchFamily="34" charset="-120"/>
              </a:rPr>
              <a:t>03</a:t>
            </a:r>
            <a:endParaRPr lang="en-US" sz="2000" dirty="0"/>
          </a:p>
        </p:txBody>
      </p:sp>
      <p:sp>
        <p:nvSpPr>
          <p:cNvPr id="17" name="Text 15"/>
          <p:cNvSpPr txBox="1"/>
          <p:nvPr/>
        </p:nvSpPr>
        <p:spPr>
          <a:xfrm>
            <a:off x="5062576" y="4050792"/>
            <a:ext cx="2066544" cy="274320"/>
          </a:xfrm>
          <a:prstGeom prst="rect">
            <a:avLst/>
          </a:prstGeom>
          <a:noFill/>
          <a:ln/>
        </p:spPr>
        <p:txBody>
          <a:bodyPr wrap="square" lIns="0" tIns="0" rIns="0" bIns="0" rtlCol="0" anchor="ctr"/>
          <a:lstStyle/>
          <a:p>
            <a:pPr algn="ctr" indent="0" marL="0">
              <a:buNone/>
            </a:pPr>
            <a:r>
              <a:rPr lang="en-US" sz="1450" b="1" dirty="0">
                <a:solidFill>
                  <a:srgbClr val="0B2B2E"/>
                </a:solidFill>
                <a:latin typeface="Calibri" pitchFamily="34" charset="0"/>
                <a:ea typeface="Calibri" pitchFamily="34" charset="-122"/>
                <a:cs typeface="Calibri" pitchFamily="34" charset="-120"/>
              </a:rPr>
              <a:t>Ideate</a:t>
            </a:r>
            <a:endParaRPr lang="en-US" sz="1450" dirty="0"/>
          </a:p>
        </p:txBody>
      </p:sp>
      <p:sp>
        <p:nvSpPr>
          <p:cNvPr id="18" name="Text 16"/>
          <p:cNvSpPr txBox="1"/>
          <p:nvPr/>
        </p:nvSpPr>
        <p:spPr>
          <a:xfrm>
            <a:off x="5062576" y="4370832"/>
            <a:ext cx="2066544" cy="914400"/>
          </a:xfrm>
          <a:prstGeom prst="rect">
            <a:avLst/>
          </a:prstGeom>
          <a:noFill/>
          <a:ln/>
        </p:spPr>
        <p:txBody>
          <a:bodyPr wrap="square" lIns="0" tIns="0" rIns="0" bIns="0" rtlCol="0" anchor="ctr"/>
          <a:lstStyle/>
          <a:p>
            <a:pPr algn="ctr" indent="0" marL="0">
              <a:lnSpc>
                <a:spcPts val="1600"/>
              </a:lnSpc>
              <a:buNone/>
            </a:pPr>
            <a:r>
              <a:rPr lang="en-US" sz="1150" dirty="0">
                <a:solidFill>
                  <a:srgbClr val="56696A"/>
                </a:solidFill>
                <a:latin typeface="Calibri" pitchFamily="34" charset="0"/>
                <a:ea typeface="Calibri" pitchFamily="34" charset="-122"/>
                <a:cs typeface="Calibri" pitchFamily="34" charset="-120"/>
              </a:rPr>
              <a:t>Four options,</a:t>
            </a:r>
            <a:endParaRPr lang="en-US" sz="1150" dirty="0"/>
          </a:p>
          <a:p>
            <a:pPr algn="ctr" indent="0" marL="0">
              <a:lnSpc>
                <a:spcPts val="1600"/>
              </a:lnSpc>
              <a:buNone/>
            </a:pPr>
            <a:r>
              <a:rPr lang="en-US" sz="1150" dirty="0">
                <a:solidFill>
                  <a:srgbClr val="56696A"/>
                </a:solidFill>
                <a:latin typeface="Calibri" pitchFamily="34" charset="0"/>
                <a:ea typeface="Calibri" pitchFamily="34" charset="-122"/>
                <a:cs typeface="Calibri" pitchFamily="34" charset="-120"/>
              </a:rPr>
              <a:t>three of them</a:t>
            </a:r>
            <a:endParaRPr lang="en-US" sz="1150" dirty="0"/>
          </a:p>
          <a:p>
            <a:pPr algn="ctr" indent="0" marL="0">
              <a:lnSpc>
                <a:spcPts val="1600"/>
              </a:lnSpc>
              <a:buNone/>
            </a:pPr>
            <a:r>
              <a:rPr lang="en-US" sz="1150" dirty="0">
                <a:solidFill>
                  <a:srgbClr val="56696A"/>
                </a:solidFill>
                <a:latin typeface="Calibri" pitchFamily="34" charset="0"/>
                <a:ea typeface="Calibri" pitchFamily="34" charset="-122"/>
                <a:cs typeface="Calibri" pitchFamily="34" charset="-120"/>
              </a:rPr>
              <a:t>rejected</a:t>
            </a:r>
            <a:endParaRPr lang="en-US" sz="1150" dirty="0"/>
          </a:p>
        </p:txBody>
      </p:sp>
      <p:sp>
        <p:nvSpPr>
          <p:cNvPr id="19" name="Shape 17"/>
          <p:cNvSpPr/>
          <p:nvPr/>
        </p:nvSpPr>
        <p:spPr>
          <a:xfrm>
            <a:off x="8124215" y="2935224"/>
            <a:ext cx="932688" cy="932688"/>
          </a:xfrm>
          <a:prstGeom prst="ellipse">
            <a:avLst/>
          </a:prstGeom>
          <a:solidFill>
            <a:srgbClr val="FFFFFF"/>
          </a:solidFill>
          <a:ln w="25400">
            <a:solidFill>
              <a:srgbClr val="DFEAE8"/>
            </a:solidFill>
            <a:prstDash val="solid"/>
          </a:ln>
          <a:effectLst>
            <a:outerShdw sx="100000" sy="100000" kx="0" ky="0" algn="bl" rotWithShape="0" blurRad="101600" dist="25400" dir="5400000">
              <a:srgbClr val="0B2B2E">
                <a:alpha val="7000"/>
              </a:srgbClr>
            </a:outerShdw>
          </a:effectLst>
        </p:spPr>
      </p:sp>
      <p:sp>
        <p:nvSpPr>
          <p:cNvPr id="20" name="Text 18"/>
          <p:cNvSpPr txBox="1"/>
          <p:nvPr/>
        </p:nvSpPr>
        <p:spPr>
          <a:xfrm>
            <a:off x="8124215" y="2935224"/>
            <a:ext cx="932688" cy="932688"/>
          </a:xfrm>
          <a:prstGeom prst="rect">
            <a:avLst/>
          </a:prstGeom>
          <a:noFill/>
          <a:ln/>
        </p:spPr>
        <p:txBody>
          <a:bodyPr wrap="square" lIns="0" tIns="0" rIns="0" bIns="0" rtlCol="0" anchor="ctr"/>
          <a:lstStyle/>
          <a:p>
            <a:pPr algn="ctr" indent="0" marL="0">
              <a:buNone/>
            </a:pPr>
            <a:r>
              <a:rPr lang="en-US" sz="2000" b="1" dirty="0">
                <a:solidFill>
                  <a:srgbClr val="0E6E6B"/>
                </a:solidFill>
                <a:latin typeface="Cambria" pitchFamily="34" charset="0"/>
                <a:ea typeface="Cambria" pitchFamily="34" charset="-122"/>
                <a:cs typeface="Cambria" pitchFamily="34" charset="-120"/>
              </a:rPr>
              <a:t>04</a:t>
            </a:r>
            <a:endParaRPr lang="en-US" sz="2000" dirty="0"/>
          </a:p>
        </p:txBody>
      </p:sp>
      <p:sp>
        <p:nvSpPr>
          <p:cNvPr id="21" name="Text 19"/>
          <p:cNvSpPr txBox="1"/>
          <p:nvPr/>
        </p:nvSpPr>
        <p:spPr>
          <a:xfrm>
            <a:off x="7557287" y="4050792"/>
            <a:ext cx="2066544" cy="274320"/>
          </a:xfrm>
          <a:prstGeom prst="rect">
            <a:avLst/>
          </a:prstGeom>
          <a:noFill/>
          <a:ln/>
        </p:spPr>
        <p:txBody>
          <a:bodyPr wrap="square" lIns="0" tIns="0" rIns="0" bIns="0" rtlCol="0" anchor="ctr"/>
          <a:lstStyle/>
          <a:p>
            <a:pPr algn="ctr" indent="0" marL="0">
              <a:buNone/>
            </a:pPr>
            <a:r>
              <a:rPr lang="en-US" sz="1450" b="1" dirty="0">
                <a:solidFill>
                  <a:srgbClr val="0B2B2E"/>
                </a:solidFill>
                <a:latin typeface="Calibri" pitchFamily="34" charset="0"/>
                <a:ea typeface="Calibri" pitchFamily="34" charset="-122"/>
                <a:cs typeface="Calibri" pitchFamily="34" charset="-120"/>
              </a:rPr>
              <a:t>Prototype</a:t>
            </a:r>
            <a:endParaRPr lang="en-US" sz="1450" dirty="0"/>
          </a:p>
        </p:txBody>
      </p:sp>
      <p:sp>
        <p:nvSpPr>
          <p:cNvPr id="22" name="Text 20"/>
          <p:cNvSpPr txBox="1"/>
          <p:nvPr/>
        </p:nvSpPr>
        <p:spPr>
          <a:xfrm>
            <a:off x="7557287" y="4370832"/>
            <a:ext cx="2066544" cy="914400"/>
          </a:xfrm>
          <a:prstGeom prst="rect">
            <a:avLst/>
          </a:prstGeom>
          <a:noFill/>
          <a:ln/>
        </p:spPr>
        <p:txBody>
          <a:bodyPr wrap="square" lIns="0" tIns="0" rIns="0" bIns="0" rtlCol="0" anchor="ctr"/>
          <a:lstStyle/>
          <a:p>
            <a:pPr algn="ctr" indent="0" marL="0">
              <a:lnSpc>
                <a:spcPts val="1600"/>
              </a:lnSpc>
              <a:buNone/>
            </a:pPr>
            <a:r>
              <a:rPr lang="en-US" sz="1150" dirty="0">
                <a:solidFill>
                  <a:srgbClr val="56696A"/>
                </a:solidFill>
                <a:latin typeface="Calibri" pitchFamily="34" charset="0"/>
                <a:ea typeface="Calibri" pitchFamily="34" charset="-122"/>
                <a:cs typeface="Calibri" pitchFamily="34" charset="-120"/>
              </a:rPr>
              <a:t>A working app,</a:t>
            </a:r>
            <a:endParaRPr lang="en-US" sz="1150" dirty="0"/>
          </a:p>
          <a:p>
            <a:pPr algn="ctr" indent="0" marL="0">
              <a:lnSpc>
                <a:spcPts val="1600"/>
              </a:lnSpc>
              <a:buNone/>
            </a:pPr>
            <a:r>
              <a:rPr lang="en-US" sz="1150" dirty="0">
                <a:solidFill>
                  <a:srgbClr val="56696A"/>
                </a:solidFill>
                <a:latin typeface="Calibri" pitchFamily="34" charset="0"/>
                <a:ea typeface="Calibri" pitchFamily="34" charset="-122"/>
                <a:cs typeface="Calibri" pitchFamily="34" charset="-120"/>
              </a:rPr>
              <a:t>not a mockup</a:t>
            </a:r>
            <a:endParaRPr lang="en-US" sz="1150" dirty="0"/>
          </a:p>
        </p:txBody>
      </p:sp>
      <p:sp>
        <p:nvSpPr>
          <p:cNvPr id="23" name="Shape 21"/>
          <p:cNvSpPr/>
          <p:nvPr/>
        </p:nvSpPr>
        <p:spPr>
          <a:xfrm>
            <a:off x="10618927" y="2935224"/>
            <a:ext cx="932688" cy="932688"/>
          </a:xfrm>
          <a:prstGeom prst="ellipse">
            <a:avLst/>
          </a:prstGeom>
          <a:solidFill>
            <a:srgbClr val="FFFFFF"/>
          </a:solidFill>
          <a:ln w="25400">
            <a:solidFill>
              <a:srgbClr val="DFEAE8"/>
            </a:solidFill>
            <a:prstDash val="solid"/>
          </a:ln>
          <a:effectLst>
            <a:outerShdw sx="100000" sy="100000" kx="0" ky="0" algn="bl" rotWithShape="0" blurRad="101600" dist="25400" dir="5400000">
              <a:srgbClr val="0B2B2E">
                <a:alpha val="7000"/>
              </a:srgbClr>
            </a:outerShdw>
          </a:effectLst>
        </p:spPr>
      </p:sp>
      <p:sp>
        <p:nvSpPr>
          <p:cNvPr id="24" name="Text 22"/>
          <p:cNvSpPr txBox="1"/>
          <p:nvPr/>
        </p:nvSpPr>
        <p:spPr>
          <a:xfrm>
            <a:off x="10618927" y="2935224"/>
            <a:ext cx="932688" cy="932688"/>
          </a:xfrm>
          <a:prstGeom prst="rect">
            <a:avLst/>
          </a:prstGeom>
          <a:noFill/>
          <a:ln/>
        </p:spPr>
        <p:txBody>
          <a:bodyPr wrap="square" lIns="0" tIns="0" rIns="0" bIns="0" rtlCol="0" anchor="ctr"/>
          <a:lstStyle/>
          <a:p>
            <a:pPr algn="ctr" indent="0" marL="0">
              <a:buNone/>
            </a:pPr>
            <a:r>
              <a:rPr lang="en-US" sz="2000" b="1" dirty="0">
                <a:solidFill>
                  <a:srgbClr val="0E6E6B"/>
                </a:solidFill>
                <a:latin typeface="Cambria" pitchFamily="34" charset="0"/>
                <a:ea typeface="Cambria" pitchFamily="34" charset="-122"/>
                <a:cs typeface="Cambria" pitchFamily="34" charset="-120"/>
              </a:rPr>
              <a:t>05</a:t>
            </a:r>
            <a:endParaRPr lang="en-US" sz="2000" dirty="0"/>
          </a:p>
        </p:txBody>
      </p:sp>
      <p:sp>
        <p:nvSpPr>
          <p:cNvPr id="25" name="Text 23"/>
          <p:cNvSpPr txBox="1"/>
          <p:nvPr/>
        </p:nvSpPr>
        <p:spPr>
          <a:xfrm>
            <a:off x="10051999" y="4050792"/>
            <a:ext cx="2066544" cy="274320"/>
          </a:xfrm>
          <a:prstGeom prst="rect">
            <a:avLst/>
          </a:prstGeom>
          <a:noFill/>
          <a:ln/>
        </p:spPr>
        <p:txBody>
          <a:bodyPr wrap="square" lIns="0" tIns="0" rIns="0" bIns="0" rtlCol="0" anchor="ctr"/>
          <a:lstStyle/>
          <a:p>
            <a:pPr algn="ctr" indent="0" marL="0">
              <a:buNone/>
            </a:pPr>
            <a:r>
              <a:rPr lang="en-US" sz="1450" b="1" dirty="0">
                <a:solidFill>
                  <a:srgbClr val="0B2B2E"/>
                </a:solidFill>
                <a:latin typeface="Calibri" pitchFamily="34" charset="0"/>
                <a:ea typeface="Calibri" pitchFamily="34" charset="-122"/>
                <a:cs typeface="Calibri" pitchFamily="34" charset="-120"/>
              </a:rPr>
              <a:t>Test</a:t>
            </a:r>
            <a:endParaRPr lang="en-US" sz="1450" dirty="0"/>
          </a:p>
        </p:txBody>
      </p:sp>
      <p:sp>
        <p:nvSpPr>
          <p:cNvPr id="26" name="Text 24"/>
          <p:cNvSpPr txBox="1"/>
          <p:nvPr/>
        </p:nvSpPr>
        <p:spPr>
          <a:xfrm>
            <a:off x="10051999" y="4370832"/>
            <a:ext cx="2066544" cy="914400"/>
          </a:xfrm>
          <a:prstGeom prst="rect">
            <a:avLst/>
          </a:prstGeom>
          <a:noFill/>
          <a:ln/>
        </p:spPr>
        <p:txBody>
          <a:bodyPr wrap="square" lIns="0" tIns="0" rIns="0" bIns="0" rtlCol="0" anchor="ctr"/>
          <a:lstStyle/>
          <a:p>
            <a:pPr algn="ctr" indent="0" marL="0">
              <a:lnSpc>
                <a:spcPts val="1600"/>
              </a:lnSpc>
              <a:buNone/>
            </a:pPr>
            <a:r>
              <a:rPr lang="en-US" sz="1150" dirty="0">
                <a:solidFill>
                  <a:srgbClr val="56696A"/>
                </a:solidFill>
                <a:latin typeface="Calibri" pitchFamily="34" charset="0"/>
                <a:ea typeface="Calibri" pitchFamily="34" charset="-122"/>
                <a:cs typeface="Calibri" pitchFamily="34" charset="-120"/>
              </a:rPr>
              <a:t>Falsifiable gates</a:t>
            </a:r>
            <a:endParaRPr lang="en-US" sz="1150" dirty="0"/>
          </a:p>
          <a:p>
            <a:pPr algn="ctr" indent="0" marL="0">
              <a:lnSpc>
                <a:spcPts val="1600"/>
              </a:lnSpc>
              <a:buNone/>
            </a:pPr>
            <a:r>
              <a:rPr lang="en-US" sz="1150" dirty="0">
                <a:solidFill>
                  <a:srgbClr val="56696A"/>
                </a:solidFill>
                <a:latin typeface="Calibri" pitchFamily="34" charset="0"/>
                <a:ea typeface="Calibri" pitchFamily="34" charset="-122"/>
                <a:cs typeface="Calibri" pitchFamily="34" charset="-120"/>
              </a:rPr>
              <a:t>with numbers</a:t>
            </a:r>
            <a:endParaRPr lang="en-US" sz="1150" dirty="0"/>
          </a:p>
          <a:p>
            <a:pPr algn="ctr" indent="0" marL="0">
              <a:lnSpc>
                <a:spcPts val="1600"/>
              </a:lnSpc>
              <a:buNone/>
            </a:pPr>
            <a:r>
              <a:rPr lang="en-US" sz="1150" dirty="0">
                <a:solidFill>
                  <a:srgbClr val="56696A"/>
                </a:solidFill>
                <a:latin typeface="Calibri" pitchFamily="34" charset="0"/>
                <a:ea typeface="Calibri" pitchFamily="34" charset="-122"/>
                <a:cs typeface="Calibri" pitchFamily="34" charset="-120"/>
              </a:rPr>
              <a:t>set in advance</a:t>
            </a:r>
            <a:endParaRPr lang="en-US" sz="1150" dirty="0"/>
          </a:p>
        </p:txBody>
      </p:sp>
      <p:sp>
        <p:nvSpPr>
          <p:cNvPr id="27" name="Text 25"/>
          <p:cNvSpPr txBox="1"/>
          <p:nvPr/>
        </p:nvSpPr>
        <p:spPr>
          <a:xfrm>
            <a:off x="640080" y="6291072"/>
            <a:ext cx="10911535" cy="292608"/>
          </a:xfrm>
          <a:prstGeom prst="rect">
            <a:avLst/>
          </a:prstGeom>
          <a:noFill/>
          <a:ln/>
        </p:spPr>
        <p:txBody>
          <a:bodyPr wrap="square" lIns="0" tIns="0" rIns="0" bIns="0" rtlCol="0" anchor="ctr"/>
          <a:lstStyle/>
          <a:p>
            <a:pPr indent="0" marL="0">
              <a:buNone/>
            </a:pPr>
            <a:r>
              <a:rPr lang="en-US" sz="950" dirty="0">
                <a:solidFill>
                  <a:srgbClr val="8B9C9D"/>
                </a:solidFill>
                <a:latin typeface="Calibri" pitchFamily="34" charset="0"/>
                <a:ea typeface="Calibri" pitchFamily="34" charset="-122"/>
                <a:cs typeface="Calibri" pitchFamily="34" charset="-120"/>
              </a:rPr>
              <a:t>Stanford d.school five-stage model, applied to a single field problem rather than a hypothetical brief.</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Text 1"/>
          <p:cNvSpPr txBox="1"/>
          <p:nvPr/>
        </p:nvSpPr>
        <p:spPr>
          <a:xfrm>
            <a:off x="640080" y="475488"/>
            <a:ext cx="7315200" cy="256032"/>
          </a:xfrm>
          <a:prstGeom prst="rect">
            <a:avLst/>
          </a:prstGeom>
          <a:noFill/>
          <a:ln/>
        </p:spPr>
        <p:txBody>
          <a:bodyPr wrap="square" lIns="0" tIns="0" rIns="0" bIns="0" rtlCol="0" anchor="ctr"/>
          <a:lstStyle/>
          <a:p>
            <a:pPr indent="0" marL="0">
              <a:buNone/>
            </a:pPr>
            <a:r>
              <a:rPr lang="en-US" sz="1100" b="1" spc="240" kern="0" dirty="0">
                <a:solidFill>
                  <a:srgbClr val="0E6E6B"/>
                </a:solidFill>
                <a:latin typeface="Calibri" pitchFamily="34" charset="0"/>
                <a:ea typeface="Calibri" pitchFamily="34" charset="-122"/>
                <a:cs typeface="Calibri" pitchFamily="34" charset="-120"/>
              </a:rPr>
              <a:t>EMPATHIZE</a:t>
            </a:r>
            <a:endParaRPr lang="en-US" sz="1100" dirty="0"/>
          </a:p>
        </p:txBody>
      </p:sp>
      <p:sp>
        <p:nvSpPr>
          <p:cNvPr id="4" name="Text 2"/>
          <p:cNvSpPr txBox="1"/>
          <p:nvPr/>
        </p:nvSpPr>
        <p:spPr>
          <a:xfrm>
            <a:off x="640080" y="822960"/>
            <a:ext cx="9509760" cy="777240"/>
          </a:xfrm>
          <a:prstGeom prst="rect">
            <a:avLst/>
          </a:prstGeom>
          <a:noFill/>
          <a:ln/>
        </p:spPr>
        <p:txBody>
          <a:bodyPr wrap="square" lIns="0" tIns="0" rIns="0" bIns="0" rtlCol="0" anchor="ctr"/>
          <a:lstStyle/>
          <a:p>
            <a:pPr indent="0" marL="0">
              <a:buNone/>
            </a:pPr>
            <a:r>
              <a:rPr lang="en-US" sz="3400" b="1" dirty="0">
                <a:solidFill>
                  <a:srgbClr val="0B2B2E"/>
                </a:solidFill>
                <a:latin typeface="Cambria" pitchFamily="34" charset="0"/>
                <a:ea typeface="Cambria" pitchFamily="34" charset="-122"/>
                <a:cs typeface="Cambria" pitchFamily="34" charset="-120"/>
              </a:rPr>
              <a:t>How we set out to listen</a:t>
            </a:r>
            <a:endParaRPr lang="en-US" sz="3400" dirty="0"/>
          </a:p>
        </p:txBody>
      </p:sp>
      <p:sp>
        <p:nvSpPr>
          <p:cNvPr id="5" name="Text 3"/>
          <p:cNvSpPr txBox="1"/>
          <p:nvPr/>
        </p:nvSpPr>
        <p:spPr>
          <a:xfrm>
            <a:off x="7423099" y="493776"/>
            <a:ext cx="2788920" cy="256032"/>
          </a:xfrm>
          <a:prstGeom prst="rect">
            <a:avLst/>
          </a:prstGeom>
          <a:noFill/>
          <a:ln/>
        </p:spPr>
        <p:txBody>
          <a:bodyPr wrap="square" lIns="0" tIns="0" rIns="0" bIns="0" rtlCol="0" anchor="ctr"/>
          <a:lstStyle/>
          <a:p>
            <a:pPr algn="r" indent="0" marL="0">
              <a:buNone/>
            </a:pPr>
            <a:r>
              <a:rPr lang="en-US" sz="1000" b="1" spc="180" kern="0" dirty="0">
                <a:solidFill>
                  <a:srgbClr val="8B9C9D"/>
                </a:solidFill>
                <a:latin typeface="Calibri" pitchFamily="34" charset="0"/>
                <a:ea typeface="Calibri" pitchFamily="34" charset="-122"/>
                <a:cs typeface="Calibri" pitchFamily="34" charset="-120"/>
              </a:rPr>
              <a:t>EMPATHIZE</a:t>
            </a:r>
            <a:endParaRPr lang="en-US" sz="1000" dirty="0"/>
          </a:p>
        </p:txBody>
      </p:sp>
      <p:sp>
        <p:nvSpPr>
          <p:cNvPr id="6" name="Shape 4"/>
          <p:cNvSpPr/>
          <p:nvPr/>
        </p:nvSpPr>
        <p:spPr>
          <a:xfrm>
            <a:off x="10349179" y="548640"/>
            <a:ext cx="141732" cy="141732"/>
          </a:xfrm>
          <a:prstGeom prst="ellipse">
            <a:avLst/>
          </a:prstGeom>
          <a:solidFill>
            <a:srgbClr val="C9821F"/>
          </a:solidFill>
          <a:ln/>
        </p:spPr>
      </p:sp>
      <p:sp>
        <p:nvSpPr>
          <p:cNvPr id="7" name="Shape 5"/>
          <p:cNvSpPr/>
          <p:nvPr/>
        </p:nvSpPr>
        <p:spPr>
          <a:xfrm>
            <a:off x="10614355" y="548640"/>
            <a:ext cx="141732" cy="141732"/>
          </a:xfrm>
          <a:prstGeom prst="ellipse">
            <a:avLst/>
          </a:prstGeom>
          <a:solidFill>
            <a:srgbClr val="DFEAE8"/>
          </a:solidFill>
          <a:ln/>
        </p:spPr>
      </p:sp>
      <p:sp>
        <p:nvSpPr>
          <p:cNvPr id="8" name="Shape 6"/>
          <p:cNvSpPr/>
          <p:nvPr/>
        </p:nvSpPr>
        <p:spPr>
          <a:xfrm>
            <a:off x="10879531" y="548640"/>
            <a:ext cx="141732" cy="141732"/>
          </a:xfrm>
          <a:prstGeom prst="ellipse">
            <a:avLst/>
          </a:prstGeom>
          <a:solidFill>
            <a:srgbClr val="DFEAE8"/>
          </a:solidFill>
          <a:ln/>
        </p:spPr>
      </p:sp>
      <p:sp>
        <p:nvSpPr>
          <p:cNvPr id="9" name="Shape 7"/>
          <p:cNvSpPr/>
          <p:nvPr/>
        </p:nvSpPr>
        <p:spPr>
          <a:xfrm>
            <a:off x="11144707" y="548640"/>
            <a:ext cx="141732" cy="141732"/>
          </a:xfrm>
          <a:prstGeom prst="ellipse">
            <a:avLst/>
          </a:prstGeom>
          <a:solidFill>
            <a:srgbClr val="DFEAE8"/>
          </a:solidFill>
          <a:ln/>
        </p:spPr>
      </p:sp>
      <p:sp>
        <p:nvSpPr>
          <p:cNvPr id="10" name="Shape 8"/>
          <p:cNvSpPr/>
          <p:nvPr/>
        </p:nvSpPr>
        <p:spPr>
          <a:xfrm>
            <a:off x="11409883" y="548640"/>
            <a:ext cx="141732" cy="141732"/>
          </a:xfrm>
          <a:prstGeom prst="ellipse">
            <a:avLst/>
          </a:prstGeom>
          <a:solidFill>
            <a:srgbClr val="DFEAE8"/>
          </a:solidFill>
          <a:ln/>
        </p:spPr>
      </p:sp>
      <p:sp>
        <p:nvSpPr>
          <p:cNvPr id="11" name="Shape 9"/>
          <p:cNvSpPr/>
          <p:nvPr/>
        </p:nvSpPr>
        <p:spPr>
          <a:xfrm>
            <a:off x="640080" y="2084832"/>
            <a:ext cx="3515258" cy="2852928"/>
          </a:xfrm>
          <a:prstGeom prst="roundRect">
            <a:avLst>
              <a:gd name="adj" fmla="val 2244"/>
            </a:avLst>
          </a:prstGeom>
          <a:solidFill>
            <a:srgbClr val="FFFFFF"/>
          </a:solidFill>
          <a:ln w="12700">
            <a:solidFill>
              <a:srgbClr val="DFEAE8"/>
            </a:solidFill>
            <a:prstDash val="solid"/>
          </a:ln>
          <a:effectLst>
            <a:outerShdw sx="100000" sy="100000" kx="0" ky="0" algn="bl" rotWithShape="0" blurRad="152400" dist="25400" dir="5400000">
              <a:srgbClr val="0B2B2E">
                <a:alpha val="9000"/>
              </a:srgbClr>
            </a:outerShdw>
          </a:effectLst>
        </p:spPr>
      </p:sp>
      <p:sp>
        <p:nvSpPr>
          <p:cNvPr id="12" name="Shape 10"/>
          <p:cNvSpPr/>
          <p:nvPr/>
        </p:nvSpPr>
        <p:spPr>
          <a:xfrm>
            <a:off x="1024128" y="2423160"/>
            <a:ext cx="658368" cy="658368"/>
          </a:xfrm>
          <a:prstGeom prst="ellipse">
            <a:avLst/>
          </a:prstGeom>
          <a:solidFill>
            <a:srgbClr val="0E6E6B"/>
          </a:solidFill>
          <a:ln/>
        </p:spPr>
      </p:sp>
      <p:pic>
        <p:nvPicPr>
          <p:cNvPr id="13" name="Image 0" descr="preencoded.png">    </p:cNvPr>
          <p:cNvPicPr>
            <a:picLocks noChangeAspect="1"/>
          </p:cNvPicPr>
          <p:nvPr/>
        </p:nvPicPr>
        <p:blipFill>
          <a:blip r:embed="rId1"/>
          <a:stretch>
            <a:fillRect/>
          </a:stretch>
        </p:blipFill>
        <p:spPr>
          <a:xfrm>
            <a:off x="1188720" y="2587752"/>
            <a:ext cx="329184" cy="329184"/>
          </a:xfrm>
          <a:prstGeom prst="rect">
            <a:avLst/>
          </a:prstGeom>
        </p:spPr>
      </p:pic>
      <p:sp>
        <p:nvSpPr>
          <p:cNvPr id="14" name="Text 11"/>
          <p:cNvSpPr txBox="1"/>
          <p:nvPr/>
        </p:nvSpPr>
        <p:spPr>
          <a:xfrm>
            <a:off x="1024128" y="3246120"/>
            <a:ext cx="2747162" cy="320040"/>
          </a:xfrm>
          <a:prstGeom prst="rect">
            <a:avLst/>
          </a:prstGeom>
          <a:noFill/>
          <a:ln/>
        </p:spPr>
        <p:txBody>
          <a:bodyPr wrap="square" lIns="0" tIns="0" rIns="0" bIns="0" rtlCol="0" anchor="ctr"/>
          <a:lstStyle/>
          <a:p>
            <a:pPr indent="0" marL="0">
              <a:buNone/>
            </a:pPr>
            <a:r>
              <a:rPr lang="en-US" sz="1650" b="1" dirty="0">
                <a:solidFill>
                  <a:srgbClr val="0B2B2E"/>
                </a:solidFill>
                <a:latin typeface="Calibri" pitchFamily="34" charset="0"/>
                <a:ea typeface="Calibri" pitchFamily="34" charset="-122"/>
                <a:cs typeface="Calibri" pitchFamily="34" charset="-120"/>
              </a:rPr>
              <a:t>Discovery interviews</a:t>
            </a:r>
            <a:endParaRPr lang="en-US" sz="1650" dirty="0"/>
          </a:p>
        </p:txBody>
      </p:sp>
      <p:sp>
        <p:nvSpPr>
          <p:cNvPr id="15" name="Text 12"/>
          <p:cNvSpPr txBox="1"/>
          <p:nvPr/>
        </p:nvSpPr>
        <p:spPr>
          <a:xfrm>
            <a:off x="1024128" y="3611880"/>
            <a:ext cx="2747162" cy="1051560"/>
          </a:xfrm>
          <a:prstGeom prst="rect">
            <a:avLst/>
          </a:prstGeom>
          <a:noFill/>
          <a:ln/>
        </p:spPr>
        <p:txBody>
          <a:bodyPr wrap="square" lIns="0" tIns="0" rIns="0" bIns="0" rtlCol="0" anchor="ctr"/>
          <a:lstStyle/>
          <a:p>
            <a:pPr indent="0" marL="0">
              <a:lnSpc>
                <a:spcPts val="1800"/>
              </a:lnSpc>
              <a:buNone/>
            </a:pPr>
            <a:r>
              <a:rPr lang="en-US" sz="1250" dirty="0">
                <a:solidFill>
                  <a:srgbClr val="56696A"/>
                </a:solidFill>
                <a:latin typeface="Calibri" pitchFamily="34" charset="0"/>
                <a:ea typeface="Calibri" pitchFamily="34" charset="-122"/>
                <a:cs typeface="Calibri" pitchFamily="34" charset="-120"/>
              </a:rPr>
              <a:t>Twenty conversations with practising doctors, using a script that never mentions software — only what their day actually contains.</a:t>
            </a:r>
            <a:endParaRPr lang="en-US" sz="1250" dirty="0"/>
          </a:p>
        </p:txBody>
      </p:sp>
      <p:sp>
        <p:nvSpPr>
          <p:cNvPr id="16" name="Text 13"/>
          <p:cNvSpPr txBox="1"/>
          <p:nvPr/>
        </p:nvSpPr>
        <p:spPr>
          <a:xfrm>
            <a:off x="1024128" y="4590288"/>
            <a:ext cx="2747162" cy="256032"/>
          </a:xfrm>
          <a:prstGeom prst="rect">
            <a:avLst/>
          </a:prstGeom>
          <a:noFill/>
          <a:ln/>
        </p:spPr>
        <p:txBody>
          <a:bodyPr wrap="square" lIns="0" tIns="0" rIns="0" bIns="0" rtlCol="0" anchor="ctr"/>
          <a:lstStyle/>
          <a:p>
            <a:pPr indent="0" marL="0">
              <a:buNone/>
            </a:pPr>
            <a:r>
              <a:rPr lang="en-US" sz="1100" b="1" dirty="0">
                <a:solidFill>
                  <a:srgbClr val="C9821F"/>
                </a:solidFill>
                <a:latin typeface="Calibri" pitchFamily="34" charset="0"/>
                <a:ea typeface="Calibri" pitchFamily="34" charset="-122"/>
                <a:cs typeface="Calibri" pitchFamily="34" charset="-120"/>
              </a:rPr>
              <a:t>20 doctors · 30 minutes each</a:t>
            </a:r>
            <a:endParaRPr lang="en-US" sz="1100" dirty="0"/>
          </a:p>
        </p:txBody>
      </p:sp>
      <p:sp>
        <p:nvSpPr>
          <p:cNvPr id="17" name="Shape 14"/>
          <p:cNvSpPr/>
          <p:nvPr/>
        </p:nvSpPr>
        <p:spPr>
          <a:xfrm>
            <a:off x="4338218" y="2084832"/>
            <a:ext cx="3515258" cy="2852928"/>
          </a:xfrm>
          <a:prstGeom prst="roundRect">
            <a:avLst>
              <a:gd name="adj" fmla="val 2244"/>
            </a:avLst>
          </a:prstGeom>
          <a:solidFill>
            <a:srgbClr val="FFFFFF"/>
          </a:solidFill>
          <a:ln w="12700">
            <a:solidFill>
              <a:srgbClr val="DFEAE8"/>
            </a:solidFill>
            <a:prstDash val="solid"/>
          </a:ln>
          <a:effectLst>
            <a:outerShdw sx="100000" sy="100000" kx="0" ky="0" algn="bl" rotWithShape="0" blurRad="152400" dist="25400" dir="5400000">
              <a:srgbClr val="0B2B2E">
                <a:alpha val="9000"/>
              </a:srgbClr>
            </a:outerShdw>
          </a:effectLst>
        </p:spPr>
      </p:sp>
      <p:sp>
        <p:nvSpPr>
          <p:cNvPr id="18" name="Shape 15"/>
          <p:cNvSpPr/>
          <p:nvPr/>
        </p:nvSpPr>
        <p:spPr>
          <a:xfrm>
            <a:off x="4722266" y="2423160"/>
            <a:ext cx="658368" cy="658368"/>
          </a:xfrm>
          <a:prstGeom prst="ellipse">
            <a:avLst/>
          </a:prstGeom>
          <a:solidFill>
            <a:srgbClr val="0E6E6B"/>
          </a:solidFill>
          <a:ln/>
        </p:spPr>
      </p:sp>
      <p:pic>
        <p:nvPicPr>
          <p:cNvPr id="19" name="Image 1" descr="preencoded.png">    </p:cNvPr>
          <p:cNvPicPr>
            <a:picLocks noChangeAspect="1"/>
          </p:cNvPicPr>
          <p:nvPr/>
        </p:nvPicPr>
        <p:blipFill>
          <a:blip r:embed="rId2"/>
          <a:stretch>
            <a:fillRect/>
          </a:stretch>
        </p:blipFill>
        <p:spPr>
          <a:xfrm>
            <a:off x="4886858" y="2587752"/>
            <a:ext cx="329184" cy="329184"/>
          </a:xfrm>
          <a:prstGeom prst="rect">
            <a:avLst/>
          </a:prstGeom>
        </p:spPr>
      </p:pic>
      <p:sp>
        <p:nvSpPr>
          <p:cNvPr id="20" name="Text 16"/>
          <p:cNvSpPr txBox="1"/>
          <p:nvPr/>
        </p:nvSpPr>
        <p:spPr>
          <a:xfrm>
            <a:off x="4722266" y="3246120"/>
            <a:ext cx="2747162" cy="320040"/>
          </a:xfrm>
          <a:prstGeom prst="rect">
            <a:avLst/>
          </a:prstGeom>
          <a:noFill/>
          <a:ln/>
        </p:spPr>
        <p:txBody>
          <a:bodyPr wrap="square" lIns="0" tIns="0" rIns="0" bIns="0" rtlCol="0" anchor="ctr"/>
          <a:lstStyle/>
          <a:p>
            <a:pPr indent="0" marL="0">
              <a:buNone/>
            </a:pPr>
            <a:r>
              <a:rPr lang="en-US" sz="1650" b="1" dirty="0">
                <a:solidFill>
                  <a:srgbClr val="0B2B2E"/>
                </a:solidFill>
                <a:latin typeface="Calibri" pitchFamily="34" charset="0"/>
                <a:ea typeface="Calibri" pitchFamily="34" charset="-122"/>
                <a:cs typeface="Calibri" pitchFamily="34" charset="-120"/>
              </a:rPr>
              <a:t>Sitting in the room</a:t>
            </a:r>
            <a:endParaRPr lang="en-US" sz="1650" dirty="0"/>
          </a:p>
        </p:txBody>
      </p:sp>
      <p:sp>
        <p:nvSpPr>
          <p:cNvPr id="21" name="Text 17"/>
          <p:cNvSpPr txBox="1"/>
          <p:nvPr/>
        </p:nvSpPr>
        <p:spPr>
          <a:xfrm>
            <a:off x="4722266" y="3611880"/>
            <a:ext cx="2747162" cy="1051560"/>
          </a:xfrm>
          <a:prstGeom prst="rect">
            <a:avLst/>
          </a:prstGeom>
          <a:noFill/>
          <a:ln/>
        </p:spPr>
        <p:txBody>
          <a:bodyPr wrap="square" lIns="0" tIns="0" rIns="0" bIns="0" rtlCol="0" anchor="ctr"/>
          <a:lstStyle/>
          <a:p>
            <a:pPr indent="0" marL="0">
              <a:lnSpc>
                <a:spcPts val="1800"/>
              </a:lnSpc>
              <a:buNone/>
            </a:pPr>
            <a:r>
              <a:rPr lang="en-US" sz="1250" dirty="0">
                <a:solidFill>
                  <a:srgbClr val="56696A"/>
                </a:solidFill>
                <a:latin typeface="Calibri" pitchFamily="34" charset="0"/>
                <a:ea typeface="Calibri" pitchFamily="34" charset="-122"/>
                <a:cs typeface="Calibri" pitchFamily="34" charset="-120"/>
              </a:rPr>
              <a:t>Watching consultations end to end and timing what really happens, rather than asking a doctor to recall it afterwards.</a:t>
            </a:r>
            <a:endParaRPr lang="en-US" sz="1250" dirty="0"/>
          </a:p>
        </p:txBody>
      </p:sp>
      <p:sp>
        <p:nvSpPr>
          <p:cNvPr id="22" name="Text 18"/>
          <p:cNvSpPr txBox="1"/>
          <p:nvPr/>
        </p:nvSpPr>
        <p:spPr>
          <a:xfrm>
            <a:off x="4722266" y="4590288"/>
            <a:ext cx="2747162" cy="256032"/>
          </a:xfrm>
          <a:prstGeom prst="rect">
            <a:avLst/>
          </a:prstGeom>
          <a:noFill/>
          <a:ln/>
        </p:spPr>
        <p:txBody>
          <a:bodyPr wrap="square" lIns="0" tIns="0" rIns="0" bIns="0" rtlCol="0" anchor="ctr"/>
          <a:lstStyle/>
          <a:p>
            <a:pPr indent="0" marL="0">
              <a:buNone/>
            </a:pPr>
            <a:r>
              <a:rPr lang="en-US" sz="1100" b="1" dirty="0">
                <a:solidFill>
                  <a:srgbClr val="C9821F"/>
                </a:solidFill>
                <a:latin typeface="Calibri" pitchFamily="34" charset="0"/>
                <a:ea typeface="Calibri" pitchFamily="34" charset="-122"/>
                <a:cs typeface="Calibri" pitchFamily="34" charset="-120"/>
              </a:rPr>
              <a:t>Observation, not recall</a:t>
            </a:r>
            <a:endParaRPr lang="en-US" sz="1100" dirty="0"/>
          </a:p>
        </p:txBody>
      </p:sp>
      <p:sp>
        <p:nvSpPr>
          <p:cNvPr id="23" name="Shape 19"/>
          <p:cNvSpPr/>
          <p:nvPr/>
        </p:nvSpPr>
        <p:spPr>
          <a:xfrm>
            <a:off x="8036357" y="2084832"/>
            <a:ext cx="3515258" cy="2852928"/>
          </a:xfrm>
          <a:prstGeom prst="roundRect">
            <a:avLst>
              <a:gd name="adj" fmla="val 2244"/>
            </a:avLst>
          </a:prstGeom>
          <a:solidFill>
            <a:srgbClr val="FFFFFF"/>
          </a:solidFill>
          <a:ln w="12700">
            <a:solidFill>
              <a:srgbClr val="DFEAE8"/>
            </a:solidFill>
            <a:prstDash val="solid"/>
          </a:ln>
          <a:effectLst>
            <a:outerShdw sx="100000" sy="100000" kx="0" ky="0" algn="bl" rotWithShape="0" blurRad="152400" dist="25400" dir="5400000">
              <a:srgbClr val="0B2B2E">
                <a:alpha val="9000"/>
              </a:srgbClr>
            </a:outerShdw>
          </a:effectLst>
        </p:spPr>
      </p:sp>
      <p:sp>
        <p:nvSpPr>
          <p:cNvPr id="24" name="Shape 20"/>
          <p:cNvSpPr/>
          <p:nvPr/>
        </p:nvSpPr>
        <p:spPr>
          <a:xfrm>
            <a:off x="8420405" y="2423160"/>
            <a:ext cx="658368" cy="658368"/>
          </a:xfrm>
          <a:prstGeom prst="ellipse">
            <a:avLst/>
          </a:prstGeom>
          <a:solidFill>
            <a:srgbClr val="0E6E6B"/>
          </a:solidFill>
          <a:ln/>
        </p:spPr>
      </p:sp>
      <p:pic>
        <p:nvPicPr>
          <p:cNvPr id="25" name="Image 2" descr="preencoded.png">    </p:cNvPr>
          <p:cNvPicPr>
            <a:picLocks noChangeAspect="1"/>
          </p:cNvPicPr>
          <p:nvPr/>
        </p:nvPicPr>
        <p:blipFill>
          <a:blip r:embed="rId3"/>
          <a:stretch>
            <a:fillRect/>
          </a:stretch>
        </p:blipFill>
        <p:spPr>
          <a:xfrm>
            <a:off x="8584997" y="2587752"/>
            <a:ext cx="329184" cy="329184"/>
          </a:xfrm>
          <a:prstGeom prst="rect">
            <a:avLst/>
          </a:prstGeom>
        </p:spPr>
      </p:pic>
      <p:sp>
        <p:nvSpPr>
          <p:cNvPr id="26" name="Text 21"/>
          <p:cNvSpPr txBox="1"/>
          <p:nvPr/>
        </p:nvSpPr>
        <p:spPr>
          <a:xfrm>
            <a:off x="8420405" y="3246120"/>
            <a:ext cx="2747162" cy="320040"/>
          </a:xfrm>
          <a:prstGeom prst="rect">
            <a:avLst/>
          </a:prstGeom>
          <a:noFill/>
          <a:ln/>
        </p:spPr>
        <p:txBody>
          <a:bodyPr wrap="square" lIns="0" tIns="0" rIns="0" bIns="0" rtlCol="0" anchor="ctr"/>
          <a:lstStyle/>
          <a:p>
            <a:pPr indent="0" marL="0">
              <a:buNone/>
            </a:pPr>
            <a:r>
              <a:rPr lang="en-US" sz="1650" b="1" dirty="0">
                <a:solidFill>
                  <a:srgbClr val="0B2B2E"/>
                </a:solidFill>
                <a:latin typeface="Calibri" pitchFamily="34" charset="0"/>
                <a:ea typeface="Calibri" pitchFamily="34" charset="-122"/>
                <a:cs typeface="Calibri" pitchFamily="34" charset="-120"/>
              </a:rPr>
              <a:t>Consent, co-designed</a:t>
            </a:r>
            <a:endParaRPr lang="en-US" sz="1650" dirty="0"/>
          </a:p>
        </p:txBody>
      </p:sp>
      <p:sp>
        <p:nvSpPr>
          <p:cNvPr id="27" name="Text 22"/>
          <p:cNvSpPr txBox="1"/>
          <p:nvPr/>
        </p:nvSpPr>
        <p:spPr>
          <a:xfrm>
            <a:off x="8420405" y="3611880"/>
            <a:ext cx="2747162" cy="1051560"/>
          </a:xfrm>
          <a:prstGeom prst="rect">
            <a:avLst/>
          </a:prstGeom>
          <a:noFill/>
          <a:ln/>
        </p:spPr>
        <p:txBody>
          <a:bodyPr wrap="square" lIns="0" tIns="0" rIns="0" bIns="0" rtlCol="0" anchor="ctr"/>
          <a:lstStyle/>
          <a:p>
            <a:pPr indent="0" marL="0">
              <a:lnSpc>
                <a:spcPts val="1800"/>
              </a:lnSpc>
              <a:buNone/>
            </a:pPr>
            <a:r>
              <a:rPr lang="en-US" sz="1250" dirty="0">
                <a:solidFill>
                  <a:srgbClr val="56696A"/>
                </a:solidFill>
                <a:latin typeface="Calibri" pitchFamily="34" charset="0"/>
                <a:ea typeface="Calibri" pitchFamily="34" charset="-122"/>
                <a:cs typeface="Calibri" pitchFamily="34" charset="-120"/>
              </a:rPr>
              <a:t>Writing the spoken consent line in Bengali together with the people who will have to say yes to it, out loud, in front of a queue.</a:t>
            </a:r>
            <a:endParaRPr lang="en-US" sz="1250" dirty="0"/>
          </a:p>
        </p:txBody>
      </p:sp>
      <p:sp>
        <p:nvSpPr>
          <p:cNvPr id="28" name="Text 23"/>
          <p:cNvSpPr txBox="1"/>
          <p:nvPr/>
        </p:nvSpPr>
        <p:spPr>
          <a:xfrm>
            <a:off x="8420405" y="4590288"/>
            <a:ext cx="2747162" cy="256032"/>
          </a:xfrm>
          <a:prstGeom prst="rect">
            <a:avLst/>
          </a:prstGeom>
          <a:noFill/>
          <a:ln/>
        </p:spPr>
        <p:txBody>
          <a:bodyPr wrap="square" lIns="0" tIns="0" rIns="0" bIns="0" rtlCol="0" anchor="ctr"/>
          <a:lstStyle/>
          <a:p>
            <a:pPr indent="0" marL="0">
              <a:buNone/>
            </a:pPr>
            <a:r>
              <a:rPr lang="en-US" sz="1100" b="1" dirty="0">
                <a:solidFill>
                  <a:srgbClr val="C9821F"/>
                </a:solidFill>
                <a:latin typeface="Calibri" pitchFamily="34" charset="0"/>
                <a:ea typeface="Calibri" pitchFamily="34" charset="-122"/>
                <a:cs typeface="Calibri" pitchFamily="34" charset="-120"/>
              </a:rPr>
              <a:t>Bengali and English</a:t>
            </a:r>
            <a:endParaRPr lang="en-US" sz="1100" dirty="0"/>
          </a:p>
        </p:txBody>
      </p:sp>
      <p:sp>
        <p:nvSpPr>
          <p:cNvPr id="29" name="Shape 24"/>
          <p:cNvSpPr/>
          <p:nvPr/>
        </p:nvSpPr>
        <p:spPr>
          <a:xfrm>
            <a:off x="640080" y="5230368"/>
            <a:ext cx="10911535" cy="786384"/>
          </a:xfrm>
          <a:prstGeom prst="roundRect">
            <a:avLst>
              <a:gd name="adj" fmla="val 8140"/>
            </a:avLst>
          </a:prstGeom>
          <a:solidFill>
            <a:srgbClr val="EFF4F3"/>
          </a:solidFill>
          <a:ln/>
        </p:spPr>
      </p:sp>
      <p:sp>
        <p:nvSpPr>
          <p:cNvPr id="30" name="Text 25"/>
          <p:cNvSpPr txBox="1"/>
          <p:nvPr/>
        </p:nvSpPr>
        <p:spPr>
          <a:xfrm>
            <a:off x="960120" y="5230368"/>
            <a:ext cx="10271455" cy="786384"/>
          </a:xfrm>
          <a:prstGeom prst="rect">
            <a:avLst/>
          </a:prstGeom>
          <a:noFill/>
          <a:ln/>
        </p:spPr>
        <p:txBody>
          <a:bodyPr wrap="square" lIns="0" tIns="0" rIns="0" bIns="0" rtlCol="0" anchor="ctr"/>
          <a:lstStyle/>
          <a:p>
            <a:pPr indent="0" marL="0">
              <a:lnSpc>
                <a:spcPts val="1800"/>
              </a:lnSpc>
              <a:buNone/>
            </a:pPr>
            <a:r>
              <a:rPr lang="en-US" sz="1250" dirty="0">
                <a:solidFill>
                  <a:srgbClr val="0B2B2E"/>
                </a:solidFill>
                <a:latin typeface="Calibri" pitchFamily="34" charset="0"/>
                <a:ea typeface="Calibri" pitchFamily="34" charset="-122"/>
                <a:cs typeface="Calibri" pitchFamily="34" charset="-120"/>
              </a:rPr>
              <a:t>Why the script matters:  a doctor asked “would you use an AI scribe?” will say yes. A doctor asked “what took the longest yesterday?” will tell you the truth. Every leading question we removed made the finding harder to fake.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Text 1"/>
          <p:cNvSpPr txBox="1"/>
          <p:nvPr/>
        </p:nvSpPr>
        <p:spPr>
          <a:xfrm>
            <a:off x="640080" y="475488"/>
            <a:ext cx="7315200" cy="256032"/>
          </a:xfrm>
          <a:prstGeom prst="rect">
            <a:avLst/>
          </a:prstGeom>
          <a:noFill/>
          <a:ln/>
        </p:spPr>
        <p:txBody>
          <a:bodyPr wrap="square" lIns="0" tIns="0" rIns="0" bIns="0" rtlCol="0" anchor="ctr"/>
          <a:lstStyle/>
          <a:p>
            <a:pPr indent="0" marL="0">
              <a:buNone/>
            </a:pPr>
            <a:r>
              <a:rPr lang="en-US" sz="1100" b="1" spc="240" kern="0" dirty="0">
                <a:solidFill>
                  <a:srgbClr val="0E6E6B"/>
                </a:solidFill>
                <a:latin typeface="Calibri" pitchFamily="34" charset="0"/>
                <a:ea typeface="Calibri" pitchFamily="34" charset="-122"/>
                <a:cs typeface="Calibri" pitchFamily="34" charset="-120"/>
              </a:rPr>
              <a:t>EMPATHIZE</a:t>
            </a:r>
            <a:endParaRPr lang="en-US" sz="1100" dirty="0"/>
          </a:p>
        </p:txBody>
      </p:sp>
      <p:sp>
        <p:nvSpPr>
          <p:cNvPr id="4" name="Text 2"/>
          <p:cNvSpPr txBox="1"/>
          <p:nvPr/>
        </p:nvSpPr>
        <p:spPr>
          <a:xfrm>
            <a:off x="640080" y="822960"/>
            <a:ext cx="9509760" cy="777240"/>
          </a:xfrm>
          <a:prstGeom prst="rect">
            <a:avLst/>
          </a:prstGeom>
          <a:noFill/>
          <a:ln/>
        </p:spPr>
        <p:txBody>
          <a:bodyPr wrap="square" lIns="0" tIns="0" rIns="0" bIns="0" rtlCol="0" anchor="ctr"/>
          <a:lstStyle/>
          <a:p>
            <a:pPr indent="0" marL="0">
              <a:buNone/>
            </a:pPr>
            <a:r>
              <a:rPr lang="en-US" sz="3400" b="1" dirty="0">
                <a:solidFill>
                  <a:srgbClr val="0B2B2E"/>
                </a:solidFill>
                <a:latin typeface="Cambria" pitchFamily="34" charset="0"/>
                <a:ea typeface="Cambria" pitchFamily="34" charset="-122"/>
                <a:cs typeface="Cambria" pitchFamily="34" charset="-120"/>
              </a:rPr>
              <a:t>What we know, and what we must still hear</a:t>
            </a:r>
            <a:endParaRPr lang="en-US" sz="3400" dirty="0"/>
          </a:p>
        </p:txBody>
      </p:sp>
      <p:sp>
        <p:nvSpPr>
          <p:cNvPr id="5" name="Text 3"/>
          <p:cNvSpPr txBox="1"/>
          <p:nvPr/>
        </p:nvSpPr>
        <p:spPr>
          <a:xfrm>
            <a:off x="7423099" y="493776"/>
            <a:ext cx="2788920" cy="256032"/>
          </a:xfrm>
          <a:prstGeom prst="rect">
            <a:avLst/>
          </a:prstGeom>
          <a:noFill/>
          <a:ln/>
        </p:spPr>
        <p:txBody>
          <a:bodyPr wrap="square" lIns="0" tIns="0" rIns="0" bIns="0" rtlCol="0" anchor="ctr"/>
          <a:lstStyle/>
          <a:p>
            <a:pPr algn="r" indent="0" marL="0">
              <a:buNone/>
            </a:pPr>
            <a:r>
              <a:rPr lang="en-US" sz="1000" b="1" spc="180" kern="0" dirty="0">
                <a:solidFill>
                  <a:srgbClr val="8B9C9D"/>
                </a:solidFill>
                <a:latin typeface="Calibri" pitchFamily="34" charset="0"/>
                <a:ea typeface="Calibri" pitchFamily="34" charset="-122"/>
                <a:cs typeface="Calibri" pitchFamily="34" charset="-120"/>
              </a:rPr>
              <a:t>EMPATHIZE</a:t>
            </a:r>
            <a:endParaRPr lang="en-US" sz="1000" dirty="0"/>
          </a:p>
        </p:txBody>
      </p:sp>
      <p:sp>
        <p:nvSpPr>
          <p:cNvPr id="6" name="Shape 4"/>
          <p:cNvSpPr/>
          <p:nvPr/>
        </p:nvSpPr>
        <p:spPr>
          <a:xfrm>
            <a:off x="10349179" y="548640"/>
            <a:ext cx="141732" cy="141732"/>
          </a:xfrm>
          <a:prstGeom prst="ellipse">
            <a:avLst/>
          </a:prstGeom>
          <a:solidFill>
            <a:srgbClr val="C9821F"/>
          </a:solidFill>
          <a:ln/>
        </p:spPr>
      </p:sp>
      <p:sp>
        <p:nvSpPr>
          <p:cNvPr id="7" name="Shape 5"/>
          <p:cNvSpPr/>
          <p:nvPr/>
        </p:nvSpPr>
        <p:spPr>
          <a:xfrm>
            <a:off x="10614355" y="548640"/>
            <a:ext cx="141732" cy="141732"/>
          </a:xfrm>
          <a:prstGeom prst="ellipse">
            <a:avLst/>
          </a:prstGeom>
          <a:solidFill>
            <a:srgbClr val="DFEAE8"/>
          </a:solidFill>
          <a:ln/>
        </p:spPr>
      </p:sp>
      <p:sp>
        <p:nvSpPr>
          <p:cNvPr id="8" name="Shape 6"/>
          <p:cNvSpPr/>
          <p:nvPr/>
        </p:nvSpPr>
        <p:spPr>
          <a:xfrm>
            <a:off x="10879531" y="548640"/>
            <a:ext cx="141732" cy="141732"/>
          </a:xfrm>
          <a:prstGeom prst="ellipse">
            <a:avLst/>
          </a:prstGeom>
          <a:solidFill>
            <a:srgbClr val="DFEAE8"/>
          </a:solidFill>
          <a:ln/>
        </p:spPr>
      </p:sp>
      <p:sp>
        <p:nvSpPr>
          <p:cNvPr id="9" name="Shape 7"/>
          <p:cNvSpPr/>
          <p:nvPr/>
        </p:nvSpPr>
        <p:spPr>
          <a:xfrm>
            <a:off x="11144707" y="548640"/>
            <a:ext cx="141732" cy="141732"/>
          </a:xfrm>
          <a:prstGeom prst="ellipse">
            <a:avLst/>
          </a:prstGeom>
          <a:solidFill>
            <a:srgbClr val="DFEAE8"/>
          </a:solidFill>
          <a:ln/>
        </p:spPr>
      </p:sp>
      <p:sp>
        <p:nvSpPr>
          <p:cNvPr id="10" name="Shape 8"/>
          <p:cNvSpPr/>
          <p:nvPr/>
        </p:nvSpPr>
        <p:spPr>
          <a:xfrm>
            <a:off x="11409883" y="548640"/>
            <a:ext cx="141732" cy="141732"/>
          </a:xfrm>
          <a:prstGeom prst="ellipse">
            <a:avLst/>
          </a:prstGeom>
          <a:solidFill>
            <a:srgbClr val="DFEAE8"/>
          </a:solidFill>
          <a:ln/>
        </p:spPr>
      </p:sp>
      <p:sp>
        <p:nvSpPr>
          <p:cNvPr id="11" name="Shape 9"/>
          <p:cNvSpPr/>
          <p:nvPr/>
        </p:nvSpPr>
        <p:spPr>
          <a:xfrm>
            <a:off x="640080" y="2011680"/>
            <a:ext cx="5532120" cy="3703320"/>
          </a:xfrm>
          <a:prstGeom prst="roundRect">
            <a:avLst>
              <a:gd name="adj" fmla="val 1728"/>
            </a:avLst>
          </a:prstGeom>
          <a:solidFill>
            <a:srgbClr val="EFF4F3"/>
          </a:solidFill>
          <a:ln/>
        </p:spPr>
      </p:sp>
      <p:sp>
        <p:nvSpPr>
          <p:cNvPr id="12" name="Text 10"/>
          <p:cNvSpPr txBox="1"/>
          <p:nvPr/>
        </p:nvSpPr>
        <p:spPr>
          <a:xfrm>
            <a:off x="987552" y="2286000"/>
            <a:ext cx="4846320" cy="256032"/>
          </a:xfrm>
          <a:prstGeom prst="rect">
            <a:avLst/>
          </a:prstGeom>
          <a:noFill/>
          <a:ln/>
        </p:spPr>
        <p:txBody>
          <a:bodyPr wrap="square" lIns="0" tIns="0" rIns="0" bIns="0" rtlCol="0" anchor="ctr"/>
          <a:lstStyle/>
          <a:p>
            <a:pPr indent="0" marL="0">
              <a:buNone/>
            </a:pPr>
            <a:r>
              <a:rPr lang="en-US" sz="1050" b="1" spc="200" kern="0" dirty="0">
                <a:solidFill>
                  <a:srgbClr val="0E6E6B"/>
                </a:solidFill>
                <a:latin typeface="Calibri" pitchFamily="34" charset="0"/>
                <a:ea typeface="Calibri" pitchFamily="34" charset="-122"/>
                <a:cs typeface="Calibri" pitchFamily="34" charset="-120"/>
              </a:rPr>
              <a:t>ALREADY DOCUMENTED</a:t>
            </a:r>
            <a:endParaRPr lang="en-US" sz="1050" dirty="0"/>
          </a:p>
        </p:txBody>
      </p:sp>
      <p:sp>
        <p:nvSpPr>
          <p:cNvPr id="13" name="Text 11"/>
          <p:cNvSpPr txBox="1"/>
          <p:nvPr/>
        </p:nvSpPr>
        <p:spPr>
          <a:xfrm>
            <a:off x="987552" y="2697480"/>
            <a:ext cx="1234440" cy="384048"/>
          </a:xfrm>
          <a:prstGeom prst="rect">
            <a:avLst/>
          </a:prstGeom>
          <a:noFill/>
          <a:ln/>
        </p:spPr>
        <p:txBody>
          <a:bodyPr wrap="square" lIns="0" tIns="0" rIns="0" bIns="0" rtlCol="0" anchor="ctr"/>
          <a:lstStyle/>
          <a:p>
            <a:pPr indent="0" marL="0">
              <a:buNone/>
            </a:pPr>
            <a:r>
              <a:rPr lang="en-US" sz="2100" b="1" dirty="0">
                <a:solidFill>
                  <a:srgbClr val="0B2B2E"/>
                </a:solidFill>
                <a:latin typeface="Cambria" pitchFamily="34" charset="0"/>
                <a:ea typeface="Cambria" pitchFamily="34" charset="-122"/>
                <a:cs typeface="Cambria" pitchFamily="34" charset="-120"/>
              </a:rPr>
              <a:t>≈ 2 min</a:t>
            </a:r>
            <a:endParaRPr lang="en-US" sz="2100" dirty="0"/>
          </a:p>
        </p:txBody>
      </p:sp>
      <p:sp>
        <p:nvSpPr>
          <p:cNvPr id="14" name="Text 12"/>
          <p:cNvSpPr txBox="1"/>
          <p:nvPr/>
        </p:nvSpPr>
        <p:spPr>
          <a:xfrm>
            <a:off x="2286000" y="2670048"/>
            <a:ext cx="3566160" cy="822960"/>
          </a:xfrm>
          <a:prstGeom prst="rect">
            <a:avLst/>
          </a:prstGeom>
          <a:noFill/>
          <a:ln/>
        </p:spPr>
        <p:txBody>
          <a:bodyPr wrap="square" lIns="0" tIns="0" rIns="0" bIns="0" rtlCol="0" anchor="ctr"/>
          <a:lstStyle/>
          <a:p>
            <a:pPr indent="0" marL="0">
              <a:lnSpc>
                <a:spcPts val="1700"/>
              </a:lnSpc>
              <a:buNone/>
            </a:pPr>
            <a:r>
              <a:rPr lang="en-US" sz="1200" dirty="0">
                <a:solidFill>
                  <a:srgbClr val="56696A"/>
                </a:solidFill>
                <a:latin typeface="Calibri" pitchFamily="34" charset="0"/>
                <a:ea typeface="Calibri" pitchFamily="34" charset="-122"/>
                <a:cs typeface="Calibri" pitchFamily="34" charset="-120"/>
              </a:rPr>
              <a:t>the average primary-care consultation in India — against 22.5 minutes in Sweden</a:t>
            </a:r>
            <a:endParaRPr lang="en-US" sz="1200" dirty="0"/>
          </a:p>
        </p:txBody>
      </p:sp>
      <p:sp>
        <p:nvSpPr>
          <p:cNvPr id="15" name="Text 13"/>
          <p:cNvSpPr txBox="1"/>
          <p:nvPr/>
        </p:nvSpPr>
        <p:spPr>
          <a:xfrm>
            <a:off x="987552" y="3666744"/>
            <a:ext cx="1234440" cy="384048"/>
          </a:xfrm>
          <a:prstGeom prst="rect">
            <a:avLst/>
          </a:prstGeom>
          <a:noFill/>
          <a:ln/>
        </p:spPr>
        <p:txBody>
          <a:bodyPr wrap="square" lIns="0" tIns="0" rIns="0" bIns="0" rtlCol="0" anchor="ctr"/>
          <a:lstStyle/>
          <a:p>
            <a:pPr indent="0" marL="0">
              <a:buNone/>
            </a:pPr>
            <a:r>
              <a:rPr lang="en-US" sz="2100" b="1" dirty="0">
                <a:solidFill>
                  <a:srgbClr val="0B2B2E"/>
                </a:solidFill>
                <a:latin typeface="Cambria" pitchFamily="34" charset="0"/>
                <a:ea typeface="Cambria" pitchFamily="34" charset="-122"/>
                <a:cs typeface="Cambria" pitchFamily="34" charset="-120"/>
              </a:rPr>
              <a:t>49.2%</a:t>
            </a:r>
            <a:endParaRPr lang="en-US" sz="2100" dirty="0"/>
          </a:p>
        </p:txBody>
      </p:sp>
      <p:sp>
        <p:nvSpPr>
          <p:cNvPr id="16" name="Text 14"/>
          <p:cNvSpPr txBox="1"/>
          <p:nvPr/>
        </p:nvSpPr>
        <p:spPr>
          <a:xfrm>
            <a:off x="2286000" y="3639312"/>
            <a:ext cx="3566160" cy="822960"/>
          </a:xfrm>
          <a:prstGeom prst="rect">
            <a:avLst/>
          </a:prstGeom>
          <a:noFill/>
          <a:ln/>
        </p:spPr>
        <p:txBody>
          <a:bodyPr wrap="square" lIns="0" tIns="0" rIns="0" bIns="0" rtlCol="0" anchor="ctr"/>
          <a:lstStyle/>
          <a:p>
            <a:pPr indent="0" marL="0">
              <a:lnSpc>
                <a:spcPts val="1700"/>
              </a:lnSpc>
              <a:buNone/>
            </a:pPr>
            <a:r>
              <a:rPr lang="en-US" sz="1200" dirty="0">
                <a:solidFill>
                  <a:srgbClr val="56696A"/>
                </a:solidFill>
                <a:latin typeface="Calibri" pitchFamily="34" charset="0"/>
                <a:ea typeface="Calibri" pitchFamily="34" charset="-122"/>
                <a:cs typeface="Calibri" pitchFamily="34" charset="-120"/>
              </a:rPr>
              <a:t>of a physician's office time goes to records and desk work; 27.0% to the patient in front of them</a:t>
            </a:r>
            <a:endParaRPr lang="en-US" sz="1200" dirty="0"/>
          </a:p>
        </p:txBody>
      </p:sp>
      <p:sp>
        <p:nvSpPr>
          <p:cNvPr id="17" name="Text 15"/>
          <p:cNvSpPr txBox="1"/>
          <p:nvPr/>
        </p:nvSpPr>
        <p:spPr>
          <a:xfrm>
            <a:off x="987552" y="4636008"/>
            <a:ext cx="1234440" cy="384048"/>
          </a:xfrm>
          <a:prstGeom prst="rect">
            <a:avLst/>
          </a:prstGeom>
          <a:noFill/>
          <a:ln/>
        </p:spPr>
        <p:txBody>
          <a:bodyPr wrap="square" lIns="0" tIns="0" rIns="0" bIns="0" rtlCol="0" anchor="ctr"/>
          <a:lstStyle/>
          <a:p>
            <a:pPr indent="0" marL="0">
              <a:buNone/>
            </a:pPr>
            <a:r>
              <a:rPr lang="en-US" sz="2100" b="1" dirty="0">
                <a:solidFill>
                  <a:srgbClr val="0B2B2E"/>
                </a:solidFill>
                <a:latin typeface="Cambria" pitchFamily="34" charset="0"/>
                <a:ea typeface="Cambria" pitchFamily="34" charset="-122"/>
                <a:cs typeface="Cambria" pitchFamily="34" charset="-120"/>
              </a:rPr>
              <a:t>18</a:t>
            </a:r>
            <a:endParaRPr lang="en-US" sz="2100" dirty="0"/>
          </a:p>
        </p:txBody>
      </p:sp>
      <p:sp>
        <p:nvSpPr>
          <p:cNvPr id="18" name="Text 16"/>
          <p:cNvSpPr txBox="1"/>
          <p:nvPr/>
        </p:nvSpPr>
        <p:spPr>
          <a:xfrm>
            <a:off x="2286000" y="4608576"/>
            <a:ext cx="3566160" cy="822960"/>
          </a:xfrm>
          <a:prstGeom prst="rect">
            <a:avLst/>
          </a:prstGeom>
          <a:noFill/>
          <a:ln/>
        </p:spPr>
        <p:txBody>
          <a:bodyPr wrap="square" lIns="0" tIns="0" rIns="0" bIns="0" rtlCol="0" anchor="ctr"/>
          <a:lstStyle/>
          <a:p>
            <a:pPr indent="0" marL="0">
              <a:lnSpc>
                <a:spcPts val="1700"/>
              </a:lnSpc>
              <a:buNone/>
            </a:pPr>
            <a:r>
              <a:rPr lang="en-US" sz="1200" dirty="0">
                <a:solidFill>
                  <a:srgbClr val="56696A"/>
                </a:solidFill>
                <a:latin typeface="Calibri" pitchFamily="34" charset="0"/>
                <a:ea typeface="Calibri" pitchFamily="34" charset="-122"/>
                <a:cs typeface="Calibri" pitchFamily="34" charset="-120"/>
              </a:rPr>
              <a:t>countries, about half the world's population, get five minutes or less</a:t>
            </a:r>
            <a:endParaRPr lang="en-US" sz="1200" dirty="0"/>
          </a:p>
        </p:txBody>
      </p:sp>
      <p:sp>
        <p:nvSpPr>
          <p:cNvPr id="19" name="Shape 17"/>
          <p:cNvSpPr/>
          <p:nvPr/>
        </p:nvSpPr>
        <p:spPr>
          <a:xfrm>
            <a:off x="6656832" y="2011680"/>
            <a:ext cx="4892040" cy="3703320"/>
          </a:xfrm>
          <a:prstGeom prst="roundRect">
            <a:avLst>
              <a:gd name="adj" fmla="val 2222"/>
            </a:avLst>
          </a:prstGeom>
          <a:solidFill>
            <a:srgbClr val="0B2B2E"/>
          </a:solidFill>
          <a:ln/>
          <a:effectLst>
            <a:outerShdw sx="100000" sy="100000" kx="0" ky="0" algn="bl" rotWithShape="0" blurRad="152400" dist="25400" dir="5400000">
              <a:srgbClr val="0B2B2E">
                <a:alpha val="9000"/>
              </a:srgbClr>
            </a:outerShdw>
          </a:effectLst>
        </p:spPr>
      </p:sp>
      <p:sp>
        <p:nvSpPr>
          <p:cNvPr id="20" name="Text 18"/>
          <p:cNvSpPr txBox="1"/>
          <p:nvPr/>
        </p:nvSpPr>
        <p:spPr>
          <a:xfrm>
            <a:off x="7004304" y="2286000"/>
            <a:ext cx="4206240" cy="256032"/>
          </a:xfrm>
          <a:prstGeom prst="rect">
            <a:avLst/>
          </a:prstGeom>
          <a:noFill/>
          <a:ln/>
        </p:spPr>
        <p:txBody>
          <a:bodyPr wrap="square" lIns="0" tIns="0" rIns="0" bIns="0" rtlCol="0" anchor="ctr"/>
          <a:lstStyle/>
          <a:p>
            <a:pPr indent="0" marL="0">
              <a:buNone/>
            </a:pPr>
            <a:r>
              <a:rPr lang="en-US" sz="1050" b="1" spc="160" kern="0" dirty="0">
                <a:solidFill>
                  <a:srgbClr val="C9821F"/>
                </a:solidFill>
                <a:latin typeface="Calibri" pitchFamily="34" charset="0"/>
                <a:ea typeface="Calibri" pitchFamily="34" charset="-122"/>
                <a:cs typeface="Calibri" pitchFamily="34" charset="-120"/>
              </a:rPr>
              <a:t>WHAT WE STILL HAVE TO HEAR OURSELVES</a:t>
            </a:r>
            <a:endParaRPr lang="en-US" sz="1050" dirty="0"/>
          </a:p>
        </p:txBody>
      </p:sp>
      <p:sp>
        <p:nvSpPr>
          <p:cNvPr id="21" name="Shape 19"/>
          <p:cNvSpPr/>
          <p:nvPr/>
        </p:nvSpPr>
        <p:spPr>
          <a:xfrm>
            <a:off x="7004304" y="2898648"/>
            <a:ext cx="137160" cy="137160"/>
          </a:xfrm>
          <a:prstGeom prst="ellipse">
            <a:avLst/>
          </a:prstGeom>
          <a:solidFill>
            <a:srgbClr val="5FB3AB"/>
          </a:solidFill>
          <a:ln/>
        </p:spPr>
      </p:sp>
      <p:sp>
        <p:nvSpPr>
          <p:cNvPr id="22" name="Text 20"/>
          <p:cNvSpPr txBox="1"/>
          <p:nvPr/>
        </p:nvSpPr>
        <p:spPr>
          <a:xfrm>
            <a:off x="7296912" y="2724912"/>
            <a:ext cx="3931920" cy="621792"/>
          </a:xfrm>
          <a:prstGeom prst="rect">
            <a:avLst/>
          </a:prstGeom>
          <a:noFill/>
          <a:ln/>
        </p:spPr>
        <p:txBody>
          <a:bodyPr wrap="square" lIns="0" tIns="0" rIns="0" bIns="0" rtlCol="0" anchor="ctr"/>
          <a:lstStyle/>
          <a:p>
            <a:pPr indent="0" marL="0">
              <a:lnSpc>
                <a:spcPts val="1800"/>
              </a:lnSpc>
              <a:buNone/>
            </a:pPr>
            <a:r>
              <a:rPr lang="en-US" sz="1250" dirty="0">
                <a:solidFill>
                  <a:srgbClr val="D3E0E0"/>
                </a:solidFill>
                <a:latin typeface="Calibri" pitchFamily="34" charset="0"/>
                <a:ea typeface="Calibri" pitchFamily="34" charset="-122"/>
                <a:cs typeface="Calibri" pitchFamily="34" charset="-120"/>
              </a:rPr>
              <a:t>What actually took the longest in your clinic yesterday?</a:t>
            </a:r>
            <a:endParaRPr lang="en-US" sz="1250" dirty="0"/>
          </a:p>
        </p:txBody>
      </p:sp>
      <p:sp>
        <p:nvSpPr>
          <p:cNvPr id="23" name="Shape 21"/>
          <p:cNvSpPr/>
          <p:nvPr/>
        </p:nvSpPr>
        <p:spPr>
          <a:xfrm>
            <a:off x="7004304" y="3611880"/>
            <a:ext cx="137160" cy="137160"/>
          </a:xfrm>
          <a:prstGeom prst="ellipse">
            <a:avLst/>
          </a:prstGeom>
          <a:solidFill>
            <a:srgbClr val="5FB3AB"/>
          </a:solidFill>
          <a:ln/>
        </p:spPr>
      </p:sp>
      <p:sp>
        <p:nvSpPr>
          <p:cNvPr id="24" name="Text 22"/>
          <p:cNvSpPr txBox="1"/>
          <p:nvPr/>
        </p:nvSpPr>
        <p:spPr>
          <a:xfrm>
            <a:off x="7296912" y="3438144"/>
            <a:ext cx="3931920" cy="621792"/>
          </a:xfrm>
          <a:prstGeom prst="rect">
            <a:avLst/>
          </a:prstGeom>
          <a:noFill/>
          <a:ln/>
        </p:spPr>
        <p:txBody>
          <a:bodyPr wrap="square" lIns="0" tIns="0" rIns="0" bIns="0" rtlCol="0" anchor="ctr"/>
          <a:lstStyle/>
          <a:p>
            <a:pPr indent="0" marL="0">
              <a:lnSpc>
                <a:spcPts val="1800"/>
              </a:lnSpc>
              <a:buNone/>
            </a:pPr>
            <a:r>
              <a:rPr lang="en-US" sz="1250" dirty="0">
                <a:solidFill>
                  <a:srgbClr val="D3E0E0"/>
                </a:solidFill>
                <a:latin typeface="Calibri" pitchFamily="34" charset="0"/>
                <a:ea typeface="Calibri" pitchFamily="34" charset="-122"/>
                <a:cs typeface="Calibri" pitchFamily="34" charset="-120"/>
              </a:rPr>
              <a:t>Show me how you would find this patient's last visit.</a:t>
            </a:r>
            <a:endParaRPr lang="en-US" sz="1250" dirty="0"/>
          </a:p>
        </p:txBody>
      </p:sp>
      <p:sp>
        <p:nvSpPr>
          <p:cNvPr id="25" name="Shape 23"/>
          <p:cNvSpPr/>
          <p:nvPr/>
        </p:nvSpPr>
        <p:spPr>
          <a:xfrm>
            <a:off x="7004304" y="4325112"/>
            <a:ext cx="137160" cy="137160"/>
          </a:xfrm>
          <a:prstGeom prst="ellipse">
            <a:avLst/>
          </a:prstGeom>
          <a:solidFill>
            <a:srgbClr val="5FB3AB"/>
          </a:solidFill>
          <a:ln/>
        </p:spPr>
      </p:sp>
      <p:sp>
        <p:nvSpPr>
          <p:cNvPr id="26" name="Text 24"/>
          <p:cNvSpPr txBox="1"/>
          <p:nvPr/>
        </p:nvSpPr>
        <p:spPr>
          <a:xfrm>
            <a:off x="7296912" y="4151376"/>
            <a:ext cx="3931920" cy="621792"/>
          </a:xfrm>
          <a:prstGeom prst="rect">
            <a:avLst/>
          </a:prstGeom>
          <a:noFill/>
          <a:ln/>
        </p:spPr>
        <p:txBody>
          <a:bodyPr wrap="square" lIns="0" tIns="0" rIns="0" bIns="0" rtlCol="0" anchor="ctr"/>
          <a:lstStyle/>
          <a:p>
            <a:pPr indent="0" marL="0">
              <a:lnSpc>
                <a:spcPts val="1800"/>
              </a:lnSpc>
              <a:buNone/>
            </a:pPr>
            <a:r>
              <a:rPr lang="en-US" sz="1250" dirty="0">
                <a:solidFill>
                  <a:srgbClr val="D3E0E0"/>
                </a:solidFill>
                <a:latin typeface="Calibri" pitchFamily="34" charset="0"/>
                <a:ea typeface="Calibri" pitchFamily="34" charset="-122"/>
                <a:cs typeface="Calibri" pitchFamily="34" charset="-120"/>
              </a:rPr>
              <a:t>What happens to the register when it is full?</a:t>
            </a:r>
            <a:endParaRPr lang="en-US" sz="1250" dirty="0"/>
          </a:p>
        </p:txBody>
      </p:sp>
      <p:sp>
        <p:nvSpPr>
          <p:cNvPr id="27" name="Shape 25"/>
          <p:cNvSpPr/>
          <p:nvPr/>
        </p:nvSpPr>
        <p:spPr>
          <a:xfrm>
            <a:off x="7004304" y="5038344"/>
            <a:ext cx="137160" cy="137160"/>
          </a:xfrm>
          <a:prstGeom prst="ellipse">
            <a:avLst/>
          </a:prstGeom>
          <a:solidFill>
            <a:srgbClr val="5FB3AB"/>
          </a:solidFill>
          <a:ln/>
        </p:spPr>
      </p:sp>
      <p:sp>
        <p:nvSpPr>
          <p:cNvPr id="28" name="Text 26"/>
          <p:cNvSpPr txBox="1"/>
          <p:nvPr/>
        </p:nvSpPr>
        <p:spPr>
          <a:xfrm>
            <a:off x="7296912" y="4864608"/>
            <a:ext cx="3931920" cy="621792"/>
          </a:xfrm>
          <a:prstGeom prst="rect">
            <a:avLst/>
          </a:prstGeom>
          <a:noFill/>
          <a:ln/>
        </p:spPr>
        <p:txBody>
          <a:bodyPr wrap="square" lIns="0" tIns="0" rIns="0" bIns="0" rtlCol="0" anchor="ctr"/>
          <a:lstStyle/>
          <a:p>
            <a:pPr indent="0" marL="0">
              <a:lnSpc>
                <a:spcPts val="1800"/>
              </a:lnSpc>
              <a:buNone/>
            </a:pPr>
            <a:r>
              <a:rPr lang="en-US" sz="1250" dirty="0">
                <a:solidFill>
                  <a:srgbClr val="D3E0E0"/>
                </a:solidFill>
                <a:latin typeface="Calibri" pitchFamily="34" charset="0"/>
                <a:ea typeface="Calibri" pitchFamily="34" charset="-122"/>
                <a:cs typeface="Calibri" pitchFamily="34" charset="-120"/>
              </a:rPr>
              <a:t>What would make you stop using something on day three?</a:t>
            </a:r>
            <a:endParaRPr lang="en-US" sz="1250" dirty="0"/>
          </a:p>
        </p:txBody>
      </p:sp>
      <p:sp>
        <p:nvSpPr>
          <p:cNvPr id="29" name="Text 27"/>
          <p:cNvSpPr txBox="1"/>
          <p:nvPr/>
        </p:nvSpPr>
        <p:spPr>
          <a:xfrm>
            <a:off x="640080" y="5870448"/>
            <a:ext cx="10911535" cy="384048"/>
          </a:xfrm>
          <a:prstGeom prst="rect">
            <a:avLst/>
          </a:prstGeom>
          <a:noFill/>
          <a:ln/>
        </p:spPr>
        <p:txBody>
          <a:bodyPr wrap="square" lIns="0" tIns="0" rIns="0" bIns="0" rtlCol="0" anchor="ctr"/>
          <a:lstStyle/>
          <a:p>
            <a:pPr indent="0" marL="0">
              <a:buNone/>
            </a:pPr>
            <a:r>
              <a:rPr lang="en-US" sz="1200" i="1" dirty="0">
                <a:solidFill>
                  <a:srgbClr val="56696A"/>
                </a:solidFill>
                <a:latin typeface="Calibri" pitchFamily="34" charset="0"/>
                <a:ea typeface="Calibri" pitchFamily="34" charset="-122"/>
                <a:cs typeface="Calibri" pitchFamily="34" charset="-120"/>
              </a:rPr>
              <a:t>Published evidence tells us the shape of the problem. It cannot tell us this clinic's version of it — that is what the interviews are for, and the deck marks clearly which is which.</a:t>
            </a:r>
            <a:endParaRPr lang="en-US" sz="1200" dirty="0"/>
          </a:p>
        </p:txBody>
      </p:sp>
      <p:sp>
        <p:nvSpPr>
          <p:cNvPr id="30" name="Text 28"/>
          <p:cNvSpPr txBox="1"/>
          <p:nvPr/>
        </p:nvSpPr>
        <p:spPr>
          <a:xfrm>
            <a:off x="640080" y="6291072"/>
            <a:ext cx="10911535" cy="292608"/>
          </a:xfrm>
          <a:prstGeom prst="rect">
            <a:avLst/>
          </a:prstGeom>
          <a:noFill/>
          <a:ln/>
        </p:spPr>
        <p:txBody>
          <a:bodyPr wrap="square" lIns="0" tIns="0" rIns="0" bIns="0" rtlCol="0" anchor="ctr"/>
          <a:lstStyle/>
          <a:p>
            <a:pPr indent="0" marL="0">
              <a:buNone/>
            </a:pPr>
            <a:r>
              <a:rPr lang="en-US" sz="950" dirty="0">
                <a:solidFill>
                  <a:srgbClr val="8B9C9D"/>
                </a:solidFill>
                <a:latin typeface="Calibri" pitchFamily="34" charset="0"/>
                <a:ea typeface="Calibri" pitchFamily="34" charset="-122"/>
                <a:cs typeface="Calibri" pitchFamily="34" charset="-120"/>
              </a:rPr>
              <a:t>Irving et al., BMJ Open 7(10), 2017 · Sinsky et al., Annals of Internal Medicine, 2016.</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Text 1"/>
          <p:cNvSpPr txBox="1"/>
          <p:nvPr/>
        </p:nvSpPr>
        <p:spPr>
          <a:xfrm>
            <a:off x="640080" y="475488"/>
            <a:ext cx="7315200" cy="256032"/>
          </a:xfrm>
          <a:prstGeom prst="rect">
            <a:avLst/>
          </a:prstGeom>
          <a:noFill/>
          <a:ln/>
        </p:spPr>
        <p:txBody>
          <a:bodyPr wrap="square" lIns="0" tIns="0" rIns="0" bIns="0" rtlCol="0" anchor="ctr"/>
          <a:lstStyle/>
          <a:p>
            <a:pPr indent="0" marL="0">
              <a:buNone/>
            </a:pPr>
            <a:r>
              <a:rPr lang="en-US" sz="1100" b="1" spc="240" kern="0" dirty="0">
                <a:solidFill>
                  <a:srgbClr val="0E6E6B"/>
                </a:solidFill>
                <a:latin typeface="Calibri" pitchFamily="34" charset="0"/>
                <a:ea typeface="Calibri" pitchFamily="34" charset="-122"/>
                <a:cs typeface="Calibri" pitchFamily="34" charset="-120"/>
              </a:rPr>
              <a:t>EMPATHIZE</a:t>
            </a:r>
            <a:endParaRPr lang="en-US" sz="1100" dirty="0"/>
          </a:p>
        </p:txBody>
      </p:sp>
      <p:sp>
        <p:nvSpPr>
          <p:cNvPr id="4" name="Text 2"/>
          <p:cNvSpPr txBox="1"/>
          <p:nvPr/>
        </p:nvSpPr>
        <p:spPr>
          <a:xfrm>
            <a:off x="640080" y="822960"/>
            <a:ext cx="9509760" cy="777240"/>
          </a:xfrm>
          <a:prstGeom prst="rect">
            <a:avLst/>
          </a:prstGeom>
          <a:noFill/>
          <a:ln/>
        </p:spPr>
        <p:txBody>
          <a:bodyPr wrap="square" lIns="0" tIns="0" rIns="0" bIns="0" rtlCol="0" anchor="ctr"/>
          <a:lstStyle/>
          <a:p>
            <a:pPr indent="0" marL="0">
              <a:buNone/>
            </a:pPr>
            <a:r>
              <a:rPr lang="en-US" sz="3400" b="1" dirty="0">
                <a:solidFill>
                  <a:srgbClr val="0B2B2E"/>
                </a:solidFill>
                <a:latin typeface="Cambria" pitchFamily="34" charset="0"/>
                <a:ea typeface="Cambria" pitchFamily="34" charset="-122"/>
                <a:cs typeface="Cambria" pitchFamily="34" charset="-120"/>
              </a:rPr>
              <a:t>The assumption that broke</a:t>
            </a:r>
            <a:endParaRPr lang="en-US" sz="3400" dirty="0"/>
          </a:p>
        </p:txBody>
      </p:sp>
      <p:sp>
        <p:nvSpPr>
          <p:cNvPr id="5" name="Text 3"/>
          <p:cNvSpPr txBox="1"/>
          <p:nvPr/>
        </p:nvSpPr>
        <p:spPr>
          <a:xfrm>
            <a:off x="7423099" y="493776"/>
            <a:ext cx="2788920" cy="256032"/>
          </a:xfrm>
          <a:prstGeom prst="rect">
            <a:avLst/>
          </a:prstGeom>
          <a:noFill/>
          <a:ln/>
        </p:spPr>
        <p:txBody>
          <a:bodyPr wrap="square" lIns="0" tIns="0" rIns="0" bIns="0" rtlCol="0" anchor="ctr"/>
          <a:lstStyle/>
          <a:p>
            <a:pPr algn="r" indent="0" marL="0">
              <a:buNone/>
            </a:pPr>
            <a:r>
              <a:rPr lang="en-US" sz="1000" b="1" spc="180" kern="0" dirty="0">
                <a:solidFill>
                  <a:srgbClr val="8B9C9D"/>
                </a:solidFill>
                <a:latin typeface="Calibri" pitchFamily="34" charset="0"/>
                <a:ea typeface="Calibri" pitchFamily="34" charset="-122"/>
                <a:cs typeface="Calibri" pitchFamily="34" charset="-120"/>
              </a:rPr>
              <a:t>EMPATHIZE</a:t>
            </a:r>
            <a:endParaRPr lang="en-US" sz="1000" dirty="0"/>
          </a:p>
        </p:txBody>
      </p:sp>
      <p:sp>
        <p:nvSpPr>
          <p:cNvPr id="6" name="Shape 4"/>
          <p:cNvSpPr/>
          <p:nvPr/>
        </p:nvSpPr>
        <p:spPr>
          <a:xfrm>
            <a:off x="10349179" y="548640"/>
            <a:ext cx="141732" cy="141732"/>
          </a:xfrm>
          <a:prstGeom prst="ellipse">
            <a:avLst/>
          </a:prstGeom>
          <a:solidFill>
            <a:srgbClr val="C9821F"/>
          </a:solidFill>
          <a:ln/>
        </p:spPr>
      </p:sp>
      <p:sp>
        <p:nvSpPr>
          <p:cNvPr id="7" name="Shape 5"/>
          <p:cNvSpPr/>
          <p:nvPr/>
        </p:nvSpPr>
        <p:spPr>
          <a:xfrm>
            <a:off x="10614355" y="548640"/>
            <a:ext cx="141732" cy="141732"/>
          </a:xfrm>
          <a:prstGeom prst="ellipse">
            <a:avLst/>
          </a:prstGeom>
          <a:solidFill>
            <a:srgbClr val="DFEAE8"/>
          </a:solidFill>
          <a:ln/>
        </p:spPr>
      </p:sp>
      <p:sp>
        <p:nvSpPr>
          <p:cNvPr id="8" name="Shape 6"/>
          <p:cNvSpPr/>
          <p:nvPr/>
        </p:nvSpPr>
        <p:spPr>
          <a:xfrm>
            <a:off x="10879531" y="548640"/>
            <a:ext cx="141732" cy="141732"/>
          </a:xfrm>
          <a:prstGeom prst="ellipse">
            <a:avLst/>
          </a:prstGeom>
          <a:solidFill>
            <a:srgbClr val="DFEAE8"/>
          </a:solidFill>
          <a:ln/>
        </p:spPr>
      </p:sp>
      <p:sp>
        <p:nvSpPr>
          <p:cNvPr id="9" name="Shape 7"/>
          <p:cNvSpPr/>
          <p:nvPr/>
        </p:nvSpPr>
        <p:spPr>
          <a:xfrm>
            <a:off x="11144707" y="548640"/>
            <a:ext cx="141732" cy="141732"/>
          </a:xfrm>
          <a:prstGeom prst="ellipse">
            <a:avLst/>
          </a:prstGeom>
          <a:solidFill>
            <a:srgbClr val="DFEAE8"/>
          </a:solidFill>
          <a:ln/>
        </p:spPr>
      </p:sp>
      <p:sp>
        <p:nvSpPr>
          <p:cNvPr id="10" name="Shape 8"/>
          <p:cNvSpPr/>
          <p:nvPr/>
        </p:nvSpPr>
        <p:spPr>
          <a:xfrm>
            <a:off x="11409883" y="548640"/>
            <a:ext cx="141732" cy="141732"/>
          </a:xfrm>
          <a:prstGeom prst="ellipse">
            <a:avLst/>
          </a:prstGeom>
          <a:solidFill>
            <a:srgbClr val="DFEAE8"/>
          </a:solidFill>
          <a:ln/>
        </p:spPr>
      </p:sp>
      <p:sp>
        <p:nvSpPr>
          <p:cNvPr id="11" name="Shape 9"/>
          <p:cNvSpPr/>
          <p:nvPr/>
        </p:nvSpPr>
        <p:spPr>
          <a:xfrm>
            <a:off x="640080" y="1993392"/>
            <a:ext cx="3401568" cy="1755648"/>
          </a:xfrm>
          <a:prstGeom prst="roundRect">
            <a:avLst>
              <a:gd name="adj" fmla="val 3646"/>
            </a:avLst>
          </a:prstGeom>
          <a:solidFill>
            <a:srgbClr val="FFFFFF"/>
          </a:solidFill>
          <a:ln w="12700">
            <a:solidFill>
              <a:srgbClr val="DFEAE8"/>
            </a:solidFill>
            <a:prstDash val="solid"/>
          </a:ln>
        </p:spPr>
      </p:sp>
      <p:sp>
        <p:nvSpPr>
          <p:cNvPr id="12" name="Text 10"/>
          <p:cNvSpPr txBox="1"/>
          <p:nvPr/>
        </p:nvSpPr>
        <p:spPr>
          <a:xfrm>
            <a:off x="896112" y="2176272"/>
            <a:ext cx="2889504" cy="237744"/>
          </a:xfrm>
          <a:prstGeom prst="rect">
            <a:avLst/>
          </a:prstGeom>
          <a:noFill/>
          <a:ln/>
        </p:spPr>
        <p:txBody>
          <a:bodyPr wrap="square" lIns="0" tIns="0" rIns="0" bIns="0" rtlCol="0" anchor="ctr"/>
          <a:lstStyle/>
          <a:p>
            <a:pPr indent="0" marL="0">
              <a:buNone/>
            </a:pPr>
            <a:r>
              <a:rPr lang="en-US" sz="950" b="1" spc="160" kern="0" dirty="0">
                <a:solidFill>
                  <a:srgbClr val="A8453A"/>
                </a:solidFill>
                <a:latin typeface="Calibri" pitchFamily="34" charset="0"/>
                <a:ea typeface="Calibri" pitchFamily="34" charset="-122"/>
                <a:cs typeface="Calibri" pitchFamily="34" charset="-120"/>
              </a:rPr>
              <a:t>WE ASSUMED</a:t>
            </a:r>
            <a:endParaRPr lang="en-US" sz="950" dirty="0"/>
          </a:p>
        </p:txBody>
      </p:sp>
      <p:sp>
        <p:nvSpPr>
          <p:cNvPr id="13" name="Text 11"/>
          <p:cNvSpPr txBox="1"/>
          <p:nvPr/>
        </p:nvSpPr>
        <p:spPr>
          <a:xfrm>
            <a:off x="896112" y="2468880"/>
            <a:ext cx="2889504" cy="1115568"/>
          </a:xfrm>
          <a:prstGeom prst="rect">
            <a:avLst/>
          </a:prstGeom>
          <a:noFill/>
          <a:ln/>
        </p:spPr>
        <p:txBody>
          <a:bodyPr wrap="square" lIns="0" tIns="0" rIns="0" bIns="0" rtlCol="0" anchor="ctr"/>
          <a:lstStyle/>
          <a:p>
            <a:pPr indent="0" marL="0">
              <a:lnSpc>
                <a:spcPts val="1800"/>
              </a:lnSpc>
              <a:buNone/>
            </a:pPr>
            <a:r>
              <a:rPr lang="en-US" sz="1250" dirty="0">
                <a:solidFill>
                  <a:srgbClr val="56696A"/>
                </a:solidFill>
                <a:latin typeface="Calibri" pitchFamily="34" charset="0"/>
                <a:ea typeface="Calibri" pitchFamily="34" charset="-122"/>
                <a:cs typeface="Calibri" pitchFamily="34" charset="-120"/>
              </a:rPr>
              <a:t>Rural clinics are offline. Connectivity is the binding constraint.</a:t>
            </a:r>
            <a:endParaRPr lang="en-US" sz="1250" dirty="0"/>
          </a:p>
        </p:txBody>
      </p:sp>
      <p:sp>
        <p:nvSpPr>
          <p:cNvPr id="14" name="Shape 12"/>
          <p:cNvSpPr/>
          <p:nvPr/>
        </p:nvSpPr>
        <p:spPr>
          <a:xfrm>
            <a:off x="4389120" y="1993392"/>
            <a:ext cx="3401568" cy="1755648"/>
          </a:xfrm>
          <a:prstGeom prst="roundRect">
            <a:avLst>
              <a:gd name="adj" fmla="val 3646"/>
            </a:avLst>
          </a:prstGeom>
          <a:solidFill>
            <a:srgbClr val="EFF4F3"/>
          </a:solidFill>
          <a:ln/>
        </p:spPr>
      </p:sp>
      <p:sp>
        <p:nvSpPr>
          <p:cNvPr id="15" name="Text 13"/>
          <p:cNvSpPr txBox="1"/>
          <p:nvPr/>
        </p:nvSpPr>
        <p:spPr>
          <a:xfrm>
            <a:off x="4645152" y="2176272"/>
            <a:ext cx="2889504" cy="237744"/>
          </a:xfrm>
          <a:prstGeom prst="rect">
            <a:avLst/>
          </a:prstGeom>
          <a:noFill/>
          <a:ln/>
        </p:spPr>
        <p:txBody>
          <a:bodyPr wrap="square" lIns="0" tIns="0" rIns="0" bIns="0" rtlCol="0" anchor="ctr"/>
          <a:lstStyle/>
          <a:p>
            <a:pPr indent="0" marL="0">
              <a:buNone/>
            </a:pPr>
            <a:r>
              <a:rPr lang="en-US" sz="950" b="1" spc="160" kern="0" dirty="0">
                <a:solidFill>
                  <a:srgbClr val="0E6E6B"/>
                </a:solidFill>
                <a:latin typeface="Calibri" pitchFamily="34" charset="0"/>
                <a:ea typeface="Calibri" pitchFamily="34" charset="-122"/>
                <a:cs typeface="Calibri" pitchFamily="34" charset="-120"/>
              </a:rPr>
              <a:t>THE EVIDENCE SAID</a:t>
            </a:r>
            <a:endParaRPr lang="en-US" sz="950" dirty="0"/>
          </a:p>
        </p:txBody>
      </p:sp>
      <p:sp>
        <p:nvSpPr>
          <p:cNvPr id="16" name="Text 14"/>
          <p:cNvSpPr txBox="1"/>
          <p:nvPr/>
        </p:nvSpPr>
        <p:spPr>
          <a:xfrm>
            <a:off x="4645152" y="2468880"/>
            <a:ext cx="2889504" cy="1115568"/>
          </a:xfrm>
          <a:prstGeom prst="rect">
            <a:avLst/>
          </a:prstGeom>
          <a:noFill/>
          <a:ln/>
        </p:spPr>
        <p:txBody>
          <a:bodyPr wrap="square" lIns="0" tIns="0" rIns="0" bIns="0" rtlCol="0" anchor="ctr"/>
          <a:lstStyle/>
          <a:p>
            <a:pPr indent="0" marL="0">
              <a:lnSpc>
                <a:spcPts val="1800"/>
              </a:lnSpc>
              <a:buNone/>
            </a:pPr>
            <a:r>
              <a:rPr lang="en-US" sz="1250" dirty="0">
                <a:solidFill>
                  <a:srgbClr val="0B2B2E"/>
                </a:solidFill>
                <a:latin typeface="Calibri" pitchFamily="34" charset="0"/>
                <a:ea typeface="Calibri" pitchFamily="34" charset="-122"/>
                <a:cs typeface="Calibri" pitchFamily="34" charset="-120"/>
              </a:rPr>
              <a:t>83.3% of rural households have internet access, against 91.6% urban — a real gap, but far smaller than we assumed.</a:t>
            </a:r>
            <a:endParaRPr lang="en-US" sz="1250" dirty="0"/>
          </a:p>
        </p:txBody>
      </p:sp>
      <p:sp>
        <p:nvSpPr>
          <p:cNvPr id="17" name="Shape 15"/>
          <p:cNvSpPr/>
          <p:nvPr/>
        </p:nvSpPr>
        <p:spPr>
          <a:xfrm>
            <a:off x="8138160" y="1993392"/>
            <a:ext cx="3401568" cy="1755648"/>
          </a:xfrm>
          <a:prstGeom prst="roundRect">
            <a:avLst>
              <a:gd name="adj" fmla="val 3646"/>
            </a:avLst>
          </a:prstGeom>
          <a:solidFill>
            <a:srgbClr val="0B2B2E"/>
          </a:solidFill>
          <a:ln/>
          <a:effectLst>
            <a:outerShdw sx="100000" sy="100000" kx="0" ky="0" algn="bl" rotWithShape="0" blurRad="152400" dist="25400" dir="5400000">
              <a:srgbClr val="0B2B2E">
                <a:alpha val="9000"/>
              </a:srgbClr>
            </a:outerShdw>
          </a:effectLst>
        </p:spPr>
      </p:sp>
      <p:sp>
        <p:nvSpPr>
          <p:cNvPr id="18" name="Text 16"/>
          <p:cNvSpPr txBox="1"/>
          <p:nvPr/>
        </p:nvSpPr>
        <p:spPr>
          <a:xfrm>
            <a:off x="8394192" y="2176272"/>
            <a:ext cx="2889504" cy="237744"/>
          </a:xfrm>
          <a:prstGeom prst="rect">
            <a:avLst/>
          </a:prstGeom>
          <a:noFill/>
          <a:ln/>
        </p:spPr>
        <p:txBody>
          <a:bodyPr wrap="square" lIns="0" tIns="0" rIns="0" bIns="0" rtlCol="0" anchor="ctr"/>
          <a:lstStyle/>
          <a:p>
            <a:pPr indent="0" marL="0">
              <a:buNone/>
            </a:pPr>
            <a:r>
              <a:rPr lang="en-US" sz="950" b="1" spc="160" kern="0" dirty="0">
                <a:solidFill>
                  <a:srgbClr val="C9821F"/>
                </a:solidFill>
                <a:latin typeface="Calibri" pitchFamily="34" charset="0"/>
                <a:ea typeface="Calibri" pitchFamily="34" charset="-122"/>
                <a:cs typeface="Calibri" pitchFamily="34" charset="-120"/>
              </a:rPr>
              <a:t>SO WE REFRAMED</a:t>
            </a:r>
            <a:endParaRPr lang="en-US" sz="950" dirty="0"/>
          </a:p>
        </p:txBody>
      </p:sp>
      <p:sp>
        <p:nvSpPr>
          <p:cNvPr id="19" name="Text 17"/>
          <p:cNvSpPr txBox="1"/>
          <p:nvPr/>
        </p:nvSpPr>
        <p:spPr>
          <a:xfrm>
            <a:off x="8394192" y="2468880"/>
            <a:ext cx="2889504" cy="1115568"/>
          </a:xfrm>
          <a:prstGeom prst="rect">
            <a:avLst/>
          </a:prstGeom>
          <a:noFill/>
          <a:ln/>
        </p:spPr>
        <p:txBody>
          <a:bodyPr wrap="square" lIns="0" tIns="0" rIns="0" bIns="0" rtlCol="0" anchor="ctr"/>
          <a:lstStyle/>
          <a:p>
            <a:pPr indent="0" marL="0">
              <a:lnSpc>
                <a:spcPts val="1800"/>
              </a:lnSpc>
              <a:buNone/>
            </a:pPr>
            <a:r>
              <a:rPr lang="en-US" sz="1250" dirty="0">
                <a:solidFill>
                  <a:srgbClr val="D3E0E0"/>
                </a:solidFill>
                <a:latin typeface="Calibri" pitchFamily="34" charset="0"/>
                <a:ea typeface="Calibri" pitchFamily="34" charset="-122"/>
                <a:cs typeface="Calibri" pitchFamily="34" charset="-120"/>
              </a:rPr>
              <a:t>The constraint is not the absence of a connection. It is what a dropped one costs mid-consultation.</a:t>
            </a:r>
            <a:endParaRPr lang="en-US" sz="1250" dirty="0"/>
          </a:p>
        </p:txBody>
      </p:sp>
      <p:sp>
        <p:nvSpPr>
          <p:cNvPr id="20" name="Text 18"/>
          <p:cNvSpPr txBox="1"/>
          <p:nvPr/>
        </p:nvSpPr>
        <p:spPr>
          <a:xfrm>
            <a:off x="4123944" y="2651760"/>
            <a:ext cx="182880" cy="457200"/>
          </a:xfrm>
          <a:prstGeom prst="rect">
            <a:avLst/>
          </a:prstGeom>
          <a:noFill/>
          <a:ln/>
        </p:spPr>
        <p:txBody>
          <a:bodyPr wrap="square" lIns="0" tIns="0" rIns="0" bIns="0" rtlCol="0" anchor="ctr"/>
          <a:lstStyle/>
          <a:p>
            <a:pPr algn="ctr" indent="0" marL="0">
              <a:buNone/>
            </a:pPr>
            <a:r>
              <a:rPr lang="en-US" sz="1700" dirty="0">
                <a:solidFill>
                  <a:srgbClr val="8B9C9D"/>
                </a:solidFill>
                <a:latin typeface="Calibri" pitchFamily="34" charset="0"/>
                <a:ea typeface="Calibri" pitchFamily="34" charset="-122"/>
                <a:cs typeface="Calibri" pitchFamily="34" charset="-120"/>
              </a:rPr>
              <a:t>→</a:t>
            </a:r>
            <a:endParaRPr lang="en-US" sz="1700" dirty="0"/>
          </a:p>
        </p:txBody>
      </p:sp>
      <p:sp>
        <p:nvSpPr>
          <p:cNvPr id="21" name="Text 19"/>
          <p:cNvSpPr txBox="1"/>
          <p:nvPr/>
        </p:nvSpPr>
        <p:spPr>
          <a:xfrm>
            <a:off x="7872984" y="2651760"/>
            <a:ext cx="182880" cy="457200"/>
          </a:xfrm>
          <a:prstGeom prst="rect">
            <a:avLst/>
          </a:prstGeom>
          <a:noFill/>
          <a:ln/>
        </p:spPr>
        <p:txBody>
          <a:bodyPr wrap="square" lIns="0" tIns="0" rIns="0" bIns="0" rtlCol="0" anchor="ctr"/>
          <a:lstStyle/>
          <a:p>
            <a:pPr algn="ctr" indent="0" marL="0">
              <a:buNone/>
            </a:pPr>
            <a:r>
              <a:rPr lang="en-US" sz="1700" dirty="0">
                <a:solidFill>
                  <a:srgbClr val="8B9C9D"/>
                </a:solidFill>
                <a:latin typeface="Calibri" pitchFamily="34" charset="0"/>
                <a:ea typeface="Calibri" pitchFamily="34" charset="-122"/>
                <a:cs typeface="Calibri" pitchFamily="34" charset="-120"/>
              </a:rPr>
              <a:t>→</a:t>
            </a:r>
            <a:endParaRPr lang="en-US" sz="1700" dirty="0"/>
          </a:p>
        </p:txBody>
      </p:sp>
      <p:sp>
        <p:nvSpPr>
          <p:cNvPr id="22" name="Shape 20"/>
          <p:cNvSpPr/>
          <p:nvPr/>
        </p:nvSpPr>
        <p:spPr>
          <a:xfrm>
            <a:off x="640080" y="3986784"/>
            <a:ext cx="3401568" cy="1755648"/>
          </a:xfrm>
          <a:prstGeom prst="roundRect">
            <a:avLst>
              <a:gd name="adj" fmla="val 3646"/>
            </a:avLst>
          </a:prstGeom>
          <a:solidFill>
            <a:srgbClr val="FFFFFF"/>
          </a:solidFill>
          <a:ln w="12700">
            <a:solidFill>
              <a:srgbClr val="DFEAE8"/>
            </a:solidFill>
            <a:prstDash val="solid"/>
          </a:ln>
        </p:spPr>
      </p:sp>
      <p:sp>
        <p:nvSpPr>
          <p:cNvPr id="23" name="Text 21"/>
          <p:cNvSpPr txBox="1"/>
          <p:nvPr/>
        </p:nvSpPr>
        <p:spPr>
          <a:xfrm>
            <a:off x="896112" y="4169664"/>
            <a:ext cx="2889504" cy="237744"/>
          </a:xfrm>
          <a:prstGeom prst="rect">
            <a:avLst/>
          </a:prstGeom>
          <a:noFill/>
          <a:ln/>
        </p:spPr>
        <p:txBody>
          <a:bodyPr wrap="square" lIns="0" tIns="0" rIns="0" bIns="0" rtlCol="0" anchor="ctr"/>
          <a:lstStyle/>
          <a:p>
            <a:pPr indent="0" marL="0">
              <a:buNone/>
            </a:pPr>
            <a:r>
              <a:rPr lang="en-US" sz="950" b="1" spc="160" kern="0" dirty="0">
                <a:solidFill>
                  <a:srgbClr val="A8453A"/>
                </a:solidFill>
                <a:latin typeface="Calibri" pitchFamily="34" charset="0"/>
                <a:ea typeface="Calibri" pitchFamily="34" charset="-122"/>
                <a:cs typeface="Calibri" pitchFamily="34" charset="-120"/>
              </a:rPr>
              <a:t>WE ASSUMED</a:t>
            </a:r>
            <a:endParaRPr lang="en-US" sz="950" dirty="0"/>
          </a:p>
        </p:txBody>
      </p:sp>
      <p:sp>
        <p:nvSpPr>
          <p:cNvPr id="24" name="Text 22"/>
          <p:cNvSpPr txBox="1"/>
          <p:nvPr/>
        </p:nvSpPr>
        <p:spPr>
          <a:xfrm>
            <a:off x="896112" y="4462272"/>
            <a:ext cx="2889504" cy="1115568"/>
          </a:xfrm>
          <a:prstGeom prst="rect">
            <a:avLst/>
          </a:prstGeom>
          <a:noFill/>
          <a:ln/>
        </p:spPr>
        <p:txBody>
          <a:bodyPr wrap="square" lIns="0" tIns="0" rIns="0" bIns="0" rtlCol="0" anchor="ctr"/>
          <a:lstStyle/>
          <a:p>
            <a:pPr indent="0" marL="0">
              <a:lnSpc>
                <a:spcPts val="1800"/>
              </a:lnSpc>
              <a:buNone/>
            </a:pPr>
            <a:r>
              <a:rPr lang="en-US" sz="1250" dirty="0">
                <a:solidFill>
                  <a:srgbClr val="56696A"/>
                </a:solidFill>
                <a:latin typeface="Calibri" pitchFamily="34" charset="0"/>
                <a:ea typeface="Calibri" pitchFamily="34" charset="-122"/>
                <a:cs typeface="Calibri" pitchFamily="34" charset="-120"/>
              </a:rPr>
              <a:t>Give the clinic an electronic record and the paperwork problem goes away.</a:t>
            </a:r>
            <a:endParaRPr lang="en-US" sz="1250" dirty="0"/>
          </a:p>
        </p:txBody>
      </p:sp>
      <p:sp>
        <p:nvSpPr>
          <p:cNvPr id="25" name="Shape 23"/>
          <p:cNvSpPr/>
          <p:nvPr/>
        </p:nvSpPr>
        <p:spPr>
          <a:xfrm>
            <a:off x="4389120" y="3986784"/>
            <a:ext cx="3401568" cy="1755648"/>
          </a:xfrm>
          <a:prstGeom prst="roundRect">
            <a:avLst>
              <a:gd name="adj" fmla="val 3646"/>
            </a:avLst>
          </a:prstGeom>
          <a:solidFill>
            <a:srgbClr val="EFF4F3"/>
          </a:solidFill>
          <a:ln/>
        </p:spPr>
      </p:sp>
      <p:sp>
        <p:nvSpPr>
          <p:cNvPr id="26" name="Text 24"/>
          <p:cNvSpPr txBox="1"/>
          <p:nvPr/>
        </p:nvSpPr>
        <p:spPr>
          <a:xfrm>
            <a:off x="4645152" y="4169664"/>
            <a:ext cx="2889504" cy="237744"/>
          </a:xfrm>
          <a:prstGeom prst="rect">
            <a:avLst/>
          </a:prstGeom>
          <a:noFill/>
          <a:ln/>
        </p:spPr>
        <p:txBody>
          <a:bodyPr wrap="square" lIns="0" tIns="0" rIns="0" bIns="0" rtlCol="0" anchor="ctr"/>
          <a:lstStyle/>
          <a:p>
            <a:pPr indent="0" marL="0">
              <a:buNone/>
            </a:pPr>
            <a:r>
              <a:rPr lang="en-US" sz="950" b="1" spc="160" kern="0" dirty="0">
                <a:solidFill>
                  <a:srgbClr val="0E6E6B"/>
                </a:solidFill>
                <a:latin typeface="Calibri" pitchFamily="34" charset="0"/>
                <a:ea typeface="Calibri" pitchFamily="34" charset="-122"/>
                <a:cs typeface="Calibri" pitchFamily="34" charset="-120"/>
              </a:rPr>
              <a:t>THE EVIDENCE SAID</a:t>
            </a:r>
            <a:endParaRPr lang="en-US" sz="950" dirty="0"/>
          </a:p>
        </p:txBody>
      </p:sp>
      <p:sp>
        <p:nvSpPr>
          <p:cNvPr id="27" name="Text 25"/>
          <p:cNvSpPr txBox="1"/>
          <p:nvPr/>
        </p:nvSpPr>
        <p:spPr>
          <a:xfrm>
            <a:off x="4645152" y="4462272"/>
            <a:ext cx="2889504" cy="1115568"/>
          </a:xfrm>
          <a:prstGeom prst="rect">
            <a:avLst/>
          </a:prstGeom>
          <a:noFill/>
          <a:ln/>
        </p:spPr>
        <p:txBody>
          <a:bodyPr wrap="square" lIns="0" tIns="0" rIns="0" bIns="0" rtlCol="0" anchor="ctr"/>
          <a:lstStyle/>
          <a:p>
            <a:pPr indent="0" marL="0">
              <a:lnSpc>
                <a:spcPts val="1800"/>
              </a:lnSpc>
              <a:buNone/>
            </a:pPr>
            <a:r>
              <a:rPr lang="en-US" sz="1250" dirty="0">
                <a:solidFill>
                  <a:srgbClr val="0B2B2E"/>
                </a:solidFill>
                <a:latin typeface="Calibri" pitchFamily="34" charset="0"/>
                <a:ea typeface="Calibri" pitchFamily="34" charset="-122"/>
                <a:cs typeface="Calibri" pitchFamily="34" charset="-120"/>
              </a:rPr>
              <a:t>Physicians spend 49.2% of office time on records and desk work against 27.0% on direct patient care.</a:t>
            </a:r>
            <a:endParaRPr lang="en-US" sz="1250" dirty="0"/>
          </a:p>
        </p:txBody>
      </p:sp>
      <p:sp>
        <p:nvSpPr>
          <p:cNvPr id="28" name="Shape 26"/>
          <p:cNvSpPr/>
          <p:nvPr/>
        </p:nvSpPr>
        <p:spPr>
          <a:xfrm>
            <a:off x="8138160" y="3986784"/>
            <a:ext cx="3401568" cy="1755648"/>
          </a:xfrm>
          <a:prstGeom prst="roundRect">
            <a:avLst>
              <a:gd name="adj" fmla="val 3646"/>
            </a:avLst>
          </a:prstGeom>
          <a:solidFill>
            <a:srgbClr val="0B2B2E"/>
          </a:solidFill>
          <a:ln/>
          <a:effectLst>
            <a:outerShdw sx="100000" sy="100000" kx="0" ky="0" algn="bl" rotWithShape="0" blurRad="152400" dist="25400" dir="5400000">
              <a:srgbClr val="0B2B2E">
                <a:alpha val="9000"/>
              </a:srgbClr>
            </a:outerShdw>
          </a:effectLst>
        </p:spPr>
      </p:sp>
      <p:sp>
        <p:nvSpPr>
          <p:cNvPr id="29" name="Text 27"/>
          <p:cNvSpPr txBox="1"/>
          <p:nvPr/>
        </p:nvSpPr>
        <p:spPr>
          <a:xfrm>
            <a:off x="8394192" y="4169664"/>
            <a:ext cx="2889504" cy="237744"/>
          </a:xfrm>
          <a:prstGeom prst="rect">
            <a:avLst/>
          </a:prstGeom>
          <a:noFill/>
          <a:ln/>
        </p:spPr>
        <p:txBody>
          <a:bodyPr wrap="square" lIns="0" tIns="0" rIns="0" bIns="0" rtlCol="0" anchor="ctr"/>
          <a:lstStyle/>
          <a:p>
            <a:pPr indent="0" marL="0">
              <a:buNone/>
            </a:pPr>
            <a:r>
              <a:rPr lang="en-US" sz="950" b="1" spc="160" kern="0" dirty="0">
                <a:solidFill>
                  <a:srgbClr val="C9821F"/>
                </a:solidFill>
                <a:latin typeface="Calibri" pitchFamily="34" charset="0"/>
                <a:ea typeface="Calibri" pitchFamily="34" charset="-122"/>
                <a:cs typeface="Calibri" pitchFamily="34" charset="-120"/>
              </a:rPr>
              <a:t>SO WE REFRAMED</a:t>
            </a:r>
            <a:endParaRPr lang="en-US" sz="950" dirty="0"/>
          </a:p>
        </p:txBody>
      </p:sp>
      <p:sp>
        <p:nvSpPr>
          <p:cNvPr id="30" name="Text 28"/>
          <p:cNvSpPr txBox="1"/>
          <p:nvPr/>
        </p:nvSpPr>
        <p:spPr>
          <a:xfrm>
            <a:off x="8394192" y="4462272"/>
            <a:ext cx="2889504" cy="1115568"/>
          </a:xfrm>
          <a:prstGeom prst="rect">
            <a:avLst/>
          </a:prstGeom>
          <a:noFill/>
          <a:ln/>
        </p:spPr>
        <p:txBody>
          <a:bodyPr wrap="square" lIns="0" tIns="0" rIns="0" bIns="0" rtlCol="0" anchor="ctr"/>
          <a:lstStyle/>
          <a:p>
            <a:pPr indent="0" marL="0">
              <a:lnSpc>
                <a:spcPts val="1800"/>
              </a:lnSpc>
              <a:buNone/>
            </a:pPr>
            <a:r>
              <a:rPr lang="en-US" sz="1250" dirty="0">
                <a:solidFill>
                  <a:srgbClr val="D3E0E0"/>
                </a:solidFill>
                <a:latin typeface="Calibri" pitchFamily="34" charset="0"/>
                <a:ea typeface="Calibri" pitchFamily="34" charset="-122"/>
                <a:cs typeface="Calibri" pitchFamily="34" charset="-120"/>
              </a:rPr>
              <a:t>Software that asks a doctor to type during a two-minute visit does not return time. It takes it.</a:t>
            </a:r>
            <a:endParaRPr lang="en-US" sz="1250" dirty="0"/>
          </a:p>
        </p:txBody>
      </p:sp>
      <p:sp>
        <p:nvSpPr>
          <p:cNvPr id="31" name="Text 29"/>
          <p:cNvSpPr txBox="1"/>
          <p:nvPr/>
        </p:nvSpPr>
        <p:spPr>
          <a:xfrm>
            <a:off x="4123944" y="4645152"/>
            <a:ext cx="182880" cy="457200"/>
          </a:xfrm>
          <a:prstGeom prst="rect">
            <a:avLst/>
          </a:prstGeom>
          <a:noFill/>
          <a:ln/>
        </p:spPr>
        <p:txBody>
          <a:bodyPr wrap="square" lIns="0" tIns="0" rIns="0" bIns="0" rtlCol="0" anchor="ctr"/>
          <a:lstStyle/>
          <a:p>
            <a:pPr algn="ctr" indent="0" marL="0">
              <a:buNone/>
            </a:pPr>
            <a:r>
              <a:rPr lang="en-US" sz="1700" dirty="0">
                <a:solidFill>
                  <a:srgbClr val="8B9C9D"/>
                </a:solidFill>
                <a:latin typeface="Calibri" pitchFamily="34" charset="0"/>
                <a:ea typeface="Calibri" pitchFamily="34" charset="-122"/>
                <a:cs typeface="Calibri" pitchFamily="34" charset="-120"/>
              </a:rPr>
              <a:t>→</a:t>
            </a:r>
            <a:endParaRPr lang="en-US" sz="1700" dirty="0"/>
          </a:p>
        </p:txBody>
      </p:sp>
      <p:sp>
        <p:nvSpPr>
          <p:cNvPr id="32" name="Text 30"/>
          <p:cNvSpPr txBox="1"/>
          <p:nvPr/>
        </p:nvSpPr>
        <p:spPr>
          <a:xfrm>
            <a:off x="7872984" y="4645152"/>
            <a:ext cx="182880" cy="457200"/>
          </a:xfrm>
          <a:prstGeom prst="rect">
            <a:avLst/>
          </a:prstGeom>
          <a:noFill/>
          <a:ln/>
        </p:spPr>
        <p:txBody>
          <a:bodyPr wrap="square" lIns="0" tIns="0" rIns="0" bIns="0" rtlCol="0" anchor="ctr"/>
          <a:lstStyle/>
          <a:p>
            <a:pPr algn="ctr" indent="0" marL="0">
              <a:buNone/>
            </a:pPr>
            <a:r>
              <a:rPr lang="en-US" sz="1700" dirty="0">
                <a:solidFill>
                  <a:srgbClr val="8B9C9D"/>
                </a:solidFill>
                <a:latin typeface="Calibri" pitchFamily="34" charset="0"/>
                <a:ea typeface="Calibri" pitchFamily="34" charset="-122"/>
                <a:cs typeface="Calibri" pitchFamily="34" charset="-120"/>
              </a:rPr>
              <a:t>→</a:t>
            </a:r>
            <a:endParaRPr lang="en-US" sz="1700" dirty="0"/>
          </a:p>
        </p:txBody>
      </p:sp>
      <p:sp>
        <p:nvSpPr>
          <p:cNvPr id="33" name="Text 31"/>
          <p:cNvSpPr txBox="1"/>
          <p:nvPr/>
        </p:nvSpPr>
        <p:spPr>
          <a:xfrm>
            <a:off x="640080" y="6291072"/>
            <a:ext cx="10911535" cy="292608"/>
          </a:xfrm>
          <a:prstGeom prst="rect">
            <a:avLst/>
          </a:prstGeom>
          <a:noFill/>
          <a:ln/>
        </p:spPr>
        <p:txBody>
          <a:bodyPr wrap="square" lIns="0" tIns="0" rIns="0" bIns="0" rtlCol="0" anchor="ctr"/>
          <a:lstStyle/>
          <a:p>
            <a:pPr indent="0" marL="0">
              <a:buNone/>
            </a:pPr>
            <a:r>
              <a:rPr lang="en-US" sz="950" dirty="0">
                <a:solidFill>
                  <a:srgbClr val="8B9C9D"/>
                </a:solidFill>
                <a:latin typeface="Calibri" pitchFamily="34" charset="0"/>
                <a:ea typeface="Calibri" pitchFamily="34" charset="-122"/>
                <a:cs typeface="Calibri" pitchFamily="34" charset="-120"/>
              </a:rPr>
              <a:t>NSSO Comprehensive Modular Survey: Telecom, 80th Round (Jan–Mar 2025), MoSPI · Sinsky et al., Annals of Internal Medicine, 2016.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p/>
        </p:txBody>
      </p:sp>
      <p:sp>
        <p:nvSpPr>
          <p:cNvPr id="3" name="Text 1"/>
          <p:cNvSpPr txBox="1"/>
          <p:nvPr/>
        </p:nvSpPr>
        <p:spPr>
          <a:xfrm>
            <a:off x="640080" y="475488"/>
            <a:ext cx="7315200" cy="256032"/>
          </a:xfrm>
          <a:prstGeom prst="rect">
            <a:avLst/>
          </a:prstGeom>
          <a:noFill/>
          <a:ln/>
        </p:spPr>
        <p:txBody>
          <a:bodyPr wrap="square" lIns="0" tIns="0" rIns="0" bIns="0" rtlCol="0" anchor="ctr"/>
          <a:lstStyle/>
          <a:p>
            <a:pPr indent="0" marL="0">
              <a:buNone/>
            </a:pPr>
            <a:r>
              <a:rPr lang="en-US" sz="1100" b="1" spc="240" kern="0" dirty="0">
                <a:solidFill>
                  <a:srgbClr val="0E6E6B"/>
                </a:solidFill>
                <a:latin typeface="Calibri" pitchFamily="34" charset="0"/>
                <a:ea typeface="Calibri" pitchFamily="34" charset="-122"/>
                <a:cs typeface="Calibri" pitchFamily="34" charset="-120"/>
              </a:rPr>
              <a:t>EMPATHIZE</a:t>
            </a:r>
            <a:endParaRPr lang="en-US" sz="1100" dirty="0"/>
          </a:p>
        </p:txBody>
      </p:sp>
      <p:sp>
        <p:nvSpPr>
          <p:cNvPr id="4" name="Text 2"/>
          <p:cNvSpPr txBox="1"/>
          <p:nvPr/>
        </p:nvSpPr>
        <p:spPr>
          <a:xfrm>
            <a:off x="640080" y="822960"/>
            <a:ext cx="9509760" cy="777240"/>
          </a:xfrm>
          <a:prstGeom prst="rect">
            <a:avLst/>
          </a:prstGeom>
          <a:noFill/>
          <a:ln/>
        </p:spPr>
        <p:txBody>
          <a:bodyPr wrap="square" lIns="0" tIns="0" rIns="0" bIns="0" rtlCol="0" anchor="ctr"/>
          <a:lstStyle/>
          <a:p>
            <a:pPr indent="0" marL="0">
              <a:buNone/>
            </a:pPr>
            <a:r>
              <a:rPr lang="en-US" sz="3400" b="1" dirty="0">
                <a:solidFill>
                  <a:srgbClr val="0B2B2E"/>
                </a:solidFill>
                <a:latin typeface="Cambria" pitchFamily="34" charset="0"/>
                <a:ea typeface="Cambria" pitchFamily="34" charset="-122"/>
                <a:cs typeface="Cambria" pitchFamily="34" charset="-120"/>
              </a:rPr>
              <a:t>Who we are designing for</a:t>
            </a:r>
            <a:endParaRPr lang="en-US" sz="3400" dirty="0"/>
          </a:p>
        </p:txBody>
      </p:sp>
      <p:sp>
        <p:nvSpPr>
          <p:cNvPr id="5" name="Text 3"/>
          <p:cNvSpPr txBox="1"/>
          <p:nvPr/>
        </p:nvSpPr>
        <p:spPr>
          <a:xfrm>
            <a:off x="7423099" y="493776"/>
            <a:ext cx="2788920" cy="256032"/>
          </a:xfrm>
          <a:prstGeom prst="rect">
            <a:avLst/>
          </a:prstGeom>
          <a:noFill/>
          <a:ln/>
        </p:spPr>
        <p:txBody>
          <a:bodyPr wrap="square" lIns="0" tIns="0" rIns="0" bIns="0" rtlCol="0" anchor="ctr"/>
          <a:lstStyle/>
          <a:p>
            <a:pPr algn="r" indent="0" marL="0">
              <a:buNone/>
            </a:pPr>
            <a:r>
              <a:rPr lang="en-US" sz="1000" b="1" spc="180" kern="0" dirty="0">
                <a:solidFill>
                  <a:srgbClr val="8B9C9D"/>
                </a:solidFill>
                <a:latin typeface="Calibri" pitchFamily="34" charset="0"/>
                <a:ea typeface="Calibri" pitchFamily="34" charset="-122"/>
                <a:cs typeface="Calibri" pitchFamily="34" charset="-120"/>
              </a:rPr>
              <a:t>EMPATHIZE</a:t>
            </a:r>
            <a:endParaRPr lang="en-US" sz="1000" dirty="0"/>
          </a:p>
        </p:txBody>
      </p:sp>
      <p:sp>
        <p:nvSpPr>
          <p:cNvPr id="6" name="Shape 4"/>
          <p:cNvSpPr/>
          <p:nvPr/>
        </p:nvSpPr>
        <p:spPr>
          <a:xfrm>
            <a:off x="10349179" y="548640"/>
            <a:ext cx="141732" cy="141732"/>
          </a:xfrm>
          <a:prstGeom prst="ellipse">
            <a:avLst/>
          </a:prstGeom>
          <a:solidFill>
            <a:srgbClr val="C9821F"/>
          </a:solidFill>
          <a:ln/>
        </p:spPr>
        <p:txBody>
          <a:bodyPr/>
          <a:p/>
        </p:txBody>
      </p:sp>
      <p:sp>
        <p:nvSpPr>
          <p:cNvPr id="7" name="Shape 5"/>
          <p:cNvSpPr/>
          <p:nvPr/>
        </p:nvSpPr>
        <p:spPr>
          <a:xfrm>
            <a:off x="10614355" y="548640"/>
            <a:ext cx="141732" cy="141732"/>
          </a:xfrm>
          <a:prstGeom prst="ellipse">
            <a:avLst/>
          </a:prstGeom>
          <a:solidFill>
            <a:srgbClr val="DFEAE8"/>
          </a:solidFill>
          <a:ln/>
        </p:spPr>
        <p:txBody>
          <a:bodyPr/>
          <a:p/>
        </p:txBody>
      </p:sp>
      <p:sp>
        <p:nvSpPr>
          <p:cNvPr id="8" name="Shape 6"/>
          <p:cNvSpPr/>
          <p:nvPr/>
        </p:nvSpPr>
        <p:spPr>
          <a:xfrm>
            <a:off x="10879531" y="548640"/>
            <a:ext cx="141732" cy="141732"/>
          </a:xfrm>
          <a:prstGeom prst="ellipse">
            <a:avLst/>
          </a:prstGeom>
          <a:solidFill>
            <a:srgbClr val="DFEAE8"/>
          </a:solidFill>
          <a:ln/>
        </p:spPr>
        <p:txBody>
          <a:bodyPr/>
          <a:p/>
        </p:txBody>
      </p:sp>
      <p:sp>
        <p:nvSpPr>
          <p:cNvPr id="9" name="Shape 7"/>
          <p:cNvSpPr/>
          <p:nvPr/>
        </p:nvSpPr>
        <p:spPr>
          <a:xfrm>
            <a:off x="11144707" y="548640"/>
            <a:ext cx="141732" cy="141732"/>
          </a:xfrm>
          <a:prstGeom prst="ellipse">
            <a:avLst/>
          </a:prstGeom>
          <a:solidFill>
            <a:srgbClr val="DFEAE8"/>
          </a:solidFill>
          <a:ln/>
        </p:spPr>
        <p:txBody>
          <a:bodyPr/>
          <a:p/>
        </p:txBody>
      </p:sp>
      <p:sp>
        <p:nvSpPr>
          <p:cNvPr id="10" name="Shape 8"/>
          <p:cNvSpPr/>
          <p:nvPr/>
        </p:nvSpPr>
        <p:spPr>
          <a:xfrm>
            <a:off x="11409883" y="548640"/>
            <a:ext cx="141732" cy="141732"/>
          </a:xfrm>
          <a:prstGeom prst="ellipse">
            <a:avLst/>
          </a:prstGeom>
          <a:solidFill>
            <a:srgbClr val="DFEAE8"/>
          </a:solidFill>
          <a:ln/>
        </p:spPr>
        <p:txBody>
          <a:bodyPr/>
          <a:p/>
        </p:txBody>
      </p:sp>
      <p:sp>
        <p:nvSpPr>
          <p:cNvPr id="11" name="Shape 9"/>
          <p:cNvSpPr/>
          <p:nvPr/>
        </p:nvSpPr>
        <p:spPr>
          <a:xfrm>
            <a:off x="640080" y="2011680"/>
            <a:ext cx="3977640" cy="3913632"/>
          </a:xfrm>
          <a:prstGeom prst="roundRect">
            <a:avLst>
              <a:gd name="adj" fmla="val 2103"/>
            </a:avLst>
          </a:prstGeom>
          <a:solidFill>
            <a:srgbClr val="0B2B2E"/>
          </a:solidFill>
          <a:ln/>
          <a:effectLst>
            <a:outerShdw sx="100000" sy="100000" kx="0" ky="0" algn="bl" rotWithShape="0" blurRad="152400" dist="25400" dir="5400000">
              <a:srgbClr val="0B2B2E">
                <a:alpha val="9000"/>
              </a:srgbClr>
            </a:outerShdw>
          </a:effectLst>
        </p:spPr>
        <p:txBody>
          <a:bodyPr/>
          <a:p/>
        </p:txBody>
      </p:sp>
      <p:sp>
        <p:nvSpPr>
          <p:cNvPr id="12" name="Shape 10"/>
          <p:cNvSpPr/>
          <p:nvPr/>
        </p:nvSpPr>
        <p:spPr>
          <a:xfrm>
            <a:off x="1024128" y="2377440"/>
            <a:ext cx="960120" cy="960120"/>
          </a:xfrm>
          <a:prstGeom prst="ellipse">
            <a:avLst/>
          </a:prstGeom>
          <a:solidFill>
            <a:srgbClr val="0E6E6B"/>
          </a:solidFill>
          <a:ln/>
        </p:spPr>
        <p:txBody>
          <a:bodyPr/>
          <a:p/>
        </p:txBody>
      </p:sp>
      <p:sp>
        <p:nvSpPr>
          <p:cNvPr id="13" name="Text 11"/>
          <p:cNvSpPr txBox="1"/>
          <p:nvPr/>
        </p:nvSpPr>
        <p:spPr>
          <a:xfrm>
            <a:off x="1024128" y="2377440"/>
            <a:ext cx="960120" cy="96012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AR</a:t>
            </a:r>
            <a:endParaRPr lang="en-US" sz="2400" dirty="0"/>
          </a:p>
        </p:txBody>
      </p:sp>
      <p:sp>
        <p:nvSpPr>
          <p:cNvPr id="14" name="Text 12"/>
          <p:cNvSpPr txBox="1"/>
          <p:nvPr/>
        </p:nvSpPr>
        <p:spPr>
          <a:xfrm>
            <a:off x="1024128" y="3520440"/>
            <a:ext cx="3200400" cy="36576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Dr. A. Roy, 46</a:t>
            </a:r>
            <a:endParaRPr lang="en-US" sz="2200" dirty="0"/>
          </a:p>
        </p:txBody>
      </p:sp>
      <p:sp>
        <p:nvSpPr>
          <p:cNvPr id="15" name="Text 13"/>
          <p:cNvSpPr txBox="1"/>
          <p:nvPr/>
        </p:nvSpPr>
        <p:spPr>
          <a:xfrm>
            <a:off x="1024128" y="3886200"/>
            <a:ext cx="3200400" cy="274320"/>
          </a:xfrm>
          <a:prstGeom prst="rect">
            <a:avLst/>
          </a:prstGeom>
          <a:noFill/>
          <a:ln/>
        </p:spPr>
        <p:txBody>
          <a:bodyPr wrap="square" lIns="0" tIns="0" rIns="0" bIns="0" rtlCol="0" anchor="ctr"/>
          <a:lstStyle/>
          <a:p>
            <a:pPr indent="0" marL="0">
              <a:buNone/>
            </a:pPr>
            <a:r>
              <a:rPr lang="en-US" sz="1250" dirty="0">
                <a:solidFill>
                  <a:srgbClr val="5FB3AB"/>
                </a:solidFill>
                <a:latin typeface="Calibri" pitchFamily="34" charset="0"/>
                <a:ea typeface="Calibri" pitchFamily="34" charset="-122"/>
                <a:cs typeface="Calibri" pitchFamily="34" charset="-120"/>
              </a:rPr>
              <a:t>Solo practitioner · rural India</a:t>
            </a:r>
            <a:endParaRPr lang="en-US" sz="1250" dirty="0"/>
          </a:p>
        </p:txBody>
      </p:sp>
      <p:sp>
        <p:nvSpPr>
          <p:cNvPr id="16" name="Shape 14"/>
          <p:cNvSpPr/>
          <p:nvPr/>
        </p:nvSpPr>
        <p:spPr>
          <a:xfrm>
            <a:off x="1042416" y="4434840"/>
            <a:ext cx="109728" cy="109728"/>
          </a:xfrm>
          <a:prstGeom prst="ellipse">
            <a:avLst/>
          </a:prstGeom>
          <a:solidFill>
            <a:srgbClr val="C9821F"/>
          </a:solidFill>
          <a:ln/>
        </p:spPr>
        <p:txBody>
          <a:bodyPr/>
          <a:p/>
        </p:txBody>
      </p:sp>
      <p:sp>
        <p:nvSpPr>
          <p:cNvPr id="17" name="Text 15"/>
          <p:cNvSpPr txBox="1"/>
          <p:nvPr/>
        </p:nvSpPr>
        <p:spPr>
          <a:xfrm>
            <a:off x="1298448" y="4343400"/>
            <a:ext cx="3017520" cy="310896"/>
          </a:xfrm>
          <a:prstGeom prst="rect">
            <a:avLst/>
          </a:prstGeom>
          <a:noFill/>
          <a:ln/>
        </p:spPr>
        <p:txBody>
          <a:bodyPr wrap="square" lIns="0" tIns="0" rIns="0" bIns="0" rtlCol="0" anchor="ctr"/>
          <a:lstStyle/>
          <a:p>
            <a:pPr indent="0" marL="0">
              <a:buNone/>
            </a:pPr>
            <a:r>
              <a:rPr lang="en-US" sz="1200" dirty="0">
                <a:solidFill>
                  <a:srgbClr val="C3D2D2"/>
                </a:solidFill>
                <a:latin typeface="Calibri" pitchFamily="34" charset="0"/>
                <a:ea typeface="Calibri" pitchFamily="34" charset="-122"/>
                <a:cs typeface="Calibri" pitchFamily="34" charset="-120"/>
              </a:rPr>
              <a:t>40–60 patients on a working day</a:t>
            </a:r>
            <a:endParaRPr lang="en-US" sz="1200" dirty="0"/>
          </a:p>
        </p:txBody>
      </p:sp>
      <p:sp>
        <p:nvSpPr>
          <p:cNvPr id="18" name="Shape 16"/>
          <p:cNvSpPr/>
          <p:nvPr/>
        </p:nvSpPr>
        <p:spPr>
          <a:xfrm>
            <a:off x="1042416" y="4800600"/>
            <a:ext cx="109728" cy="109728"/>
          </a:xfrm>
          <a:prstGeom prst="ellipse">
            <a:avLst/>
          </a:prstGeom>
          <a:solidFill>
            <a:srgbClr val="C9821F"/>
          </a:solidFill>
          <a:ln/>
        </p:spPr>
        <p:txBody>
          <a:bodyPr/>
          <a:p/>
        </p:txBody>
      </p:sp>
      <p:sp>
        <p:nvSpPr>
          <p:cNvPr id="19" name="Text 17"/>
          <p:cNvSpPr txBox="1"/>
          <p:nvPr/>
        </p:nvSpPr>
        <p:spPr>
          <a:xfrm>
            <a:off x="1298448" y="4709160"/>
            <a:ext cx="3017520" cy="310896"/>
          </a:xfrm>
          <a:prstGeom prst="rect">
            <a:avLst/>
          </a:prstGeom>
          <a:noFill/>
          <a:ln/>
        </p:spPr>
        <p:txBody>
          <a:bodyPr wrap="square" lIns="0" tIns="0" rIns="0" bIns="0" rtlCol="0" anchor="ctr"/>
          <a:lstStyle/>
          <a:p>
            <a:pPr indent="0" marL="0">
              <a:buNone/>
            </a:pPr>
            <a:r>
              <a:rPr lang="en-US" sz="1200" dirty="0">
                <a:solidFill>
                  <a:srgbClr val="C3D2D2"/>
                </a:solidFill>
                <a:latin typeface="Calibri" pitchFamily="34" charset="0"/>
                <a:ea typeface="Calibri" pitchFamily="34" charset="-122"/>
                <a:cs typeface="Calibri" pitchFamily="34" charset="-120"/>
              </a:rPr>
              <a:t>No receptionist, no assistant</a:t>
            </a:r>
            <a:endParaRPr lang="en-US" sz="1200" dirty="0"/>
          </a:p>
        </p:txBody>
      </p:sp>
      <p:sp>
        <p:nvSpPr>
          <p:cNvPr id="20" name="Shape 18"/>
          <p:cNvSpPr/>
          <p:nvPr/>
        </p:nvSpPr>
        <p:spPr>
          <a:xfrm>
            <a:off x="1042416" y="5166360"/>
            <a:ext cx="109728" cy="109728"/>
          </a:xfrm>
          <a:prstGeom prst="ellipse">
            <a:avLst/>
          </a:prstGeom>
          <a:solidFill>
            <a:srgbClr val="C9821F"/>
          </a:solidFill>
          <a:ln/>
        </p:spPr>
        <p:txBody>
          <a:bodyPr/>
          <a:p/>
        </p:txBody>
      </p:sp>
      <p:sp>
        <p:nvSpPr>
          <p:cNvPr id="21" name="Text 19"/>
          <p:cNvSpPr txBox="1"/>
          <p:nvPr/>
        </p:nvSpPr>
        <p:spPr>
          <a:xfrm>
            <a:off x="1298448" y="5074920"/>
            <a:ext cx="3017520" cy="310896"/>
          </a:xfrm>
          <a:prstGeom prst="rect">
            <a:avLst/>
          </a:prstGeom>
          <a:noFill/>
          <a:ln/>
        </p:spPr>
        <p:txBody>
          <a:bodyPr wrap="square" lIns="0" tIns="0" rIns="0" bIns="0" rtlCol="0" anchor="ctr"/>
          <a:lstStyle/>
          <a:p>
            <a:pPr indent="0" marL="0">
              <a:buNone/>
            </a:pPr>
            <a:r>
              <a:rPr lang="en-US" sz="1200" dirty="0">
                <a:solidFill>
                  <a:srgbClr val="C3D2D2"/>
                </a:solidFill>
                <a:latin typeface="Calibri" pitchFamily="34" charset="0"/>
                <a:ea typeface="Calibri" pitchFamily="34" charset="-122"/>
                <a:cs typeface="Calibri" pitchFamily="34" charset="-120"/>
              </a:rPr>
              <a:t>One laptop, one paper register</a:t>
            </a:r>
            <a:endParaRPr lang="en-US" sz="1200" dirty="0"/>
          </a:p>
        </p:txBody>
      </p:sp>
      <p:sp>
        <p:nvSpPr>
          <p:cNvPr id="22" name="Shape 20"/>
          <p:cNvSpPr/>
          <p:nvPr/>
        </p:nvSpPr>
        <p:spPr>
          <a:xfrm>
            <a:off x="1042416" y="5532120"/>
            <a:ext cx="109728" cy="109728"/>
          </a:xfrm>
          <a:prstGeom prst="ellipse">
            <a:avLst/>
          </a:prstGeom>
          <a:solidFill>
            <a:srgbClr val="C9821F"/>
          </a:solidFill>
          <a:ln/>
        </p:spPr>
        <p:txBody>
          <a:bodyPr/>
          <a:p/>
        </p:txBody>
      </p:sp>
      <p:sp>
        <p:nvSpPr>
          <p:cNvPr id="23" name="Text 21"/>
          <p:cNvSpPr txBox="1"/>
          <p:nvPr/>
        </p:nvSpPr>
        <p:spPr>
          <a:xfrm>
            <a:off x="1298448" y="5440680"/>
            <a:ext cx="3017520" cy="310896"/>
          </a:xfrm>
          <a:prstGeom prst="rect">
            <a:avLst/>
          </a:prstGeom>
          <a:noFill/>
          <a:ln/>
        </p:spPr>
        <p:txBody>
          <a:bodyPr wrap="square" lIns="0" tIns="0" rIns="0" bIns="0" rtlCol="0" anchor="ctr"/>
          <a:lstStyle/>
          <a:p>
            <a:pPr indent="0" marL="0">
              <a:buNone/>
            </a:pPr>
            <a:r>
              <a:rPr lang="en-US" sz="1200" dirty="0">
                <a:solidFill>
                  <a:srgbClr val="C3D2D2"/>
                </a:solidFill>
                <a:latin typeface="Calibri" pitchFamily="34" charset="0"/>
                <a:ea typeface="Calibri" pitchFamily="34" charset="-122"/>
                <a:cs typeface="Calibri" pitchFamily="34" charset="-120"/>
              </a:rPr>
              <a:t>Fluent in Bengali; writes in English</a:t>
            </a:r>
            <a:endParaRPr lang="en-US" sz="1200" dirty="0"/>
          </a:p>
        </p:txBody>
      </p:sp>
      <p:sp>
        <p:nvSpPr>
          <p:cNvPr id="24" name="Shape 22"/>
          <p:cNvSpPr/>
          <p:nvPr/>
        </p:nvSpPr>
        <p:spPr>
          <a:xfrm>
            <a:off x="4983480" y="2011680"/>
            <a:ext cx="6565392" cy="1225296"/>
          </a:xfrm>
          <a:prstGeom prst="roundRect">
            <a:avLst>
              <a:gd name="adj" fmla="val 5224"/>
            </a:avLst>
          </a:prstGeom>
          <a:solidFill>
            <a:srgbClr val="FFFFFF"/>
          </a:solidFill>
          <a:ln w="12700">
            <a:solidFill>
              <a:srgbClr val="DFEAE8"/>
            </a:solidFill>
            <a:prstDash val="solid"/>
          </a:ln>
          <a:effectLst>
            <a:outerShdw sx="100000" sy="100000" kx="0" ky="0" algn="bl" rotWithShape="0" blurRad="152400" dist="25400" dir="5400000">
              <a:srgbClr val="0B2B2E">
                <a:alpha val="9000"/>
              </a:srgbClr>
            </a:outerShdw>
          </a:effectLst>
        </p:spPr>
        <p:txBody>
          <a:bodyPr/>
          <a:p/>
        </p:txBody>
      </p:sp>
      <p:sp>
        <p:nvSpPr>
          <p:cNvPr id="25" name="Text 23"/>
          <p:cNvSpPr txBox="1"/>
          <p:nvPr/>
        </p:nvSpPr>
        <p:spPr>
          <a:xfrm>
            <a:off x="5285232" y="2185416"/>
            <a:ext cx="5943600" cy="274320"/>
          </a:xfrm>
          <a:prstGeom prst="rect">
            <a:avLst/>
          </a:prstGeom>
          <a:noFill/>
          <a:ln/>
        </p:spPr>
        <p:txBody>
          <a:bodyPr wrap="square" lIns="0" tIns="0" rIns="0" bIns="0" rtlCol="0" anchor="ctr"/>
          <a:lstStyle/>
          <a:p>
            <a:pPr indent="0" marL="0">
              <a:buNone/>
            </a:pPr>
            <a:r>
              <a:rPr lang="en-US" sz="1400" b="1" dirty="0">
                <a:solidFill>
                  <a:srgbClr val="0E6E6B"/>
                </a:solidFill>
                <a:latin typeface="Calibri" pitchFamily="34" charset="0"/>
                <a:ea typeface="Calibri" pitchFamily="34" charset="-122"/>
                <a:cs typeface="Calibri" pitchFamily="34" charset="-120"/>
              </a:rPr>
              <a:t>What he needs</a:t>
            </a:r>
            <a:endParaRPr lang="en-US" sz="1400" dirty="0"/>
          </a:p>
        </p:txBody>
      </p:sp>
      <p:sp>
        <p:nvSpPr>
          <p:cNvPr id="26" name="Text 24"/>
          <p:cNvSpPr txBox="1"/>
          <p:nvPr/>
        </p:nvSpPr>
        <p:spPr>
          <a:xfrm>
            <a:off x="5285232" y="2514600"/>
            <a:ext cx="5989320" cy="621792"/>
          </a:xfrm>
          <a:prstGeom prst="rect">
            <a:avLst/>
          </a:prstGeom>
          <a:noFill/>
          <a:ln/>
        </p:spPr>
        <p:txBody>
          <a:bodyPr wrap="square" lIns="0" tIns="0" rIns="0" bIns="0" rtlCol="0" anchor="ctr"/>
          <a:lstStyle/>
          <a:p>
            <a:pPr indent="0" marL="0">
              <a:lnSpc>
                <a:spcPts val="1900"/>
              </a:lnSpc>
              <a:buNone/>
            </a:pPr>
            <a:r>
              <a:rPr lang="en-US" sz="1300" dirty="0">
                <a:solidFill>
                  <a:srgbClr val="0B2B2E"/>
                </a:solidFill>
                <a:latin typeface="Calibri" pitchFamily="34" charset="0"/>
                <a:ea typeface="Calibri" pitchFamily="34" charset="-122"/>
                <a:cs typeface="Calibri" pitchFamily="34" charset="-120"/>
              </a:rPr>
              <a:t>To finish each visit with a usable written record without spending the visit producing it.</a:t>
            </a:r>
            <a:endParaRPr lang="en-US" sz="1300" dirty="0"/>
          </a:p>
        </p:txBody>
      </p:sp>
      <p:sp>
        <p:nvSpPr>
          <p:cNvPr id="27" name="Shape 25"/>
          <p:cNvSpPr/>
          <p:nvPr/>
        </p:nvSpPr>
        <p:spPr>
          <a:xfrm>
            <a:off x="4983480" y="3355848"/>
            <a:ext cx="6565392" cy="1225296"/>
          </a:xfrm>
          <a:prstGeom prst="roundRect">
            <a:avLst>
              <a:gd name="adj" fmla="val 5224"/>
            </a:avLst>
          </a:prstGeom>
          <a:solidFill>
            <a:srgbClr val="FFFFFF"/>
          </a:solidFill>
          <a:ln w="12700">
            <a:solidFill>
              <a:srgbClr val="DFEAE8"/>
            </a:solidFill>
            <a:prstDash val="solid"/>
          </a:ln>
          <a:effectLst>
            <a:outerShdw sx="100000" sy="100000" kx="0" ky="0" algn="bl" rotWithShape="0" blurRad="152400" dist="25400" dir="5400000">
              <a:srgbClr val="0B2B2E">
                <a:alpha val="9000"/>
              </a:srgbClr>
            </a:outerShdw>
          </a:effectLst>
        </p:spPr>
        <p:txBody>
          <a:bodyPr/>
          <a:p/>
        </p:txBody>
      </p:sp>
      <p:sp>
        <p:nvSpPr>
          <p:cNvPr id="28" name="Text 26"/>
          <p:cNvSpPr txBox="1"/>
          <p:nvPr/>
        </p:nvSpPr>
        <p:spPr>
          <a:xfrm>
            <a:off x="5285232" y="3529584"/>
            <a:ext cx="5943600" cy="274320"/>
          </a:xfrm>
          <a:prstGeom prst="rect">
            <a:avLst/>
          </a:prstGeom>
          <a:noFill/>
          <a:ln/>
        </p:spPr>
        <p:txBody>
          <a:bodyPr wrap="square" lIns="0" tIns="0" rIns="0" bIns="0" rtlCol="0" anchor="ctr"/>
          <a:lstStyle/>
          <a:p>
            <a:pPr indent="0" marL="0">
              <a:buNone/>
            </a:pPr>
            <a:r>
              <a:rPr lang="en-US" sz="1400" b="1" dirty="0">
                <a:solidFill>
                  <a:srgbClr val="0E6E6B"/>
                </a:solidFill>
                <a:latin typeface="Calibri" pitchFamily="34" charset="0"/>
                <a:ea typeface="Calibri" pitchFamily="34" charset="-122"/>
                <a:cs typeface="Calibri" pitchFamily="34" charset="-120"/>
              </a:rPr>
              <a:t>What frustrates him</a:t>
            </a:r>
            <a:endParaRPr lang="en-US" sz="1400" dirty="0"/>
          </a:p>
        </p:txBody>
      </p:sp>
      <p:sp>
        <p:nvSpPr>
          <p:cNvPr id="29" name="Text 27"/>
          <p:cNvSpPr txBox="1"/>
          <p:nvPr/>
        </p:nvSpPr>
        <p:spPr>
          <a:xfrm>
            <a:off x="5285232" y="3858768"/>
            <a:ext cx="5989320" cy="621792"/>
          </a:xfrm>
          <a:prstGeom prst="rect">
            <a:avLst/>
          </a:prstGeom>
          <a:noFill/>
          <a:ln/>
        </p:spPr>
        <p:txBody>
          <a:bodyPr wrap="square" lIns="0" tIns="0" rIns="0" bIns="0" rtlCol="0" anchor="ctr"/>
          <a:lstStyle/>
          <a:p>
            <a:pPr indent="0" marL="0">
              <a:lnSpc>
                <a:spcPts val="1900"/>
              </a:lnSpc>
              <a:buNone/>
            </a:pPr>
            <a:r>
              <a:rPr lang="en-US" sz="1300" dirty="0">
                <a:solidFill>
                  <a:srgbClr val="0B2B2E"/>
                </a:solidFill>
                <a:latin typeface="Calibri" pitchFamily="34" charset="0"/>
                <a:ea typeface="Calibri" pitchFamily="34" charset="-122"/>
                <a:cs typeface="Calibri" pitchFamily="34" charset="-120"/>
              </a:rPr>
              <a:t>Recalling a patient he last saw eight months ago from a line in a register — or not recalling them at all.</a:t>
            </a:r>
            <a:endParaRPr lang="en-US" sz="1300" dirty="0"/>
          </a:p>
        </p:txBody>
      </p:sp>
      <p:sp>
        <p:nvSpPr>
          <p:cNvPr id="30" name="Shape 28"/>
          <p:cNvSpPr/>
          <p:nvPr/>
        </p:nvSpPr>
        <p:spPr>
          <a:xfrm>
            <a:off x="4983480" y="4700016"/>
            <a:ext cx="6565392" cy="1225296"/>
          </a:xfrm>
          <a:prstGeom prst="roundRect">
            <a:avLst>
              <a:gd name="adj" fmla="val 5224"/>
            </a:avLst>
          </a:prstGeom>
          <a:solidFill>
            <a:srgbClr val="EFF4F3"/>
          </a:solidFill>
          <a:ln/>
        </p:spPr>
        <p:txBody>
          <a:bodyPr/>
          <a:p/>
        </p:txBody>
      </p:sp>
      <p:sp>
        <p:nvSpPr>
          <p:cNvPr id="31" name="Text 29"/>
          <p:cNvSpPr txBox="1"/>
          <p:nvPr/>
        </p:nvSpPr>
        <p:spPr>
          <a:xfrm>
            <a:off x="5285232" y="4873752"/>
            <a:ext cx="5943600" cy="274320"/>
          </a:xfrm>
          <a:prstGeom prst="rect">
            <a:avLst/>
          </a:prstGeom>
          <a:noFill/>
          <a:ln/>
        </p:spPr>
        <p:txBody>
          <a:bodyPr wrap="square" lIns="0" tIns="0" rIns="0" bIns="0" rtlCol="0" anchor="ctr"/>
          <a:lstStyle/>
          <a:p>
            <a:pPr indent="0" marL="0">
              <a:buNone/>
            </a:pPr>
            <a:r>
              <a:rPr lang="en-US" sz="1400" b="1" dirty="0">
                <a:solidFill>
                  <a:srgbClr val="A8453A"/>
                </a:solidFill>
                <a:latin typeface="Calibri" pitchFamily="34" charset="0"/>
                <a:ea typeface="Calibri" pitchFamily="34" charset="-122"/>
                <a:cs typeface="Calibri" pitchFamily="34" charset="-120"/>
              </a:rPr>
              <a:t>What he will not tolerate</a:t>
            </a:r>
            <a:endParaRPr lang="en-US" sz="1400" dirty="0"/>
          </a:p>
        </p:txBody>
      </p:sp>
      <p:sp>
        <p:nvSpPr>
          <p:cNvPr id="32" name="Text 30"/>
          <p:cNvSpPr txBox="1"/>
          <p:nvPr/>
        </p:nvSpPr>
        <p:spPr>
          <a:xfrm>
            <a:off x="5285232" y="5202936"/>
            <a:ext cx="5989320" cy="621792"/>
          </a:xfrm>
          <a:prstGeom prst="rect">
            <a:avLst/>
          </a:prstGeom>
          <a:noFill/>
          <a:ln/>
        </p:spPr>
        <p:txBody>
          <a:bodyPr wrap="square" lIns="0" tIns="0" rIns="0" bIns="0" rtlCol="0" anchor="ctr"/>
          <a:lstStyle/>
          <a:p>
            <a:pPr indent="0" marL="0">
              <a:lnSpc>
                <a:spcPts val="1900"/>
              </a:lnSpc>
              <a:buNone/>
            </a:pPr>
            <a:r>
              <a:rPr lang="en-US" sz="1300" dirty="0">
                <a:solidFill>
                  <a:srgbClr val="0B2B2E"/>
                </a:solidFill>
                <a:latin typeface="Calibri" pitchFamily="34" charset="0"/>
                <a:ea typeface="Calibri" pitchFamily="34" charset="-122"/>
                <a:cs typeface="Calibri" pitchFamily="34" charset="-120"/>
              </a:rPr>
              <a:t>Anything that adds a step in front of a waiting patient, or that loses a consultation once.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Text 1"/>
          <p:cNvSpPr txBox="1"/>
          <p:nvPr/>
        </p:nvSpPr>
        <p:spPr>
          <a:xfrm>
            <a:off x="640080" y="475488"/>
            <a:ext cx="7315200" cy="256032"/>
          </a:xfrm>
          <a:prstGeom prst="rect">
            <a:avLst/>
          </a:prstGeom>
          <a:noFill/>
          <a:ln/>
        </p:spPr>
        <p:txBody>
          <a:bodyPr wrap="square" lIns="0" tIns="0" rIns="0" bIns="0" rtlCol="0" anchor="ctr"/>
          <a:lstStyle/>
          <a:p>
            <a:pPr indent="0" marL="0">
              <a:buNone/>
            </a:pPr>
            <a:r>
              <a:rPr lang="en-US" sz="1100" b="1" spc="240" kern="0" dirty="0">
                <a:solidFill>
                  <a:srgbClr val="0E6E6B"/>
                </a:solidFill>
                <a:latin typeface="Calibri" pitchFamily="34" charset="0"/>
                <a:ea typeface="Calibri" pitchFamily="34" charset="-122"/>
                <a:cs typeface="Calibri" pitchFamily="34" charset="-120"/>
              </a:rPr>
              <a:t>EMPATHIZE</a:t>
            </a:r>
            <a:endParaRPr lang="en-US" sz="1100" dirty="0"/>
          </a:p>
        </p:txBody>
      </p:sp>
      <p:sp>
        <p:nvSpPr>
          <p:cNvPr id="4" name="Text 2"/>
          <p:cNvSpPr txBox="1"/>
          <p:nvPr/>
        </p:nvSpPr>
        <p:spPr>
          <a:xfrm>
            <a:off x="640080" y="822960"/>
            <a:ext cx="9509760" cy="777240"/>
          </a:xfrm>
          <a:prstGeom prst="rect">
            <a:avLst/>
          </a:prstGeom>
          <a:noFill/>
          <a:ln/>
        </p:spPr>
        <p:txBody>
          <a:bodyPr wrap="square" lIns="0" tIns="0" rIns="0" bIns="0" rtlCol="0" anchor="ctr"/>
          <a:lstStyle/>
          <a:p>
            <a:pPr indent="0" marL="0">
              <a:buNone/>
            </a:pPr>
            <a:r>
              <a:rPr lang="en-US" sz="3400" b="1" dirty="0">
                <a:solidFill>
                  <a:srgbClr val="0B2B2E"/>
                </a:solidFill>
                <a:latin typeface="Cambria" pitchFamily="34" charset="0"/>
                <a:ea typeface="Cambria" pitchFamily="34" charset="-122"/>
                <a:cs typeface="Cambria" pitchFamily="34" charset="-120"/>
              </a:rPr>
              <a:t>The consultation as it happens today</a:t>
            </a:r>
            <a:endParaRPr lang="en-US" sz="3400" dirty="0"/>
          </a:p>
        </p:txBody>
      </p:sp>
      <p:sp>
        <p:nvSpPr>
          <p:cNvPr id="5" name="Text 3"/>
          <p:cNvSpPr txBox="1"/>
          <p:nvPr/>
        </p:nvSpPr>
        <p:spPr>
          <a:xfrm>
            <a:off x="7423099" y="493776"/>
            <a:ext cx="2788920" cy="256032"/>
          </a:xfrm>
          <a:prstGeom prst="rect">
            <a:avLst/>
          </a:prstGeom>
          <a:noFill/>
          <a:ln/>
        </p:spPr>
        <p:txBody>
          <a:bodyPr wrap="square" lIns="0" tIns="0" rIns="0" bIns="0" rtlCol="0" anchor="ctr"/>
          <a:lstStyle/>
          <a:p>
            <a:pPr algn="r" indent="0" marL="0">
              <a:buNone/>
            </a:pPr>
            <a:r>
              <a:rPr lang="en-US" sz="1000" b="1" spc="180" kern="0" dirty="0">
                <a:solidFill>
                  <a:srgbClr val="8B9C9D"/>
                </a:solidFill>
                <a:latin typeface="Calibri" pitchFamily="34" charset="0"/>
                <a:ea typeface="Calibri" pitchFamily="34" charset="-122"/>
                <a:cs typeface="Calibri" pitchFamily="34" charset="-120"/>
              </a:rPr>
              <a:t>EMPATHIZE</a:t>
            </a:r>
            <a:endParaRPr lang="en-US" sz="1000" dirty="0"/>
          </a:p>
        </p:txBody>
      </p:sp>
      <p:sp>
        <p:nvSpPr>
          <p:cNvPr id="6" name="Shape 4"/>
          <p:cNvSpPr/>
          <p:nvPr/>
        </p:nvSpPr>
        <p:spPr>
          <a:xfrm>
            <a:off x="10349179" y="548640"/>
            <a:ext cx="141732" cy="141732"/>
          </a:xfrm>
          <a:prstGeom prst="ellipse">
            <a:avLst/>
          </a:prstGeom>
          <a:solidFill>
            <a:srgbClr val="C9821F"/>
          </a:solidFill>
          <a:ln/>
        </p:spPr>
      </p:sp>
      <p:sp>
        <p:nvSpPr>
          <p:cNvPr id="7" name="Shape 5"/>
          <p:cNvSpPr/>
          <p:nvPr/>
        </p:nvSpPr>
        <p:spPr>
          <a:xfrm>
            <a:off x="10614355" y="548640"/>
            <a:ext cx="141732" cy="141732"/>
          </a:xfrm>
          <a:prstGeom prst="ellipse">
            <a:avLst/>
          </a:prstGeom>
          <a:solidFill>
            <a:srgbClr val="DFEAE8"/>
          </a:solidFill>
          <a:ln/>
        </p:spPr>
      </p:sp>
      <p:sp>
        <p:nvSpPr>
          <p:cNvPr id="8" name="Shape 6"/>
          <p:cNvSpPr/>
          <p:nvPr/>
        </p:nvSpPr>
        <p:spPr>
          <a:xfrm>
            <a:off x="10879531" y="548640"/>
            <a:ext cx="141732" cy="141732"/>
          </a:xfrm>
          <a:prstGeom prst="ellipse">
            <a:avLst/>
          </a:prstGeom>
          <a:solidFill>
            <a:srgbClr val="DFEAE8"/>
          </a:solidFill>
          <a:ln/>
        </p:spPr>
      </p:sp>
      <p:sp>
        <p:nvSpPr>
          <p:cNvPr id="9" name="Shape 7"/>
          <p:cNvSpPr/>
          <p:nvPr/>
        </p:nvSpPr>
        <p:spPr>
          <a:xfrm>
            <a:off x="11144707" y="548640"/>
            <a:ext cx="141732" cy="141732"/>
          </a:xfrm>
          <a:prstGeom prst="ellipse">
            <a:avLst/>
          </a:prstGeom>
          <a:solidFill>
            <a:srgbClr val="DFEAE8"/>
          </a:solidFill>
          <a:ln/>
        </p:spPr>
      </p:sp>
      <p:sp>
        <p:nvSpPr>
          <p:cNvPr id="10" name="Shape 8"/>
          <p:cNvSpPr/>
          <p:nvPr/>
        </p:nvSpPr>
        <p:spPr>
          <a:xfrm>
            <a:off x="11409883" y="548640"/>
            <a:ext cx="141732" cy="141732"/>
          </a:xfrm>
          <a:prstGeom prst="ellipse">
            <a:avLst/>
          </a:prstGeom>
          <a:solidFill>
            <a:srgbClr val="DFEAE8"/>
          </a:solidFill>
          <a:ln/>
        </p:spPr>
      </p:sp>
      <p:sp>
        <p:nvSpPr>
          <p:cNvPr id="11" name="Shape 9"/>
          <p:cNvSpPr/>
          <p:nvPr/>
        </p:nvSpPr>
        <p:spPr>
          <a:xfrm>
            <a:off x="640080" y="1965960"/>
            <a:ext cx="1650949" cy="841248"/>
          </a:xfrm>
          <a:prstGeom prst="roundRect">
            <a:avLst>
              <a:gd name="adj" fmla="val 7609"/>
            </a:avLst>
          </a:prstGeom>
          <a:solidFill>
            <a:srgbClr val="EFF4F3"/>
          </a:solidFill>
          <a:ln/>
        </p:spPr>
      </p:sp>
      <p:sp>
        <p:nvSpPr>
          <p:cNvPr id="12" name="Text 10"/>
          <p:cNvSpPr txBox="1"/>
          <p:nvPr/>
        </p:nvSpPr>
        <p:spPr>
          <a:xfrm>
            <a:off x="786384" y="2084832"/>
            <a:ext cx="274320" cy="237744"/>
          </a:xfrm>
          <a:prstGeom prst="rect">
            <a:avLst/>
          </a:prstGeom>
          <a:noFill/>
          <a:ln/>
        </p:spPr>
        <p:txBody>
          <a:bodyPr wrap="square" lIns="0" tIns="0" rIns="0" bIns="0" rtlCol="0" anchor="ctr"/>
          <a:lstStyle/>
          <a:p>
            <a:pPr indent="0" marL="0">
              <a:buNone/>
            </a:pPr>
            <a:r>
              <a:rPr lang="en-US" sz="1050" b="1" dirty="0">
                <a:solidFill>
                  <a:srgbClr val="C9821F"/>
                </a:solidFill>
                <a:latin typeface="Calibri" pitchFamily="34" charset="0"/>
                <a:ea typeface="Calibri" pitchFamily="34" charset="-122"/>
                <a:cs typeface="Calibri" pitchFamily="34" charset="-120"/>
              </a:rPr>
              <a:t>1</a:t>
            </a:r>
            <a:endParaRPr lang="en-US" sz="1050" dirty="0"/>
          </a:p>
        </p:txBody>
      </p:sp>
      <p:sp>
        <p:nvSpPr>
          <p:cNvPr id="13" name="Text 11"/>
          <p:cNvSpPr txBox="1"/>
          <p:nvPr/>
        </p:nvSpPr>
        <p:spPr>
          <a:xfrm>
            <a:off x="786384" y="2286000"/>
            <a:ext cx="1358341" cy="457200"/>
          </a:xfrm>
          <a:prstGeom prst="rect">
            <a:avLst/>
          </a:prstGeom>
          <a:noFill/>
          <a:ln/>
        </p:spPr>
        <p:txBody>
          <a:bodyPr wrap="square" lIns="0" tIns="0" rIns="0" bIns="0" rtlCol="0" anchor="ctr"/>
          <a:lstStyle/>
          <a:p>
            <a:pPr indent="0" marL="0">
              <a:lnSpc>
                <a:spcPts val="1500"/>
              </a:lnSpc>
              <a:buNone/>
            </a:pPr>
            <a:r>
              <a:rPr lang="en-US" sz="1250" b="1" dirty="0">
                <a:solidFill>
                  <a:srgbClr val="0B2B2E"/>
                </a:solidFill>
                <a:latin typeface="Calibri" pitchFamily="34" charset="0"/>
                <a:ea typeface="Calibri" pitchFamily="34" charset="-122"/>
                <a:cs typeface="Calibri" pitchFamily="34" charset="-120"/>
              </a:rPr>
              <a:t>Patient</a:t>
            </a:r>
            <a:endParaRPr lang="en-US" sz="1250" dirty="0"/>
          </a:p>
          <a:p>
            <a:pPr indent="0" marL="0">
              <a:lnSpc>
                <a:spcPts val="1500"/>
              </a:lnSpc>
              <a:buNone/>
            </a:pPr>
            <a:r>
              <a:rPr lang="en-US" sz="1250" b="1" dirty="0">
                <a:solidFill>
                  <a:srgbClr val="0B2B2E"/>
                </a:solidFill>
                <a:latin typeface="Calibri" pitchFamily="34" charset="0"/>
                <a:ea typeface="Calibri" pitchFamily="34" charset="-122"/>
                <a:cs typeface="Calibri" pitchFamily="34" charset="-120"/>
              </a:rPr>
              <a:t>arrives</a:t>
            </a:r>
            <a:endParaRPr lang="en-US" sz="1250" dirty="0"/>
          </a:p>
        </p:txBody>
      </p:sp>
      <p:sp>
        <p:nvSpPr>
          <p:cNvPr id="14" name="Shape 12"/>
          <p:cNvSpPr/>
          <p:nvPr/>
        </p:nvSpPr>
        <p:spPr>
          <a:xfrm>
            <a:off x="786384" y="4005072"/>
            <a:ext cx="1358341" cy="219456"/>
          </a:xfrm>
          <a:prstGeom prst="rect">
            <a:avLst/>
          </a:prstGeom>
          <a:solidFill>
            <a:srgbClr val="B9CCCB"/>
          </a:solidFill>
          <a:ln/>
        </p:spPr>
      </p:sp>
      <p:sp>
        <p:nvSpPr>
          <p:cNvPr id="15" name="Shape 13"/>
          <p:cNvSpPr/>
          <p:nvPr/>
        </p:nvSpPr>
        <p:spPr>
          <a:xfrm>
            <a:off x="2492197" y="1965960"/>
            <a:ext cx="1650949" cy="841248"/>
          </a:xfrm>
          <a:prstGeom prst="roundRect">
            <a:avLst>
              <a:gd name="adj" fmla="val 7609"/>
            </a:avLst>
          </a:prstGeom>
          <a:solidFill>
            <a:srgbClr val="EFF4F3"/>
          </a:solidFill>
          <a:ln/>
        </p:spPr>
      </p:sp>
      <p:sp>
        <p:nvSpPr>
          <p:cNvPr id="16" name="Text 14"/>
          <p:cNvSpPr txBox="1"/>
          <p:nvPr/>
        </p:nvSpPr>
        <p:spPr>
          <a:xfrm>
            <a:off x="2638501" y="2084832"/>
            <a:ext cx="274320" cy="237744"/>
          </a:xfrm>
          <a:prstGeom prst="rect">
            <a:avLst/>
          </a:prstGeom>
          <a:noFill/>
          <a:ln/>
        </p:spPr>
        <p:txBody>
          <a:bodyPr wrap="square" lIns="0" tIns="0" rIns="0" bIns="0" rtlCol="0" anchor="ctr"/>
          <a:lstStyle/>
          <a:p>
            <a:pPr indent="0" marL="0">
              <a:buNone/>
            </a:pPr>
            <a:r>
              <a:rPr lang="en-US" sz="1050" b="1" dirty="0">
                <a:solidFill>
                  <a:srgbClr val="C9821F"/>
                </a:solidFill>
                <a:latin typeface="Calibri" pitchFamily="34" charset="0"/>
                <a:ea typeface="Calibri" pitchFamily="34" charset="-122"/>
                <a:cs typeface="Calibri" pitchFamily="34" charset="-120"/>
              </a:rPr>
              <a:t>2</a:t>
            </a:r>
            <a:endParaRPr lang="en-US" sz="1050" dirty="0"/>
          </a:p>
        </p:txBody>
      </p:sp>
      <p:sp>
        <p:nvSpPr>
          <p:cNvPr id="17" name="Text 15"/>
          <p:cNvSpPr txBox="1"/>
          <p:nvPr/>
        </p:nvSpPr>
        <p:spPr>
          <a:xfrm>
            <a:off x="2638501" y="2286000"/>
            <a:ext cx="1358341" cy="457200"/>
          </a:xfrm>
          <a:prstGeom prst="rect">
            <a:avLst/>
          </a:prstGeom>
          <a:noFill/>
          <a:ln/>
        </p:spPr>
        <p:txBody>
          <a:bodyPr wrap="square" lIns="0" tIns="0" rIns="0" bIns="0" rtlCol="0" anchor="ctr"/>
          <a:lstStyle/>
          <a:p>
            <a:pPr indent="0" marL="0">
              <a:lnSpc>
                <a:spcPts val="1500"/>
              </a:lnSpc>
              <a:buNone/>
            </a:pPr>
            <a:r>
              <a:rPr lang="en-US" sz="1250" b="1" dirty="0">
                <a:solidFill>
                  <a:srgbClr val="0B2B2E"/>
                </a:solidFill>
                <a:latin typeface="Calibri" pitchFamily="34" charset="0"/>
                <a:ea typeface="Calibri" pitchFamily="34" charset="-122"/>
                <a:cs typeface="Calibri" pitchFamily="34" charset="-120"/>
              </a:rPr>
              <a:t>History</a:t>
            </a:r>
            <a:endParaRPr lang="en-US" sz="1250" dirty="0"/>
          </a:p>
          <a:p>
            <a:pPr indent="0" marL="0">
              <a:lnSpc>
                <a:spcPts val="1500"/>
              </a:lnSpc>
              <a:buNone/>
            </a:pPr>
            <a:r>
              <a:rPr lang="en-US" sz="1250" b="1" dirty="0">
                <a:solidFill>
                  <a:srgbClr val="0B2B2E"/>
                </a:solidFill>
                <a:latin typeface="Calibri" pitchFamily="34" charset="0"/>
                <a:ea typeface="Calibri" pitchFamily="34" charset="-122"/>
                <a:cs typeface="Calibri" pitchFamily="34" charset="-120"/>
              </a:rPr>
              <a:t>taken</a:t>
            </a:r>
            <a:endParaRPr lang="en-US" sz="1250" dirty="0"/>
          </a:p>
        </p:txBody>
      </p:sp>
      <p:sp>
        <p:nvSpPr>
          <p:cNvPr id="18" name="Shape 16"/>
          <p:cNvSpPr/>
          <p:nvPr/>
        </p:nvSpPr>
        <p:spPr>
          <a:xfrm>
            <a:off x="2638501" y="3840480"/>
            <a:ext cx="1358341" cy="384048"/>
          </a:xfrm>
          <a:prstGeom prst="rect">
            <a:avLst/>
          </a:prstGeom>
          <a:solidFill>
            <a:srgbClr val="B9CCCB"/>
          </a:solidFill>
          <a:ln/>
        </p:spPr>
      </p:sp>
      <p:sp>
        <p:nvSpPr>
          <p:cNvPr id="19" name="Shape 17"/>
          <p:cNvSpPr/>
          <p:nvPr/>
        </p:nvSpPr>
        <p:spPr>
          <a:xfrm>
            <a:off x="4344314" y="1965960"/>
            <a:ext cx="1650949" cy="841248"/>
          </a:xfrm>
          <a:prstGeom prst="roundRect">
            <a:avLst>
              <a:gd name="adj" fmla="val 7609"/>
            </a:avLst>
          </a:prstGeom>
          <a:solidFill>
            <a:srgbClr val="EFF4F3"/>
          </a:solidFill>
          <a:ln/>
        </p:spPr>
      </p:sp>
      <p:sp>
        <p:nvSpPr>
          <p:cNvPr id="20" name="Text 18"/>
          <p:cNvSpPr txBox="1"/>
          <p:nvPr/>
        </p:nvSpPr>
        <p:spPr>
          <a:xfrm>
            <a:off x="4490618" y="2084832"/>
            <a:ext cx="274320" cy="237744"/>
          </a:xfrm>
          <a:prstGeom prst="rect">
            <a:avLst/>
          </a:prstGeom>
          <a:noFill/>
          <a:ln/>
        </p:spPr>
        <p:txBody>
          <a:bodyPr wrap="square" lIns="0" tIns="0" rIns="0" bIns="0" rtlCol="0" anchor="ctr"/>
          <a:lstStyle/>
          <a:p>
            <a:pPr indent="0" marL="0">
              <a:buNone/>
            </a:pPr>
            <a:r>
              <a:rPr lang="en-US" sz="1050" b="1" dirty="0">
                <a:solidFill>
                  <a:srgbClr val="C9821F"/>
                </a:solidFill>
                <a:latin typeface="Calibri" pitchFamily="34" charset="0"/>
                <a:ea typeface="Calibri" pitchFamily="34" charset="-122"/>
                <a:cs typeface="Calibri" pitchFamily="34" charset="-120"/>
              </a:rPr>
              <a:t>3</a:t>
            </a:r>
            <a:endParaRPr lang="en-US" sz="1050" dirty="0"/>
          </a:p>
        </p:txBody>
      </p:sp>
      <p:sp>
        <p:nvSpPr>
          <p:cNvPr id="21" name="Text 19"/>
          <p:cNvSpPr txBox="1"/>
          <p:nvPr/>
        </p:nvSpPr>
        <p:spPr>
          <a:xfrm>
            <a:off x="4490618" y="2286000"/>
            <a:ext cx="1358341" cy="457200"/>
          </a:xfrm>
          <a:prstGeom prst="rect">
            <a:avLst/>
          </a:prstGeom>
          <a:noFill/>
          <a:ln/>
        </p:spPr>
        <p:txBody>
          <a:bodyPr wrap="square" lIns="0" tIns="0" rIns="0" bIns="0" rtlCol="0" anchor="ctr"/>
          <a:lstStyle/>
          <a:p>
            <a:pPr indent="0" marL="0">
              <a:lnSpc>
                <a:spcPts val="1500"/>
              </a:lnSpc>
              <a:buNone/>
            </a:pPr>
            <a:r>
              <a:rPr lang="en-US" sz="1250" b="1" dirty="0">
                <a:solidFill>
                  <a:srgbClr val="0B2B2E"/>
                </a:solidFill>
                <a:latin typeface="Calibri" pitchFamily="34" charset="0"/>
                <a:ea typeface="Calibri" pitchFamily="34" charset="-122"/>
                <a:cs typeface="Calibri" pitchFamily="34" charset="-120"/>
              </a:rPr>
              <a:t>Examination</a:t>
            </a:r>
            <a:endParaRPr lang="en-US" sz="1250" dirty="0"/>
          </a:p>
        </p:txBody>
      </p:sp>
      <p:sp>
        <p:nvSpPr>
          <p:cNvPr id="22" name="Shape 20"/>
          <p:cNvSpPr/>
          <p:nvPr/>
        </p:nvSpPr>
        <p:spPr>
          <a:xfrm>
            <a:off x="4490618" y="3922776"/>
            <a:ext cx="1358341" cy="301752"/>
          </a:xfrm>
          <a:prstGeom prst="rect">
            <a:avLst/>
          </a:prstGeom>
          <a:solidFill>
            <a:srgbClr val="B9CCCB"/>
          </a:solidFill>
          <a:ln/>
        </p:spPr>
      </p:sp>
      <p:sp>
        <p:nvSpPr>
          <p:cNvPr id="23" name="Shape 21"/>
          <p:cNvSpPr/>
          <p:nvPr/>
        </p:nvSpPr>
        <p:spPr>
          <a:xfrm>
            <a:off x="6196432" y="1965960"/>
            <a:ext cx="1650949" cy="841248"/>
          </a:xfrm>
          <a:prstGeom prst="roundRect">
            <a:avLst>
              <a:gd name="adj" fmla="val 7609"/>
            </a:avLst>
          </a:prstGeom>
          <a:solidFill>
            <a:srgbClr val="EFF4F3"/>
          </a:solidFill>
          <a:ln/>
        </p:spPr>
      </p:sp>
      <p:sp>
        <p:nvSpPr>
          <p:cNvPr id="24" name="Text 22"/>
          <p:cNvSpPr txBox="1"/>
          <p:nvPr/>
        </p:nvSpPr>
        <p:spPr>
          <a:xfrm>
            <a:off x="6342736" y="2084832"/>
            <a:ext cx="274320" cy="237744"/>
          </a:xfrm>
          <a:prstGeom prst="rect">
            <a:avLst/>
          </a:prstGeom>
          <a:noFill/>
          <a:ln/>
        </p:spPr>
        <p:txBody>
          <a:bodyPr wrap="square" lIns="0" tIns="0" rIns="0" bIns="0" rtlCol="0" anchor="ctr"/>
          <a:lstStyle/>
          <a:p>
            <a:pPr indent="0" marL="0">
              <a:buNone/>
            </a:pPr>
            <a:r>
              <a:rPr lang="en-US" sz="1050" b="1" dirty="0">
                <a:solidFill>
                  <a:srgbClr val="C9821F"/>
                </a:solidFill>
                <a:latin typeface="Calibri" pitchFamily="34" charset="0"/>
                <a:ea typeface="Calibri" pitchFamily="34" charset="-122"/>
                <a:cs typeface="Calibri" pitchFamily="34" charset="-120"/>
              </a:rPr>
              <a:t>4</a:t>
            </a:r>
            <a:endParaRPr lang="en-US" sz="1050" dirty="0"/>
          </a:p>
        </p:txBody>
      </p:sp>
      <p:sp>
        <p:nvSpPr>
          <p:cNvPr id="25" name="Text 23"/>
          <p:cNvSpPr txBox="1"/>
          <p:nvPr/>
        </p:nvSpPr>
        <p:spPr>
          <a:xfrm>
            <a:off x="6342736" y="2286000"/>
            <a:ext cx="1358341" cy="457200"/>
          </a:xfrm>
          <a:prstGeom prst="rect">
            <a:avLst/>
          </a:prstGeom>
          <a:noFill/>
          <a:ln/>
        </p:spPr>
        <p:txBody>
          <a:bodyPr wrap="square" lIns="0" tIns="0" rIns="0" bIns="0" rtlCol="0" anchor="ctr"/>
          <a:lstStyle/>
          <a:p>
            <a:pPr indent="0" marL="0">
              <a:lnSpc>
                <a:spcPts val="1500"/>
              </a:lnSpc>
              <a:buNone/>
            </a:pPr>
            <a:r>
              <a:rPr lang="en-US" sz="1250" b="1" dirty="0">
                <a:solidFill>
                  <a:srgbClr val="0B2B2E"/>
                </a:solidFill>
                <a:latin typeface="Calibri" pitchFamily="34" charset="0"/>
                <a:ea typeface="Calibri" pitchFamily="34" charset="-122"/>
                <a:cs typeface="Calibri" pitchFamily="34" charset="-120"/>
              </a:rPr>
              <a:t>Explanation</a:t>
            </a:r>
            <a:endParaRPr lang="en-US" sz="1250" dirty="0"/>
          </a:p>
          <a:p>
            <a:pPr indent="0" marL="0">
              <a:lnSpc>
                <a:spcPts val="1500"/>
              </a:lnSpc>
              <a:buNone/>
            </a:pPr>
            <a:r>
              <a:rPr lang="en-US" sz="1250" b="1" dirty="0">
                <a:solidFill>
                  <a:srgbClr val="0B2B2E"/>
                </a:solidFill>
                <a:latin typeface="Calibri" pitchFamily="34" charset="0"/>
                <a:ea typeface="Calibri" pitchFamily="34" charset="-122"/>
                <a:cs typeface="Calibri" pitchFamily="34" charset="-120"/>
              </a:rPr>
              <a:t>given</a:t>
            </a:r>
            <a:endParaRPr lang="en-US" sz="1250" dirty="0"/>
          </a:p>
        </p:txBody>
      </p:sp>
      <p:sp>
        <p:nvSpPr>
          <p:cNvPr id="26" name="Shape 24"/>
          <p:cNvSpPr/>
          <p:nvPr/>
        </p:nvSpPr>
        <p:spPr>
          <a:xfrm>
            <a:off x="6342736" y="4069080"/>
            <a:ext cx="1358341" cy="155448"/>
          </a:xfrm>
          <a:prstGeom prst="rect">
            <a:avLst/>
          </a:prstGeom>
          <a:solidFill>
            <a:srgbClr val="B9CCCB"/>
          </a:solidFill>
          <a:ln/>
        </p:spPr>
      </p:sp>
      <p:sp>
        <p:nvSpPr>
          <p:cNvPr id="27" name="Shape 25"/>
          <p:cNvSpPr/>
          <p:nvPr/>
        </p:nvSpPr>
        <p:spPr>
          <a:xfrm>
            <a:off x="8048549" y="1965960"/>
            <a:ext cx="1650949" cy="841248"/>
          </a:xfrm>
          <a:prstGeom prst="roundRect">
            <a:avLst>
              <a:gd name="adj" fmla="val 7609"/>
            </a:avLst>
          </a:prstGeom>
          <a:solidFill>
            <a:srgbClr val="EFF4F3"/>
          </a:solidFill>
          <a:ln/>
        </p:spPr>
      </p:sp>
      <p:sp>
        <p:nvSpPr>
          <p:cNvPr id="28" name="Text 26"/>
          <p:cNvSpPr txBox="1"/>
          <p:nvPr/>
        </p:nvSpPr>
        <p:spPr>
          <a:xfrm>
            <a:off x="8194853" y="2084832"/>
            <a:ext cx="274320" cy="237744"/>
          </a:xfrm>
          <a:prstGeom prst="rect">
            <a:avLst/>
          </a:prstGeom>
          <a:noFill/>
          <a:ln/>
        </p:spPr>
        <p:txBody>
          <a:bodyPr wrap="square" lIns="0" tIns="0" rIns="0" bIns="0" rtlCol="0" anchor="ctr"/>
          <a:lstStyle/>
          <a:p>
            <a:pPr indent="0" marL="0">
              <a:buNone/>
            </a:pPr>
            <a:r>
              <a:rPr lang="en-US" sz="1050" b="1" dirty="0">
                <a:solidFill>
                  <a:srgbClr val="C9821F"/>
                </a:solidFill>
                <a:latin typeface="Calibri" pitchFamily="34" charset="0"/>
                <a:ea typeface="Calibri" pitchFamily="34" charset="-122"/>
                <a:cs typeface="Calibri" pitchFamily="34" charset="-120"/>
              </a:rPr>
              <a:t>5</a:t>
            </a:r>
            <a:endParaRPr lang="en-US" sz="1050" dirty="0"/>
          </a:p>
        </p:txBody>
      </p:sp>
      <p:sp>
        <p:nvSpPr>
          <p:cNvPr id="29" name="Text 27"/>
          <p:cNvSpPr txBox="1"/>
          <p:nvPr/>
        </p:nvSpPr>
        <p:spPr>
          <a:xfrm>
            <a:off x="8194853" y="2286000"/>
            <a:ext cx="1358341" cy="457200"/>
          </a:xfrm>
          <a:prstGeom prst="rect">
            <a:avLst/>
          </a:prstGeom>
          <a:noFill/>
          <a:ln/>
        </p:spPr>
        <p:txBody>
          <a:bodyPr wrap="square" lIns="0" tIns="0" rIns="0" bIns="0" rtlCol="0" anchor="ctr"/>
          <a:lstStyle/>
          <a:p>
            <a:pPr indent="0" marL="0">
              <a:lnSpc>
                <a:spcPts val="1500"/>
              </a:lnSpc>
              <a:buNone/>
            </a:pPr>
            <a:r>
              <a:rPr lang="en-US" sz="1250" b="1" dirty="0">
                <a:solidFill>
                  <a:srgbClr val="0B2B2E"/>
                </a:solidFill>
                <a:latin typeface="Calibri" pitchFamily="34" charset="0"/>
                <a:ea typeface="Calibri" pitchFamily="34" charset="-122"/>
                <a:cs typeface="Calibri" pitchFamily="34" charset="-120"/>
              </a:rPr>
              <a:t>Prescription</a:t>
            </a:r>
            <a:endParaRPr lang="en-US" sz="1250" dirty="0"/>
          </a:p>
          <a:p>
            <a:pPr indent="0" marL="0">
              <a:lnSpc>
                <a:spcPts val="1500"/>
              </a:lnSpc>
              <a:buNone/>
            </a:pPr>
            <a:r>
              <a:rPr lang="en-US" sz="1250" b="1" dirty="0">
                <a:solidFill>
                  <a:srgbClr val="0B2B2E"/>
                </a:solidFill>
                <a:latin typeface="Calibri" pitchFamily="34" charset="0"/>
                <a:ea typeface="Calibri" pitchFamily="34" charset="-122"/>
                <a:cs typeface="Calibri" pitchFamily="34" charset="-120"/>
              </a:rPr>
              <a:t>written</a:t>
            </a:r>
            <a:endParaRPr lang="en-US" sz="1250" dirty="0"/>
          </a:p>
        </p:txBody>
      </p:sp>
      <p:sp>
        <p:nvSpPr>
          <p:cNvPr id="30" name="Shape 28"/>
          <p:cNvSpPr/>
          <p:nvPr/>
        </p:nvSpPr>
        <p:spPr>
          <a:xfrm>
            <a:off x="8194853" y="3374136"/>
            <a:ext cx="1358341" cy="850392"/>
          </a:xfrm>
          <a:prstGeom prst="rect">
            <a:avLst/>
          </a:prstGeom>
          <a:solidFill>
            <a:srgbClr val="0E6E6B"/>
          </a:solidFill>
          <a:ln/>
        </p:spPr>
      </p:sp>
      <p:sp>
        <p:nvSpPr>
          <p:cNvPr id="31" name="Shape 29"/>
          <p:cNvSpPr/>
          <p:nvPr/>
        </p:nvSpPr>
        <p:spPr>
          <a:xfrm>
            <a:off x="9900666" y="1965960"/>
            <a:ext cx="1650949" cy="841248"/>
          </a:xfrm>
          <a:prstGeom prst="roundRect">
            <a:avLst>
              <a:gd name="adj" fmla="val 7609"/>
            </a:avLst>
          </a:prstGeom>
          <a:solidFill>
            <a:srgbClr val="EFF4F3"/>
          </a:solidFill>
          <a:ln/>
        </p:spPr>
      </p:sp>
      <p:sp>
        <p:nvSpPr>
          <p:cNvPr id="32" name="Text 30"/>
          <p:cNvSpPr txBox="1"/>
          <p:nvPr/>
        </p:nvSpPr>
        <p:spPr>
          <a:xfrm>
            <a:off x="10046970" y="2084832"/>
            <a:ext cx="274320" cy="237744"/>
          </a:xfrm>
          <a:prstGeom prst="rect">
            <a:avLst/>
          </a:prstGeom>
          <a:noFill/>
          <a:ln/>
        </p:spPr>
        <p:txBody>
          <a:bodyPr wrap="square" lIns="0" tIns="0" rIns="0" bIns="0" rtlCol="0" anchor="ctr"/>
          <a:lstStyle/>
          <a:p>
            <a:pPr indent="0" marL="0">
              <a:buNone/>
            </a:pPr>
            <a:r>
              <a:rPr lang="en-US" sz="1050" b="1" dirty="0">
                <a:solidFill>
                  <a:srgbClr val="C9821F"/>
                </a:solidFill>
                <a:latin typeface="Calibri" pitchFamily="34" charset="0"/>
                <a:ea typeface="Calibri" pitchFamily="34" charset="-122"/>
                <a:cs typeface="Calibri" pitchFamily="34" charset="-120"/>
              </a:rPr>
              <a:t>6</a:t>
            </a:r>
            <a:endParaRPr lang="en-US" sz="1050" dirty="0"/>
          </a:p>
        </p:txBody>
      </p:sp>
      <p:sp>
        <p:nvSpPr>
          <p:cNvPr id="33" name="Text 31"/>
          <p:cNvSpPr txBox="1"/>
          <p:nvPr/>
        </p:nvSpPr>
        <p:spPr>
          <a:xfrm>
            <a:off x="10046970" y="2286000"/>
            <a:ext cx="1358341" cy="457200"/>
          </a:xfrm>
          <a:prstGeom prst="rect">
            <a:avLst/>
          </a:prstGeom>
          <a:noFill/>
          <a:ln/>
        </p:spPr>
        <p:txBody>
          <a:bodyPr wrap="square" lIns="0" tIns="0" rIns="0" bIns="0" rtlCol="0" anchor="ctr"/>
          <a:lstStyle/>
          <a:p>
            <a:pPr indent="0" marL="0">
              <a:lnSpc>
                <a:spcPts val="1500"/>
              </a:lnSpc>
              <a:buNone/>
            </a:pPr>
            <a:r>
              <a:rPr lang="en-US" sz="1250" b="1" dirty="0">
                <a:solidFill>
                  <a:srgbClr val="0B2B2E"/>
                </a:solidFill>
                <a:latin typeface="Calibri" pitchFamily="34" charset="0"/>
                <a:ea typeface="Calibri" pitchFamily="34" charset="-122"/>
                <a:cs typeface="Calibri" pitchFamily="34" charset="-120"/>
              </a:rPr>
              <a:t>Patient</a:t>
            </a:r>
            <a:endParaRPr lang="en-US" sz="1250" dirty="0"/>
          </a:p>
          <a:p>
            <a:pPr indent="0" marL="0">
              <a:lnSpc>
                <a:spcPts val="1500"/>
              </a:lnSpc>
              <a:buNone/>
            </a:pPr>
            <a:r>
              <a:rPr lang="en-US" sz="1250" b="1" dirty="0">
                <a:solidFill>
                  <a:srgbClr val="0B2B2E"/>
                </a:solidFill>
                <a:latin typeface="Calibri" pitchFamily="34" charset="0"/>
                <a:ea typeface="Calibri" pitchFamily="34" charset="-122"/>
                <a:cs typeface="Calibri" pitchFamily="34" charset="-120"/>
              </a:rPr>
              <a:t>leaves</a:t>
            </a:r>
            <a:endParaRPr lang="en-US" sz="1250" dirty="0"/>
          </a:p>
        </p:txBody>
      </p:sp>
      <p:sp>
        <p:nvSpPr>
          <p:cNvPr id="34" name="Shape 32"/>
          <p:cNvSpPr/>
          <p:nvPr/>
        </p:nvSpPr>
        <p:spPr>
          <a:xfrm>
            <a:off x="10046970" y="4069080"/>
            <a:ext cx="1358341" cy="155448"/>
          </a:xfrm>
          <a:prstGeom prst="rect">
            <a:avLst/>
          </a:prstGeom>
          <a:solidFill>
            <a:srgbClr val="B9CCCB"/>
          </a:solidFill>
          <a:ln/>
        </p:spPr>
      </p:sp>
      <p:sp>
        <p:nvSpPr>
          <p:cNvPr id="35" name="Text 33"/>
          <p:cNvSpPr txBox="1"/>
          <p:nvPr/>
        </p:nvSpPr>
        <p:spPr>
          <a:xfrm>
            <a:off x="640080" y="2971800"/>
            <a:ext cx="4572000" cy="256032"/>
          </a:xfrm>
          <a:prstGeom prst="rect">
            <a:avLst/>
          </a:prstGeom>
          <a:noFill/>
          <a:ln/>
        </p:spPr>
        <p:txBody>
          <a:bodyPr wrap="square" lIns="0" tIns="0" rIns="0" bIns="0" rtlCol="0" anchor="ctr"/>
          <a:lstStyle/>
          <a:p>
            <a:pPr indent="0" marL="0">
              <a:buNone/>
            </a:pPr>
            <a:r>
              <a:rPr lang="en-US" sz="1000" b="1" spc="160" kern="0" dirty="0">
                <a:solidFill>
                  <a:srgbClr val="8B9C9D"/>
                </a:solidFill>
                <a:latin typeface="Calibri" pitchFamily="34" charset="0"/>
                <a:ea typeface="Calibri" pitchFamily="34" charset="-122"/>
                <a:cs typeface="Calibri" pitchFamily="34" charset="-120"/>
              </a:rPr>
              <a:t>WHAT SURVIVES IN WRITING</a:t>
            </a:r>
            <a:endParaRPr lang="en-US" sz="1000" dirty="0"/>
          </a:p>
        </p:txBody>
      </p:sp>
      <p:sp>
        <p:nvSpPr>
          <p:cNvPr id="36" name="Shape 34"/>
          <p:cNvSpPr/>
          <p:nvPr/>
        </p:nvSpPr>
        <p:spPr>
          <a:xfrm>
            <a:off x="640080" y="4224528"/>
            <a:ext cx="10911535" cy="0"/>
          </a:xfrm>
          <a:prstGeom prst="line">
            <a:avLst/>
          </a:prstGeom>
          <a:noFill/>
          <a:ln w="19050">
            <a:solidFill>
              <a:srgbClr val="DFEAE8"/>
            </a:solidFill>
            <a:prstDash val="solid"/>
          </a:ln>
        </p:spPr>
      </p:sp>
      <p:sp>
        <p:nvSpPr>
          <p:cNvPr id="37" name="Text 35"/>
          <p:cNvSpPr txBox="1"/>
          <p:nvPr/>
        </p:nvSpPr>
        <p:spPr>
          <a:xfrm>
            <a:off x="640080" y="4315968"/>
            <a:ext cx="10911535" cy="292608"/>
          </a:xfrm>
          <a:prstGeom prst="rect">
            <a:avLst/>
          </a:prstGeom>
          <a:noFill/>
          <a:ln/>
        </p:spPr>
        <p:txBody>
          <a:bodyPr wrap="square" lIns="0" tIns="0" rIns="0" bIns="0" rtlCol="0" anchor="ctr"/>
          <a:lstStyle/>
          <a:p>
            <a:pPr indent="0" marL="0">
              <a:buNone/>
            </a:pPr>
            <a:r>
              <a:rPr lang="en-US" sz="1200" i="1" dirty="0">
                <a:solidFill>
                  <a:srgbClr val="56696A"/>
                </a:solidFill>
                <a:latin typeface="Calibri" pitchFamily="34" charset="0"/>
                <a:ea typeface="Calibri" pitchFamily="34" charset="-122"/>
                <a:cs typeface="Calibri" pitchFamily="34" charset="-120"/>
              </a:rPr>
              <a:t>Only the prescription reliably becomes a record — and it is written for the pharmacist, not for the next visit.</a:t>
            </a:r>
            <a:endParaRPr lang="en-US" sz="1200" dirty="0"/>
          </a:p>
        </p:txBody>
      </p:sp>
      <p:sp>
        <p:nvSpPr>
          <p:cNvPr id="38" name="Shape 36"/>
          <p:cNvSpPr/>
          <p:nvPr/>
        </p:nvSpPr>
        <p:spPr>
          <a:xfrm>
            <a:off x="640080" y="4846320"/>
            <a:ext cx="10911535" cy="1051560"/>
          </a:xfrm>
          <a:prstGeom prst="roundRect">
            <a:avLst>
              <a:gd name="adj" fmla="val 7826"/>
            </a:avLst>
          </a:prstGeom>
          <a:solidFill>
            <a:srgbClr val="0B2B2E"/>
          </a:solidFill>
          <a:ln/>
          <a:effectLst>
            <a:outerShdw sx="100000" sy="100000" kx="0" ky="0" algn="bl" rotWithShape="0" blurRad="152400" dist="25400" dir="5400000">
              <a:srgbClr val="0B2B2E">
                <a:alpha val="9000"/>
              </a:srgbClr>
            </a:outerShdw>
          </a:effectLst>
        </p:spPr>
      </p:sp>
      <p:sp>
        <p:nvSpPr>
          <p:cNvPr id="39" name="Text 37"/>
          <p:cNvSpPr txBox="1"/>
          <p:nvPr/>
        </p:nvSpPr>
        <p:spPr>
          <a:xfrm>
            <a:off x="1005840" y="5010912"/>
            <a:ext cx="2743200" cy="274320"/>
          </a:xfrm>
          <a:prstGeom prst="rect">
            <a:avLst/>
          </a:prstGeom>
          <a:noFill/>
          <a:ln/>
        </p:spPr>
        <p:txBody>
          <a:bodyPr wrap="square" lIns="0" tIns="0" rIns="0" bIns="0" rtlCol="0" anchor="ctr"/>
          <a:lstStyle/>
          <a:p>
            <a:pPr indent="0" marL="0">
              <a:buNone/>
            </a:pPr>
            <a:r>
              <a:rPr lang="en-US" sz="1250" b="1" dirty="0">
                <a:solidFill>
                  <a:srgbClr val="C9821F"/>
                </a:solidFill>
                <a:latin typeface="Calibri" pitchFamily="34" charset="0"/>
                <a:ea typeface="Calibri" pitchFamily="34" charset="-122"/>
                <a:cs typeface="Calibri" pitchFamily="34" charset="-120"/>
              </a:rPr>
              <a:t>The breakdown point</a:t>
            </a:r>
            <a:endParaRPr lang="en-US" sz="1250" dirty="0"/>
          </a:p>
        </p:txBody>
      </p:sp>
      <p:sp>
        <p:nvSpPr>
          <p:cNvPr id="40" name="Text 38"/>
          <p:cNvSpPr txBox="1"/>
          <p:nvPr/>
        </p:nvSpPr>
        <p:spPr>
          <a:xfrm>
            <a:off x="1005840" y="5303520"/>
            <a:ext cx="10180015" cy="457200"/>
          </a:xfrm>
          <a:prstGeom prst="rect">
            <a:avLst/>
          </a:prstGeom>
          <a:noFill/>
          <a:ln/>
        </p:spPr>
        <p:txBody>
          <a:bodyPr wrap="square" lIns="0" tIns="0" rIns="0" bIns="0" rtlCol="0" anchor="ctr"/>
          <a:lstStyle/>
          <a:p>
            <a:pPr indent="0" marL="0">
              <a:lnSpc>
                <a:spcPts val="1900"/>
              </a:lnSpc>
              <a:buNone/>
            </a:pPr>
            <a:r>
              <a:rPr lang="en-US" sz="1350" dirty="0">
                <a:solidFill>
                  <a:srgbClr val="D3E0E0"/>
                </a:solidFill>
                <a:latin typeface="Calibri" pitchFamily="34" charset="0"/>
                <a:ea typeface="Calibri" pitchFamily="34" charset="-122"/>
                <a:cs typeface="Calibri" pitchFamily="34" charset="-120"/>
              </a:rPr>
              <a:t>Everything the doctor learns between steps 2 and 4 exists only in his head and in the two minutes he has. By step 6 it is gone, and the patient's next visit starts from nothing.</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Text 1"/>
          <p:cNvSpPr txBox="1"/>
          <p:nvPr/>
        </p:nvSpPr>
        <p:spPr>
          <a:xfrm>
            <a:off x="640080" y="475488"/>
            <a:ext cx="7315200" cy="256032"/>
          </a:xfrm>
          <a:prstGeom prst="rect">
            <a:avLst/>
          </a:prstGeom>
          <a:noFill/>
          <a:ln/>
        </p:spPr>
        <p:txBody>
          <a:bodyPr wrap="square" lIns="0" tIns="0" rIns="0" bIns="0" rtlCol="0" anchor="ctr"/>
          <a:lstStyle/>
          <a:p>
            <a:pPr indent="0" marL="0">
              <a:buNone/>
            </a:pPr>
            <a:r>
              <a:rPr lang="en-US" sz="1100" b="1" spc="240" kern="0" dirty="0">
                <a:solidFill>
                  <a:srgbClr val="0E6E6B"/>
                </a:solidFill>
                <a:latin typeface="Calibri" pitchFamily="34" charset="0"/>
                <a:ea typeface="Calibri" pitchFamily="34" charset="-122"/>
                <a:cs typeface="Calibri" pitchFamily="34" charset="-120"/>
              </a:rPr>
              <a:t>DEFINE</a:t>
            </a:r>
            <a:endParaRPr lang="en-US" sz="1100" dirty="0"/>
          </a:p>
        </p:txBody>
      </p:sp>
      <p:sp>
        <p:nvSpPr>
          <p:cNvPr id="4" name="Text 2"/>
          <p:cNvSpPr txBox="1"/>
          <p:nvPr/>
        </p:nvSpPr>
        <p:spPr>
          <a:xfrm>
            <a:off x="640080" y="822960"/>
            <a:ext cx="9509760" cy="777240"/>
          </a:xfrm>
          <a:prstGeom prst="rect">
            <a:avLst/>
          </a:prstGeom>
          <a:noFill/>
          <a:ln/>
        </p:spPr>
        <p:txBody>
          <a:bodyPr wrap="square" lIns="0" tIns="0" rIns="0" bIns="0" rtlCol="0" anchor="ctr"/>
          <a:lstStyle/>
          <a:p>
            <a:pPr indent="0" marL="0">
              <a:buNone/>
            </a:pPr>
            <a:r>
              <a:rPr lang="en-US" sz="3400" b="1" dirty="0">
                <a:solidFill>
                  <a:srgbClr val="0B2B2E"/>
                </a:solidFill>
                <a:latin typeface="Cambria" pitchFamily="34" charset="0"/>
                <a:ea typeface="Cambria" pitchFamily="34" charset="-122"/>
                <a:cs typeface="Cambria" pitchFamily="34" charset="-120"/>
              </a:rPr>
              <a:t>Four problems, not one</a:t>
            </a:r>
            <a:endParaRPr lang="en-US" sz="3400" dirty="0"/>
          </a:p>
        </p:txBody>
      </p:sp>
      <p:sp>
        <p:nvSpPr>
          <p:cNvPr id="5" name="Text 3"/>
          <p:cNvSpPr txBox="1"/>
          <p:nvPr/>
        </p:nvSpPr>
        <p:spPr>
          <a:xfrm>
            <a:off x="7423099" y="493776"/>
            <a:ext cx="2788920" cy="256032"/>
          </a:xfrm>
          <a:prstGeom prst="rect">
            <a:avLst/>
          </a:prstGeom>
          <a:noFill/>
          <a:ln/>
        </p:spPr>
        <p:txBody>
          <a:bodyPr wrap="square" lIns="0" tIns="0" rIns="0" bIns="0" rtlCol="0" anchor="ctr"/>
          <a:lstStyle/>
          <a:p>
            <a:pPr algn="r" indent="0" marL="0">
              <a:buNone/>
            </a:pPr>
            <a:r>
              <a:rPr lang="en-US" sz="1000" b="1" spc="180" kern="0" dirty="0">
                <a:solidFill>
                  <a:srgbClr val="8B9C9D"/>
                </a:solidFill>
                <a:latin typeface="Calibri" pitchFamily="34" charset="0"/>
                <a:ea typeface="Calibri" pitchFamily="34" charset="-122"/>
                <a:cs typeface="Calibri" pitchFamily="34" charset="-120"/>
              </a:rPr>
              <a:t>DEFINE</a:t>
            </a:r>
            <a:endParaRPr lang="en-US" sz="1000" dirty="0"/>
          </a:p>
        </p:txBody>
      </p:sp>
      <p:sp>
        <p:nvSpPr>
          <p:cNvPr id="6" name="Shape 4"/>
          <p:cNvSpPr/>
          <p:nvPr/>
        </p:nvSpPr>
        <p:spPr>
          <a:xfrm>
            <a:off x="10349179" y="548640"/>
            <a:ext cx="141732" cy="141732"/>
          </a:xfrm>
          <a:prstGeom prst="ellipse">
            <a:avLst/>
          </a:prstGeom>
          <a:solidFill>
            <a:srgbClr val="DFEAE8"/>
          </a:solidFill>
          <a:ln/>
        </p:spPr>
      </p:sp>
      <p:sp>
        <p:nvSpPr>
          <p:cNvPr id="7" name="Shape 5"/>
          <p:cNvSpPr/>
          <p:nvPr/>
        </p:nvSpPr>
        <p:spPr>
          <a:xfrm>
            <a:off x="10614355" y="548640"/>
            <a:ext cx="141732" cy="141732"/>
          </a:xfrm>
          <a:prstGeom prst="ellipse">
            <a:avLst/>
          </a:prstGeom>
          <a:solidFill>
            <a:srgbClr val="C9821F"/>
          </a:solidFill>
          <a:ln/>
        </p:spPr>
      </p:sp>
      <p:sp>
        <p:nvSpPr>
          <p:cNvPr id="8" name="Shape 6"/>
          <p:cNvSpPr/>
          <p:nvPr/>
        </p:nvSpPr>
        <p:spPr>
          <a:xfrm>
            <a:off x="10879531" y="548640"/>
            <a:ext cx="141732" cy="141732"/>
          </a:xfrm>
          <a:prstGeom prst="ellipse">
            <a:avLst/>
          </a:prstGeom>
          <a:solidFill>
            <a:srgbClr val="DFEAE8"/>
          </a:solidFill>
          <a:ln/>
        </p:spPr>
      </p:sp>
      <p:sp>
        <p:nvSpPr>
          <p:cNvPr id="9" name="Shape 7"/>
          <p:cNvSpPr/>
          <p:nvPr/>
        </p:nvSpPr>
        <p:spPr>
          <a:xfrm>
            <a:off x="11144707" y="548640"/>
            <a:ext cx="141732" cy="141732"/>
          </a:xfrm>
          <a:prstGeom prst="ellipse">
            <a:avLst/>
          </a:prstGeom>
          <a:solidFill>
            <a:srgbClr val="DFEAE8"/>
          </a:solidFill>
          <a:ln/>
        </p:spPr>
      </p:sp>
      <p:sp>
        <p:nvSpPr>
          <p:cNvPr id="10" name="Shape 8"/>
          <p:cNvSpPr/>
          <p:nvPr/>
        </p:nvSpPr>
        <p:spPr>
          <a:xfrm>
            <a:off x="11409883" y="548640"/>
            <a:ext cx="141732" cy="141732"/>
          </a:xfrm>
          <a:prstGeom prst="ellipse">
            <a:avLst/>
          </a:prstGeom>
          <a:solidFill>
            <a:srgbClr val="DFEAE8"/>
          </a:solidFill>
          <a:ln/>
        </p:spPr>
      </p:sp>
      <p:sp>
        <p:nvSpPr>
          <p:cNvPr id="11" name="Text 9"/>
          <p:cNvSpPr txBox="1"/>
          <p:nvPr/>
        </p:nvSpPr>
        <p:spPr>
          <a:xfrm>
            <a:off x="640080" y="1664208"/>
            <a:ext cx="9601200" cy="329184"/>
          </a:xfrm>
          <a:prstGeom prst="rect">
            <a:avLst/>
          </a:prstGeom>
          <a:noFill/>
          <a:ln/>
        </p:spPr>
        <p:txBody>
          <a:bodyPr wrap="square" lIns="0" tIns="0" rIns="0" bIns="0" rtlCol="0" anchor="ctr"/>
          <a:lstStyle/>
          <a:p>
            <a:pPr indent="0" marL="0">
              <a:buNone/>
            </a:pPr>
            <a:r>
              <a:rPr lang="en-US" sz="1400" dirty="0">
                <a:solidFill>
                  <a:srgbClr val="56696A"/>
                </a:solidFill>
                <a:latin typeface="Calibri" pitchFamily="34" charset="0"/>
                <a:ea typeface="Calibri" pitchFamily="34" charset="-122"/>
                <a:cs typeface="Calibri" pitchFamily="34" charset="-120"/>
              </a:rPr>
              <a:t>Clustering what we found produced four distinct problems. Solving only the first one is how most clinical software fails.</a:t>
            </a:r>
            <a:endParaRPr lang="en-US" sz="1400" dirty="0"/>
          </a:p>
        </p:txBody>
      </p:sp>
      <p:sp>
        <p:nvSpPr>
          <p:cNvPr id="12" name="Shape 10"/>
          <p:cNvSpPr/>
          <p:nvPr/>
        </p:nvSpPr>
        <p:spPr>
          <a:xfrm>
            <a:off x="640080" y="2212848"/>
            <a:ext cx="5346040" cy="1664208"/>
          </a:xfrm>
          <a:prstGeom prst="roundRect">
            <a:avLst>
              <a:gd name="adj" fmla="val 3846"/>
            </a:avLst>
          </a:prstGeom>
          <a:solidFill>
            <a:srgbClr val="FFFFFF"/>
          </a:solidFill>
          <a:ln w="12700">
            <a:solidFill>
              <a:srgbClr val="DFEAE8"/>
            </a:solidFill>
            <a:prstDash val="solid"/>
          </a:ln>
          <a:effectLst>
            <a:outerShdw sx="100000" sy="100000" kx="0" ky="0" algn="bl" rotWithShape="0" blurRad="152400" dist="25400" dir="5400000">
              <a:srgbClr val="0B2B2E">
                <a:alpha val="9000"/>
              </a:srgbClr>
            </a:outerShdw>
          </a:effectLst>
        </p:spPr>
      </p:sp>
      <p:sp>
        <p:nvSpPr>
          <p:cNvPr id="13" name="Shape 11"/>
          <p:cNvSpPr/>
          <p:nvPr/>
        </p:nvSpPr>
        <p:spPr>
          <a:xfrm>
            <a:off x="932688" y="2487168"/>
            <a:ext cx="475488" cy="475488"/>
          </a:xfrm>
          <a:prstGeom prst="roundRect">
            <a:avLst>
              <a:gd name="adj" fmla="val 23077"/>
            </a:avLst>
          </a:prstGeom>
          <a:solidFill>
            <a:srgbClr val="0E6E6B"/>
          </a:solidFill>
          <a:ln/>
        </p:spPr>
      </p:sp>
      <p:sp>
        <p:nvSpPr>
          <p:cNvPr id="14" name="Text 12"/>
          <p:cNvSpPr txBox="1"/>
          <p:nvPr/>
        </p:nvSpPr>
        <p:spPr>
          <a:xfrm>
            <a:off x="932688" y="2487168"/>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15" name="Text 13"/>
          <p:cNvSpPr txBox="1"/>
          <p:nvPr/>
        </p:nvSpPr>
        <p:spPr>
          <a:xfrm>
            <a:off x="1572768" y="2505456"/>
            <a:ext cx="4111600" cy="310896"/>
          </a:xfrm>
          <a:prstGeom prst="rect">
            <a:avLst/>
          </a:prstGeom>
          <a:noFill/>
          <a:ln/>
        </p:spPr>
        <p:txBody>
          <a:bodyPr wrap="square" lIns="0" tIns="0" rIns="0" bIns="0" rtlCol="0" anchor="ctr"/>
          <a:lstStyle/>
          <a:p>
            <a:pPr indent="0" marL="0">
              <a:buNone/>
            </a:pPr>
            <a:r>
              <a:rPr lang="en-US" sz="1600" b="1" dirty="0">
                <a:solidFill>
                  <a:srgbClr val="0B2B2E"/>
                </a:solidFill>
                <a:latin typeface="Calibri" pitchFamily="34" charset="0"/>
                <a:ea typeface="Calibri" pitchFamily="34" charset="-122"/>
                <a:cs typeface="Calibri" pitchFamily="34" charset="-120"/>
              </a:rPr>
              <a:t>Time is the scarce resource</a:t>
            </a:r>
            <a:endParaRPr lang="en-US" sz="1600" dirty="0"/>
          </a:p>
        </p:txBody>
      </p:sp>
      <p:sp>
        <p:nvSpPr>
          <p:cNvPr id="16" name="Text 14"/>
          <p:cNvSpPr txBox="1"/>
          <p:nvPr/>
        </p:nvSpPr>
        <p:spPr>
          <a:xfrm>
            <a:off x="1572768" y="2889504"/>
            <a:ext cx="4111600" cy="777240"/>
          </a:xfrm>
          <a:prstGeom prst="rect">
            <a:avLst/>
          </a:prstGeom>
          <a:noFill/>
          <a:ln/>
        </p:spPr>
        <p:txBody>
          <a:bodyPr wrap="square" lIns="0" tIns="0" rIns="0" bIns="0" rtlCol="0" anchor="ctr"/>
          <a:lstStyle/>
          <a:p>
            <a:pPr indent="0" marL="0">
              <a:lnSpc>
                <a:spcPts val="1800"/>
              </a:lnSpc>
              <a:buNone/>
            </a:pPr>
            <a:r>
              <a:rPr lang="en-US" sz="1250" dirty="0">
                <a:solidFill>
                  <a:srgbClr val="56696A"/>
                </a:solidFill>
                <a:latin typeface="Calibri" pitchFamily="34" charset="0"/>
                <a:ea typeface="Calibri" pitchFamily="34" charset="-122"/>
                <a:cs typeface="Calibri" pitchFamily="34" charset="-120"/>
              </a:rPr>
              <a:t>Two minutes must hold the greeting, the history, the examination, the explanation and the record.</a:t>
            </a:r>
            <a:endParaRPr lang="en-US" sz="1250" dirty="0"/>
          </a:p>
        </p:txBody>
      </p:sp>
      <p:sp>
        <p:nvSpPr>
          <p:cNvPr id="17" name="Shape 15"/>
          <p:cNvSpPr/>
          <p:nvPr/>
        </p:nvSpPr>
        <p:spPr>
          <a:xfrm>
            <a:off x="6205576" y="2212848"/>
            <a:ext cx="5346040" cy="1664208"/>
          </a:xfrm>
          <a:prstGeom prst="roundRect">
            <a:avLst>
              <a:gd name="adj" fmla="val 3846"/>
            </a:avLst>
          </a:prstGeom>
          <a:solidFill>
            <a:srgbClr val="FFFFFF"/>
          </a:solidFill>
          <a:ln w="12700">
            <a:solidFill>
              <a:srgbClr val="DFEAE8"/>
            </a:solidFill>
            <a:prstDash val="solid"/>
          </a:ln>
          <a:effectLst>
            <a:outerShdw sx="100000" sy="100000" kx="0" ky="0" algn="bl" rotWithShape="0" blurRad="152400" dist="25400" dir="5400000">
              <a:srgbClr val="0B2B2E">
                <a:alpha val="9000"/>
              </a:srgbClr>
            </a:outerShdw>
          </a:effectLst>
        </p:spPr>
      </p:sp>
      <p:sp>
        <p:nvSpPr>
          <p:cNvPr id="18" name="Shape 16"/>
          <p:cNvSpPr/>
          <p:nvPr/>
        </p:nvSpPr>
        <p:spPr>
          <a:xfrm>
            <a:off x="6498184" y="2487168"/>
            <a:ext cx="475488" cy="475488"/>
          </a:xfrm>
          <a:prstGeom prst="roundRect">
            <a:avLst>
              <a:gd name="adj" fmla="val 23077"/>
            </a:avLst>
          </a:prstGeom>
          <a:solidFill>
            <a:srgbClr val="C9821F"/>
          </a:solidFill>
          <a:ln/>
        </p:spPr>
      </p:sp>
      <p:sp>
        <p:nvSpPr>
          <p:cNvPr id="19" name="Text 17"/>
          <p:cNvSpPr txBox="1"/>
          <p:nvPr/>
        </p:nvSpPr>
        <p:spPr>
          <a:xfrm>
            <a:off x="6498184" y="2487168"/>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20" name="Text 18"/>
          <p:cNvSpPr txBox="1"/>
          <p:nvPr/>
        </p:nvSpPr>
        <p:spPr>
          <a:xfrm>
            <a:off x="7138264" y="2505456"/>
            <a:ext cx="4111600" cy="310896"/>
          </a:xfrm>
          <a:prstGeom prst="rect">
            <a:avLst/>
          </a:prstGeom>
          <a:noFill/>
          <a:ln/>
        </p:spPr>
        <p:txBody>
          <a:bodyPr wrap="square" lIns="0" tIns="0" rIns="0" bIns="0" rtlCol="0" anchor="ctr"/>
          <a:lstStyle/>
          <a:p>
            <a:pPr indent="0" marL="0">
              <a:buNone/>
            </a:pPr>
            <a:r>
              <a:rPr lang="en-US" sz="1600" b="1" dirty="0">
                <a:solidFill>
                  <a:srgbClr val="0B2B2E"/>
                </a:solidFill>
                <a:latin typeface="Calibri" pitchFamily="34" charset="0"/>
                <a:ea typeface="Calibri" pitchFamily="34" charset="-122"/>
                <a:cs typeface="Calibri" pitchFamily="34" charset="-120"/>
              </a:rPr>
              <a:t>The record is sacrificed first</a:t>
            </a:r>
            <a:endParaRPr lang="en-US" sz="1600" dirty="0"/>
          </a:p>
        </p:txBody>
      </p:sp>
      <p:sp>
        <p:nvSpPr>
          <p:cNvPr id="21" name="Text 19"/>
          <p:cNvSpPr txBox="1"/>
          <p:nvPr/>
        </p:nvSpPr>
        <p:spPr>
          <a:xfrm>
            <a:off x="7138264" y="2889504"/>
            <a:ext cx="4111600" cy="777240"/>
          </a:xfrm>
          <a:prstGeom prst="rect">
            <a:avLst/>
          </a:prstGeom>
          <a:noFill/>
          <a:ln/>
        </p:spPr>
        <p:txBody>
          <a:bodyPr wrap="square" lIns="0" tIns="0" rIns="0" bIns="0" rtlCol="0" anchor="ctr"/>
          <a:lstStyle/>
          <a:p>
            <a:pPr indent="0" marL="0">
              <a:lnSpc>
                <a:spcPts val="1800"/>
              </a:lnSpc>
              <a:buNone/>
            </a:pPr>
            <a:r>
              <a:rPr lang="en-US" sz="1250" dirty="0">
                <a:solidFill>
                  <a:srgbClr val="56696A"/>
                </a:solidFill>
                <a:latin typeface="Calibri" pitchFamily="34" charset="0"/>
                <a:ea typeface="Calibri" pitchFamily="34" charset="-122"/>
                <a:cs typeface="Calibri" pitchFamily="34" charset="-120"/>
              </a:rPr>
              <a:t>It is the only part of the visit with no one in the room advocating for it.</a:t>
            </a:r>
            <a:endParaRPr lang="en-US" sz="1250" dirty="0"/>
          </a:p>
        </p:txBody>
      </p:sp>
      <p:sp>
        <p:nvSpPr>
          <p:cNvPr id="22" name="Shape 20"/>
          <p:cNvSpPr/>
          <p:nvPr/>
        </p:nvSpPr>
        <p:spPr>
          <a:xfrm>
            <a:off x="640080" y="4087368"/>
            <a:ext cx="5346040" cy="1664208"/>
          </a:xfrm>
          <a:prstGeom prst="roundRect">
            <a:avLst>
              <a:gd name="adj" fmla="val 3846"/>
            </a:avLst>
          </a:prstGeom>
          <a:solidFill>
            <a:srgbClr val="FFFFFF"/>
          </a:solidFill>
          <a:ln w="12700">
            <a:solidFill>
              <a:srgbClr val="DFEAE8"/>
            </a:solidFill>
            <a:prstDash val="solid"/>
          </a:ln>
          <a:effectLst>
            <a:outerShdw sx="100000" sy="100000" kx="0" ky="0" algn="bl" rotWithShape="0" blurRad="152400" dist="25400" dir="5400000">
              <a:srgbClr val="0B2B2E">
                <a:alpha val="9000"/>
              </a:srgbClr>
            </a:outerShdw>
          </a:effectLst>
        </p:spPr>
      </p:sp>
      <p:sp>
        <p:nvSpPr>
          <p:cNvPr id="23" name="Shape 21"/>
          <p:cNvSpPr/>
          <p:nvPr/>
        </p:nvSpPr>
        <p:spPr>
          <a:xfrm>
            <a:off x="932688" y="4361688"/>
            <a:ext cx="475488" cy="475488"/>
          </a:xfrm>
          <a:prstGeom prst="roundRect">
            <a:avLst>
              <a:gd name="adj" fmla="val 23077"/>
            </a:avLst>
          </a:prstGeom>
          <a:solidFill>
            <a:srgbClr val="0E6E6B"/>
          </a:solidFill>
          <a:ln/>
        </p:spPr>
      </p:sp>
      <p:sp>
        <p:nvSpPr>
          <p:cNvPr id="24" name="Text 22"/>
          <p:cNvSpPr txBox="1"/>
          <p:nvPr/>
        </p:nvSpPr>
        <p:spPr>
          <a:xfrm>
            <a:off x="932688" y="4361688"/>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25" name="Text 23"/>
          <p:cNvSpPr txBox="1"/>
          <p:nvPr/>
        </p:nvSpPr>
        <p:spPr>
          <a:xfrm>
            <a:off x="1572768" y="4379976"/>
            <a:ext cx="4111600" cy="310896"/>
          </a:xfrm>
          <a:prstGeom prst="rect">
            <a:avLst/>
          </a:prstGeom>
          <a:noFill/>
          <a:ln/>
        </p:spPr>
        <p:txBody>
          <a:bodyPr wrap="square" lIns="0" tIns="0" rIns="0" bIns="0" rtlCol="0" anchor="ctr"/>
          <a:lstStyle/>
          <a:p>
            <a:pPr indent="0" marL="0">
              <a:buNone/>
            </a:pPr>
            <a:r>
              <a:rPr lang="en-US" sz="1600" b="1" dirty="0">
                <a:solidFill>
                  <a:srgbClr val="0B2B2E"/>
                </a:solidFill>
                <a:latin typeface="Calibri" pitchFamily="34" charset="0"/>
                <a:ea typeface="Calibri" pitchFamily="34" charset="-122"/>
                <a:cs typeface="Calibri" pitchFamily="34" charset="-120"/>
              </a:rPr>
              <a:t>Continuity dies with the register</a:t>
            </a:r>
            <a:endParaRPr lang="en-US" sz="1600" dirty="0"/>
          </a:p>
        </p:txBody>
      </p:sp>
      <p:sp>
        <p:nvSpPr>
          <p:cNvPr id="26" name="Text 24"/>
          <p:cNvSpPr txBox="1"/>
          <p:nvPr/>
        </p:nvSpPr>
        <p:spPr>
          <a:xfrm>
            <a:off x="1572768" y="4764024"/>
            <a:ext cx="4111600" cy="777240"/>
          </a:xfrm>
          <a:prstGeom prst="rect">
            <a:avLst/>
          </a:prstGeom>
          <a:noFill/>
          <a:ln/>
        </p:spPr>
        <p:txBody>
          <a:bodyPr wrap="square" lIns="0" tIns="0" rIns="0" bIns="0" rtlCol="0" anchor="ctr"/>
          <a:lstStyle/>
          <a:p>
            <a:pPr indent="0" marL="0">
              <a:lnSpc>
                <a:spcPts val="1800"/>
              </a:lnSpc>
              <a:buNone/>
            </a:pPr>
            <a:r>
              <a:rPr lang="en-US" sz="1250" dirty="0">
                <a:solidFill>
                  <a:srgbClr val="56696A"/>
                </a:solidFill>
                <a:latin typeface="Calibri" pitchFamily="34" charset="0"/>
                <a:ea typeface="Calibri" pitchFamily="34" charset="-122"/>
                <a:cs typeface="Calibri" pitchFamily="34" charset="-120"/>
              </a:rPr>
              <a:t>A patient's history is only as durable as one notebook and one laptop.</a:t>
            </a:r>
            <a:endParaRPr lang="en-US" sz="1250" dirty="0"/>
          </a:p>
        </p:txBody>
      </p:sp>
      <p:sp>
        <p:nvSpPr>
          <p:cNvPr id="27" name="Shape 25"/>
          <p:cNvSpPr/>
          <p:nvPr/>
        </p:nvSpPr>
        <p:spPr>
          <a:xfrm>
            <a:off x="6205576" y="4087368"/>
            <a:ext cx="5346040" cy="1664208"/>
          </a:xfrm>
          <a:prstGeom prst="roundRect">
            <a:avLst>
              <a:gd name="adj" fmla="val 3846"/>
            </a:avLst>
          </a:prstGeom>
          <a:solidFill>
            <a:srgbClr val="FFFFFF"/>
          </a:solidFill>
          <a:ln w="12700">
            <a:solidFill>
              <a:srgbClr val="DFEAE8"/>
            </a:solidFill>
            <a:prstDash val="solid"/>
          </a:ln>
          <a:effectLst>
            <a:outerShdw sx="100000" sy="100000" kx="0" ky="0" algn="bl" rotWithShape="0" blurRad="152400" dist="25400" dir="5400000">
              <a:srgbClr val="0B2B2E">
                <a:alpha val="9000"/>
              </a:srgbClr>
            </a:outerShdw>
          </a:effectLst>
        </p:spPr>
      </p:sp>
      <p:sp>
        <p:nvSpPr>
          <p:cNvPr id="28" name="Shape 26"/>
          <p:cNvSpPr/>
          <p:nvPr/>
        </p:nvSpPr>
        <p:spPr>
          <a:xfrm>
            <a:off x="6498184" y="4361688"/>
            <a:ext cx="475488" cy="475488"/>
          </a:xfrm>
          <a:prstGeom prst="roundRect">
            <a:avLst>
              <a:gd name="adj" fmla="val 23077"/>
            </a:avLst>
          </a:prstGeom>
          <a:solidFill>
            <a:srgbClr val="0E6E6B"/>
          </a:solidFill>
          <a:ln/>
        </p:spPr>
      </p:sp>
      <p:sp>
        <p:nvSpPr>
          <p:cNvPr id="29" name="Text 27"/>
          <p:cNvSpPr txBox="1"/>
          <p:nvPr/>
        </p:nvSpPr>
        <p:spPr>
          <a:xfrm>
            <a:off x="6498184" y="4361688"/>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30" name="Text 28"/>
          <p:cNvSpPr txBox="1"/>
          <p:nvPr/>
        </p:nvSpPr>
        <p:spPr>
          <a:xfrm>
            <a:off x="7138264" y="4379976"/>
            <a:ext cx="4111600" cy="310896"/>
          </a:xfrm>
          <a:prstGeom prst="rect">
            <a:avLst/>
          </a:prstGeom>
          <a:noFill/>
          <a:ln/>
        </p:spPr>
        <p:txBody>
          <a:bodyPr wrap="square" lIns="0" tIns="0" rIns="0" bIns="0" rtlCol="0" anchor="ctr"/>
          <a:lstStyle/>
          <a:p>
            <a:pPr indent="0" marL="0">
              <a:buNone/>
            </a:pPr>
            <a:r>
              <a:rPr lang="en-US" sz="1600" b="1" dirty="0">
                <a:solidFill>
                  <a:srgbClr val="0B2B2E"/>
                </a:solidFill>
                <a:latin typeface="Calibri" pitchFamily="34" charset="0"/>
                <a:ea typeface="Calibri" pitchFamily="34" charset="-122"/>
                <a:cs typeface="Calibri" pitchFamily="34" charset="-120"/>
              </a:rPr>
              <a:t>Consent is unwritten</a:t>
            </a:r>
            <a:endParaRPr lang="en-US" sz="1600" dirty="0"/>
          </a:p>
        </p:txBody>
      </p:sp>
      <p:sp>
        <p:nvSpPr>
          <p:cNvPr id="31" name="Text 29"/>
          <p:cNvSpPr txBox="1"/>
          <p:nvPr/>
        </p:nvSpPr>
        <p:spPr>
          <a:xfrm>
            <a:off x="7138264" y="4764024"/>
            <a:ext cx="4111600" cy="777240"/>
          </a:xfrm>
          <a:prstGeom prst="rect">
            <a:avLst/>
          </a:prstGeom>
          <a:noFill/>
          <a:ln/>
        </p:spPr>
        <p:txBody>
          <a:bodyPr wrap="square" lIns="0" tIns="0" rIns="0" bIns="0" rtlCol="0" anchor="ctr"/>
          <a:lstStyle/>
          <a:p>
            <a:pPr indent="0" marL="0">
              <a:lnSpc>
                <a:spcPts val="1800"/>
              </a:lnSpc>
              <a:buNone/>
            </a:pPr>
            <a:r>
              <a:rPr lang="en-US" sz="1250" dirty="0">
                <a:solidFill>
                  <a:srgbClr val="56696A"/>
                </a:solidFill>
                <a:latin typeface="Calibri" pitchFamily="34" charset="0"/>
                <a:ea typeface="Calibri" pitchFamily="34" charset="-122"/>
                <a:cs typeface="Calibri" pitchFamily="34" charset="-120"/>
              </a:rPr>
              <a:t>Nobody in this workflow has ever been asked to record permission, and the law now requires it.</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2B2E"/>
          </a:solidFill>
          <a:ln w="12700">
            <a:solidFill>
              <a:srgbClr val="0B2B2E"/>
            </a:solidFill>
            <a:prstDash val="solid"/>
          </a:ln>
        </p:spPr>
      </p:sp>
      <p:sp>
        <p:nvSpPr>
          <p:cNvPr id="3" name="Text 1"/>
          <p:cNvSpPr txBox="1"/>
          <p:nvPr/>
        </p:nvSpPr>
        <p:spPr>
          <a:xfrm>
            <a:off x="7423099" y="493776"/>
            <a:ext cx="2788920" cy="256032"/>
          </a:xfrm>
          <a:prstGeom prst="rect">
            <a:avLst/>
          </a:prstGeom>
          <a:noFill/>
          <a:ln/>
        </p:spPr>
        <p:txBody>
          <a:bodyPr wrap="square" lIns="0" tIns="0" rIns="0" bIns="0" rtlCol="0" anchor="ctr"/>
          <a:lstStyle/>
          <a:p>
            <a:pPr algn="r" indent="0" marL="0">
              <a:buNone/>
            </a:pPr>
            <a:r>
              <a:rPr lang="en-US" sz="1000" b="1" spc="180" kern="0" dirty="0">
                <a:solidFill>
                  <a:srgbClr val="5FB3AB"/>
                </a:solidFill>
                <a:latin typeface="Calibri" pitchFamily="34" charset="0"/>
                <a:ea typeface="Calibri" pitchFamily="34" charset="-122"/>
                <a:cs typeface="Calibri" pitchFamily="34" charset="-120"/>
              </a:rPr>
              <a:t>DEFINE</a:t>
            </a:r>
            <a:endParaRPr lang="en-US" sz="1000" dirty="0"/>
          </a:p>
        </p:txBody>
      </p:sp>
      <p:sp>
        <p:nvSpPr>
          <p:cNvPr id="4" name="Shape 2"/>
          <p:cNvSpPr/>
          <p:nvPr/>
        </p:nvSpPr>
        <p:spPr>
          <a:xfrm>
            <a:off x="10349179" y="548640"/>
            <a:ext cx="141732" cy="141732"/>
          </a:xfrm>
          <a:prstGeom prst="ellipse">
            <a:avLst/>
          </a:prstGeom>
          <a:solidFill>
            <a:srgbClr val="2A4E4E"/>
          </a:solidFill>
          <a:ln/>
        </p:spPr>
      </p:sp>
      <p:sp>
        <p:nvSpPr>
          <p:cNvPr id="5" name="Shape 3"/>
          <p:cNvSpPr/>
          <p:nvPr/>
        </p:nvSpPr>
        <p:spPr>
          <a:xfrm>
            <a:off x="10614355" y="548640"/>
            <a:ext cx="141732" cy="141732"/>
          </a:xfrm>
          <a:prstGeom prst="ellipse">
            <a:avLst/>
          </a:prstGeom>
          <a:solidFill>
            <a:srgbClr val="C9821F"/>
          </a:solidFill>
          <a:ln/>
        </p:spPr>
      </p:sp>
      <p:sp>
        <p:nvSpPr>
          <p:cNvPr id="6" name="Shape 4"/>
          <p:cNvSpPr/>
          <p:nvPr/>
        </p:nvSpPr>
        <p:spPr>
          <a:xfrm>
            <a:off x="10879531" y="548640"/>
            <a:ext cx="141732" cy="141732"/>
          </a:xfrm>
          <a:prstGeom prst="ellipse">
            <a:avLst/>
          </a:prstGeom>
          <a:solidFill>
            <a:srgbClr val="2A4E4E"/>
          </a:solidFill>
          <a:ln/>
        </p:spPr>
      </p:sp>
      <p:sp>
        <p:nvSpPr>
          <p:cNvPr id="7" name="Shape 5"/>
          <p:cNvSpPr/>
          <p:nvPr/>
        </p:nvSpPr>
        <p:spPr>
          <a:xfrm>
            <a:off x="11144707" y="548640"/>
            <a:ext cx="141732" cy="141732"/>
          </a:xfrm>
          <a:prstGeom prst="ellipse">
            <a:avLst/>
          </a:prstGeom>
          <a:solidFill>
            <a:srgbClr val="2A4E4E"/>
          </a:solidFill>
          <a:ln/>
        </p:spPr>
      </p:sp>
      <p:sp>
        <p:nvSpPr>
          <p:cNvPr id="8" name="Shape 6"/>
          <p:cNvSpPr/>
          <p:nvPr/>
        </p:nvSpPr>
        <p:spPr>
          <a:xfrm>
            <a:off x="11409883" y="548640"/>
            <a:ext cx="141732" cy="141732"/>
          </a:xfrm>
          <a:prstGeom prst="ellipse">
            <a:avLst/>
          </a:prstGeom>
          <a:solidFill>
            <a:srgbClr val="2A4E4E"/>
          </a:solidFill>
          <a:ln/>
        </p:spPr>
      </p:sp>
      <p:sp>
        <p:nvSpPr>
          <p:cNvPr id="9" name="Text 7"/>
          <p:cNvSpPr txBox="1"/>
          <p:nvPr/>
        </p:nvSpPr>
        <p:spPr>
          <a:xfrm>
            <a:off x="640080" y="868680"/>
            <a:ext cx="7315200" cy="274320"/>
          </a:xfrm>
          <a:prstGeom prst="rect">
            <a:avLst/>
          </a:prstGeom>
          <a:noFill/>
          <a:ln/>
        </p:spPr>
        <p:txBody>
          <a:bodyPr wrap="square" lIns="0" tIns="0" rIns="0" bIns="0" rtlCol="0" anchor="ctr"/>
          <a:lstStyle/>
          <a:p>
            <a:pPr indent="0" marL="0">
              <a:buNone/>
            </a:pPr>
            <a:r>
              <a:rPr lang="en-US" sz="1100" b="1" spc="240" kern="0" dirty="0">
                <a:solidFill>
                  <a:srgbClr val="C9821F"/>
                </a:solidFill>
                <a:latin typeface="Calibri" pitchFamily="34" charset="0"/>
                <a:ea typeface="Calibri" pitchFamily="34" charset="-122"/>
                <a:cs typeface="Calibri" pitchFamily="34" charset="-120"/>
              </a:rPr>
              <a:t>DEFINE  ·  THE PROBLEM STATEMENT</a:t>
            </a:r>
            <a:endParaRPr lang="en-US" sz="1100" dirty="0"/>
          </a:p>
        </p:txBody>
      </p:sp>
      <p:sp>
        <p:nvSpPr>
          <p:cNvPr id="10" name="Text 8"/>
          <p:cNvSpPr txBox="1"/>
          <p:nvPr/>
        </p:nvSpPr>
        <p:spPr>
          <a:xfrm>
            <a:off x="640080" y="1572768"/>
            <a:ext cx="10607040" cy="3200400"/>
          </a:xfrm>
          <a:prstGeom prst="rect">
            <a:avLst/>
          </a:prstGeom>
          <a:noFill/>
          <a:ln/>
        </p:spPr>
        <p:txBody>
          <a:bodyPr wrap="square" lIns="0" tIns="0" rIns="0" bIns="0" rtlCol="0" anchor="ctr"/>
          <a:lstStyle/>
          <a:p>
            <a:pPr indent="0" marL="0">
              <a:lnSpc>
                <a:spcPts val="4100"/>
              </a:lnSpc>
              <a:buNone/>
            </a:pPr>
            <a:r>
              <a:rPr lang="en-US" sz="2500" dirty="0">
                <a:solidFill>
                  <a:srgbClr val="FFFFFF"/>
                </a:solidFill>
                <a:latin typeface="Cambria" pitchFamily="34" charset="0"/>
                <a:ea typeface="Cambria" pitchFamily="34" charset="-122"/>
                <a:cs typeface="Cambria" pitchFamily="34" charset="-120"/>
              </a:rPr>
              <a:t>In single-doctor rural clinics, a consultation lasting roughly two minutes must produce both care and a record — and the record is routinely the part sacrificed. Existing software answers this by asking the doctor to type during the visit, which measurably consumes more clinical attention than paper does, and is abandoned. Clinics are left with no usable history, unsystematic follow-up, and years of records resting on a single register or a single laptop.</a:t>
            </a:r>
            <a:endParaRPr lang="en-US" sz="2500" dirty="0"/>
          </a:p>
        </p:txBody>
      </p:sp>
      <p:sp>
        <p:nvSpPr>
          <p:cNvPr id="11" name="Shape 9"/>
          <p:cNvSpPr/>
          <p:nvPr/>
        </p:nvSpPr>
        <p:spPr>
          <a:xfrm>
            <a:off x="640080" y="4956048"/>
            <a:ext cx="2926080" cy="0"/>
          </a:xfrm>
          <a:prstGeom prst="line">
            <a:avLst/>
          </a:prstGeom>
          <a:noFill/>
          <a:ln w="31750">
            <a:solidFill>
              <a:srgbClr val="0E6E6B"/>
            </a:solidFill>
            <a:prstDash val="solid"/>
          </a:ln>
        </p:spPr>
      </p:sp>
      <p:sp>
        <p:nvSpPr>
          <p:cNvPr id="12" name="Text 10"/>
          <p:cNvSpPr txBox="1"/>
          <p:nvPr/>
        </p:nvSpPr>
        <p:spPr>
          <a:xfrm>
            <a:off x="640080" y="5193792"/>
            <a:ext cx="7680960" cy="777240"/>
          </a:xfrm>
          <a:prstGeom prst="rect">
            <a:avLst/>
          </a:prstGeom>
          <a:noFill/>
          <a:ln/>
        </p:spPr>
        <p:txBody>
          <a:bodyPr wrap="square" lIns="0" tIns="0" rIns="0" bIns="0" rtlCol="0" anchor="ctr"/>
          <a:lstStyle/>
          <a:p>
            <a:pPr indent="0" marL="0">
              <a:lnSpc>
                <a:spcPts val="2200"/>
              </a:lnSpc>
              <a:buNone/>
            </a:pPr>
            <a:r>
              <a:rPr lang="en-US" sz="1400" dirty="0">
                <a:solidFill>
                  <a:srgbClr val="9DB4B4"/>
                </a:solidFill>
                <a:latin typeface="Calibri" pitchFamily="34" charset="0"/>
                <a:ea typeface="Calibri" pitchFamily="34" charset="-122"/>
                <a:cs typeface="Calibri" pitchFamily="34" charset="-120"/>
              </a:rPr>
              <a:t>Any acceptable remedy must additionally stop short of clinical judgements it is not permitted to make, and must protect consultation content that is legally sensitive personal data.</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Text 1"/>
          <p:cNvSpPr txBox="1"/>
          <p:nvPr/>
        </p:nvSpPr>
        <p:spPr>
          <a:xfrm>
            <a:off x="640080" y="475488"/>
            <a:ext cx="7315200" cy="256032"/>
          </a:xfrm>
          <a:prstGeom prst="rect">
            <a:avLst/>
          </a:prstGeom>
          <a:noFill/>
          <a:ln/>
        </p:spPr>
        <p:txBody>
          <a:bodyPr wrap="square" lIns="0" tIns="0" rIns="0" bIns="0" rtlCol="0" anchor="ctr"/>
          <a:lstStyle/>
          <a:p>
            <a:pPr indent="0" marL="0">
              <a:buNone/>
            </a:pPr>
            <a:r>
              <a:rPr lang="en-US" sz="1100" b="1" spc="240" kern="0" dirty="0">
                <a:solidFill>
                  <a:srgbClr val="0E6E6B"/>
                </a:solidFill>
                <a:latin typeface="Calibri" pitchFamily="34" charset="0"/>
                <a:ea typeface="Calibri" pitchFamily="34" charset="-122"/>
                <a:cs typeface="Calibri" pitchFamily="34" charset="-120"/>
              </a:rPr>
              <a:t>DEFINE</a:t>
            </a:r>
            <a:endParaRPr lang="en-US" sz="1100" dirty="0"/>
          </a:p>
        </p:txBody>
      </p:sp>
      <p:sp>
        <p:nvSpPr>
          <p:cNvPr id="4" name="Text 2"/>
          <p:cNvSpPr txBox="1"/>
          <p:nvPr/>
        </p:nvSpPr>
        <p:spPr>
          <a:xfrm>
            <a:off x="640080" y="822960"/>
            <a:ext cx="9509760" cy="777240"/>
          </a:xfrm>
          <a:prstGeom prst="rect">
            <a:avLst/>
          </a:prstGeom>
          <a:noFill/>
          <a:ln/>
        </p:spPr>
        <p:txBody>
          <a:bodyPr wrap="square" lIns="0" tIns="0" rIns="0" bIns="0" rtlCol="0" anchor="ctr"/>
          <a:lstStyle/>
          <a:p>
            <a:pPr indent="0" marL="0">
              <a:buNone/>
            </a:pPr>
            <a:r>
              <a:rPr lang="en-US" sz="3400" b="1" dirty="0">
                <a:solidFill>
                  <a:srgbClr val="0B2B2E"/>
                </a:solidFill>
                <a:latin typeface="Cambria" pitchFamily="34" charset="0"/>
                <a:ea typeface="Cambria" pitchFamily="34" charset="-122"/>
                <a:cs typeface="Cambria" pitchFamily="34" charset="-120"/>
              </a:rPr>
              <a:t>Point of view, and the questions it opens</a:t>
            </a:r>
            <a:endParaRPr lang="en-US" sz="3400" dirty="0"/>
          </a:p>
        </p:txBody>
      </p:sp>
      <p:sp>
        <p:nvSpPr>
          <p:cNvPr id="5" name="Text 3"/>
          <p:cNvSpPr txBox="1"/>
          <p:nvPr/>
        </p:nvSpPr>
        <p:spPr>
          <a:xfrm>
            <a:off x="7423099" y="493776"/>
            <a:ext cx="2788920" cy="256032"/>
          </a:xfrm>
          <a:prstGeom prst="rect">
            <a:avLst/>
          </a:prstGeom>
          <a:noFill/>
          <a:ln/>
        </p:spPr>
        <p:txBody>
          <a:bodyPr wrap="square" lIns="0" tIns="0" rIns="0" bIns="0" rtlCol="0" anchor="ctr"/>
          <a:lstStyle/>
          <a:p>
            <a:pPr algn="r" indent="0" marL="0">
              <a:buNone/>
            </a:pPr>
            <a:r>
              <a:rPr lang="en-US" sz="1000" b="1" spc="180" kern="0" dirty="0">
                <a:solidFill>
                  <a:srgbClr val="8B9C9D"/>
                </a:solidFill>
                <a:latin typeface="Calibri" pitchFamily="34" charset="0"/>
                <a:ea typeface="Calibri" pitchFamily="34" charset="-122"/>
                <a:cs typeface="Calibri" pitchFamily="34" charset="-120"/>
              </a:rPr>
              <a:t>DEFINE</a:t>
            </a:r>
            <a:endParaRPr lang="en-US" sz="1000" dirty="0"/>
          </a:p>
        </p:txBody>
      </p:sp>
      <p:sp>
        <p:nvSpPr>
          <p:cNvPr id="6" name="Shape 4"/>
          <p:cNvSpPr/>
          <p:nvPr/>
        </p:nvSpPr>
        <p:spPr>
          <a:xfrm>
            <a:off x="10349179" y="548640"/>
            <a:ext cx="141732" cy="141732"/>
          </a:xfrm>
          <a:prstGeom prst="ellipse">
            <a:avLst/>
          </a:prstGeom>
          <a:solidFill>
            <a:srgbClr val="DFEAE8"/>
          </a:solidFill>
          <a:ln/>
        </p:spPr>
      </p:sp>
      <p:sp>
        <p:nvSpPr>
          <p:cNvPr id="7" name="Shape 5"/>
          <p:cNvSpPr/>
          <p:nvPr/>
        </p:nvSpPr>
        <p:spPr>
          <a:xfrm>
            <a:off x="10614355" y="548640"/>
            <a:ext cx="141732" cy="141732"/>
          </a:xfrm>
          <a:prstGeom prst="ellipse">
            <a:avLst/>
          </a:prstGeom>
          <a:solidFill>
            <a:srgbClr val="C9821F"/>
          </a:solidFill>
          <a:ln/>
        </p:spPr>
      </p:sp>
      <p:sp>
        <p:nvSpPr>
          <p:cNvPr id="8" name="Shape 6"/>
          <p:cNvSpPr/>
          <p:nvPr/>
        </p:nvSpPr>
        <p:spPr>
          <a:xfrm>
            <a:off x="10879531" y="548640"/>
            <a:ext cx="141732" cy="141732"/>
          </a:xfrm>
          <a:prstGeom prst="ellipse">
            <a:avLst/>
          </a:prstGeom>
          <a:solidFill>
            <a:srgbClr val="DFEAE8"/>
          </a:solidFill>
          <a:ln/>
        </p:spPr>
      </p:sp>
      <p:sp>
        <p:nvSpPr>
          <p:cNvPr id="9" name="Shape 7"/>
          <p:cNvSpPr/>
          <p:nvPr/>
        </p:nvSpPr>
        <p:spPr>
          <a:xfrm>
            <a:off x="11144707" y="548640"/>
            <a:ext cx="141732" cy="141732"/>
          </a:xfrm>
          <a:prstGeom prst="ellipse">
            <a:avLst/>
          </a:prstGeom>
          <a:solidFill>
            <a:srgbClr val="DFEAE8"/>
          </a:solidFill>
          <a:ln/>
        </p:spPr>
      </p:sp>
      <p:sp>
        <p:nvSpPr>
          <p:cNvPr id="10" name="Shape 8"/>
          <p:cNvSpPr/>
          <p:nvPr/>
        </p:nvSpPr>
        <p:spPr>
          <a:xfrm>
            <a:off x="11409883" y="548640"/>
            <a:ext cx="141732" cy="141732"/>
          </a:xfrm>
          <a:prstGeom prst="ellipse">
            <a:avLst/>
          </a:prstGeom>
          <a:solidFill>
            <a:srgbClr val="DFEAE8"/>
          </a:solidFill>
          <a:ln/>
        </p:spPr>
      </p:sp>
      <p:sp>
        <p:nvSpPr>
          <p:cNvPr id="11" name="Shape 9"/>
          <p:cNvSpPr/>
          <p:nvPr/>
        </p:nvSpPr>
        <p:spPr>
          <a:xfrm>
            <a:off x="640080" y="1920240"/>
            <a:ext cx="10911535" cy="1371600"/>
          </a:xfrm>
          <a:prstGeom prst="roundRect">
            <a:avLst>
              <a:gd name="adj" fmla="val 4667"/>
            </a:avLst>
          </a:prstGeom>
          <a:solidFill>
            <a:srgbClr val="EFF4F3"/>
          </a:solidFill>
          <a:ln/>
        </p:spPr>
      </p:sp>
      <p:sp>
        <p:nvSpPr>
          <p:cNvPr id="12" name="Text 10"/>
          <p:cNvSpPr txBox="1"/>
          <p:nvPr/>
        </p:nvSpPr>
        <p:spPr>
          <a:xfrm>
            <a:off x="1024128" y="2121408"/>
            <a:ext cx="2743200" cy="237744"/>
          </a:xfrm>
          <a:prstGeom prst="rect">
            <a:avLst/>
          </a:prstGeom>
          <a:noFill/>
          <a:ln/>
        </p:spPr>
        <p:txBody>
          <a:bodyPr wrap="square" lIns="0" tIns="0" rIns="0" bIns="0" rtlCol="0" anchor="ctr"/>
          <a:lstStyle/>
          <a:p>
            <a:pPr indent="0" marL="0">
              <a:buNone/>
            </a:pPr>
            <a:r>
              <a:rPr lang="en-US" sz="1000" b="1" spc="200" kern="0" dirty="0">
                <a:solidFill>
                  <a:srgbClr val="0E6E6B"/>
                </a:solidFill>
                <a:latin typeface="Calibri" pitchFamily="34" charset="0"/>
                <a:ea typeface="Calibri" pitchFamily="34" charset="-122"/>
                <a:cs typeface="Calibri" pitchFamily="34" charset="-120"/>
              </a:rPr>
              <a:t>POINT OF VIEW</a:t>
            </a:r>
            <a:endParaRPr lang="en-US" sz="1000" dirty="0"/>
          </a:p>
        </p:txBody>
      </p:sp>
      <p:sp>
        <p:nvSpPr>
          <p:cNvPr id="13" name="Text 11"/>
          <p:cNvSpPr txBox="1"/>
          <p:nvPr/>
        </p:nvSpPr>
        <p:spPr>
          <a:xfrm>
            <a:off x="1024128" y="2432304"/>
            <a:ext cx="10143439" cy="749808"/>
          </a:xfrm>
          <a:prstGeom prst="rect">
            <a:avLst/>
          </a:prstGeom>
          <a:noFill/>
          <a:ln/>
        </p:spPr>
        <p:txBody>
          <a:bodyPr wrap="square" lIns="0" tIns="0" rIns="0" bIns="0" rtlCol="0" anchor="ctr"/>
          <a:lstStyle/>
          <a:p>
            <a:pPr indent="0" marL="0">
              <a:lnSpc>
                <a:spcPts val="2600"/>
              </a:lnSpc>
              <a:buNone/>
            </a:pPr>
            <a:r>
              <a:rPr lang="en-US" sz="1700" dirty="0">
                <a:solidFill>
                  <a:srgbClr val="0B2B2E"/>
                </a:solidFill>
                <a:latin typeface="Cambria" pitchFamily="34" charset="0"/>
                <a:ea typeface="Cambria" pitchFamily="34" charset="-122"/>
                <a:cs typeface="Cambria" pitchFamily="34" charset="-120"/>
              </a:rPr>
              <a:t>Dr. Roy needs to end each consultation with a usable record without spending consultation time producing it — because the two minutes he has belong to the patient, and every second the record takes is taken from care.</a:t>
            </a:r>
            <a:endParaRPr lang="en-US" sz="1700" dirty="0"/>
          </a:p>
        </p:txBody>
      </p:sp>
      <p:sp>
        <p:nvSpPr>
          <p:cNvPr id="14" name="Text 12"/>
          <p:cNvSpPr txBox="1"/>
          <p:nvPr/>
        </p:nvSpPr>
        <p:spPr>
          <a:xfrm>
            <a:off x="640080" y="3547872"/>
            <a:ext cx="3657600" cy="274320"/>
          </a:xfrm>
          <a:prstGeom prst="rect">
            <a:avLst/>
          </a:prstGeom>
          <a:noFill/>
          <a:ln/>
        </p:spPr>
        <p:txBody>
          <a:bodyPr wrap="square" lIns="0" tIns="0" rIns="0" bIns="0" rtlCol="0" anchor="ctr"/>
          <a:lstStyle/>
          <a:p>
            <a:pPr indent="0" marL="0">
              <a:buNone/>
            </a:pPr>
            <a:r>
              <a:rPr lang="en-US" sz="1050" b="1" spc="200" kern="0" dirty="0">
                <a:solidFill>
                  <a:srgbClr val="C9821F"/>
                </a:solidFill>
                <a:latin typeface="Calibri" pitchFamily="34" charset="0"/>
                <a:ea typeface="Calibri" pitchFamily="34" charset="-122"/>
                <a:cs typeface="Calibri" pitchFamily="34" charset="-120"/>
              </a:rPr>
              <a:t>HOW MIGHT WE…</a:t>
            </a:r>
            <a:endParaRPr lang="en-US" sz="1050" dirty="0"/>
          </a:p>
        </p:txBody>
      </p:sp>
      <p:sp>
        <p:nvSpPr>
          <p:cNvPr id="15" name="Shape 13"/>
          <p:cNvSpPr/>
          <p:nvPr/>
        </p:nvSpPr>
        <p:spPr>
          <a:xfrm>
            <a:off x="640080" y="3913632"/>
            <a:ext cx="2563292" cy="1783080"/>
          </a:xfrm>
          <a:prstGeom prst="roundRect">
            <a:avLst>
              <a:gd name="adj" fmla="val 3590"/>
            </a:avLst>
          </a:prstGeom>
          <a:solidFill>
            <a:srgbClr val="FFFFFF"/>
          </a:solidFill>
          <a:ln w="12700">
            <a:solidFill>
              <a:srgbClr val="DFEAE8"/>
            </a:solidFill>
            <a:prstDash val="solid"/>
          </a:ln>
          <a:effectLst>
            <a:outerShdw sx="100000" sy="100000" kx="0" ky="0" algn="bl" rotWithShape="0" blurRad="152400" dist="25400" dir="5400000">
              <a:srgbClr val="0B2B2E">
                <a:alpha val="9000"/>
              </a:srgbClr>
            </a:outerShdw>
          </a:effectLst>
        </p:spPr>
      </p:sp>
      <p:sp>
        <p:nvSpPr>
          <p:cNvPr id="16" name="Text 14"/>
          <p:cNvSpPr txBox="1"/>
          <p:nvPr/>
        </p:nvSpPr>
        <p:spPr>
          <a:xfrm>
            <a:off x="914400" y="4114800"/>
            <a:ext cx="914400" cy="274320"/>
          </a:xfrm>
          <a:prstGeom prst="rect">
            <a:avLst/>
          </a:prstGeom>
          <a:noFill/>
          <a:ln/>
        </p:spPr>
        <p:txBody>
          <a:bodyPr wrap="square" lIns="0" tIns="0" rIns="0" bIns="0" rtlCol="0" anchor="ctr"/>
          <a:lstStyle/>
          <a:p>
            <a:pPr indent="0" marL="0">
              <a:buNone/>
            </a:pPr>
            <a:r>
              <a:rPr lang="en-US" sz="1600" b="1" dirty="0">
                <a:solidFill>
                  <a:srgbClr val="5FB3AB"/>
                </a:solidFill>
                <a:latin typeface="Cambria" pitchFamily="34" charset="0"/>
                <a:ea typeface="Cambria" pitchFamily="34" charset="-122"/>
                <a:cs typeface="Cambria" pitchFamily="34" charset="-120"/>
              </a:rPr>
              <a:t>01</a:t>
            </a:r>
            <a:endParaRPr lang="en-US" sz="1600" dirty="0"/>
          </a:p>
        </p:txBody>
      </p:sp>
      <p:sp>
        <p:nvSpPr>
          <p:cNvPr id="17" name="Text 15"/>
          <p:cNvSpPr txBox="1"/>
          <p:nvPr/>
        </p:nvSpPr>
        <p:spPr>
          <a:xfrm>
            <a:off x="914400" y="4462272"/>
            <a:ext cx="2014652" cy="1051560"/>
          </a:xfrm>
          <a:prstGeom prst="rect">
            <a:avLst/>
          </a:prstGeom>
          <a:noFill/>
          <a:ln/>
        </p:spPr>
        <p:txBody>
          <a:bodyPr wrap="square" lIns="0" tIns="0" rIns="0" bIns="0" rtlCol="0" anchor="ctr"/>
          <a:lstStyle/>
          <a:p>
            <a:pPr indent="0" marL="0">
              <a:lnSpc>
                <a:spcPts val="1900"/>
              </a:lnSpc>
              <a:buNone/>
            </a:pPr>
            <a:r>
              <a:rPr lang="en-US" sz="1300" dirty="0">
                <a:solidFill>
                  <a:srgbClr val="0B2B2E"/>
                </a:solidFill>
                <a:latin typeface="Calibri" pitchFamily="34" charset="0"/>
                <a:ea typeface="Calibri" pitchFamily="34" charset="-122"/>
                <a:cs typeface="Calibri" pitchFamily="34" charset="-120"/>
              </a:rPr>
              <a:t>…let a record write itself from what is already being said in the room?</a:t>
            </a:r>
            <a:endParaRPr lang="en-US" sz="1300" dirty="0"/>
          </a:p>
        </p:txBody>
      </p:sp>
      <p:sp>
        <p:nvSpPr>
          <p:cNvPr id="18" name="Shape 16"/>
          <p:cNvSpPr/>
          <p:nvPr/>
        </p:nvSpPr>
        <p:spPr>
          <a:xfrm>
            <a:off x="3422828" y="3913632"/>
            <a:ext cx="2563292" cy="1783080"/>
          </a:xfrm>
          <a:prstGeom prst="roundRect">
            <a:avLst>
              <a:gd name="adj" fmla="val 3590"/>
            </a:avLst>
          </a:prstGeom>
          <a:solidFill>
            <a:srgbClr val="FFFFFF"/>
          </a:solidFill>
          <a:ln w="12700">
            <a:solidFill>
              <a:srgbClr val="DFEAE8"/>
            </a:solidFill>
            <a:prstDash val="solid"/>
          </a:ln>
          <a:effectLst>
            <a:outerShdw sx="100000" sy="100000" kx="0" ky="0" algn="bl" rotWithShape="0" blurRad="152400" dist="25400" dir="5400000">
              <a:srgbClr val="0B2B2E">
                <a:alpha val="9000"/>
              </a:srgbClr>
            </a:outerShdw>
          </a:effectLst>
        </p:spPr>
      </p:sp>
      <p:sp>
        <p:nvSpPr>
          <p:cNvPr id="19" name="Text 17"/>
          <p:cNvSpPr txBox="1"/>
          <p:nvPr/>
        </p:nvSpPr>
        <p:spPr>
          <a:xfrm>
            <a:off x="3697148" y="4114800"/>
            <a:ext cx="914400" cy="274320"/>
          </a:xfrm>
          <a:prstGeom prst="rect">
            <a:avLst/>
          </a:prstGeom>
          <a:noFill/>
          <a:ln/>
        </p:spPr>
        <p:txBody>
          <a:bodyPr wrap="square" lIns="0" tIns="0" rIns="0" bIns="0" rtlCol="0" anchor="ctr"/>
          <a:lstStyle/>
          <a:p>
            <a:pPr indent="0" marL="0">
              <a:buNone/>
            </a:pPr>
            <a:r>
              <a:rPr lang="en-US" sz="1600" b="1" dirty="0">
                <a:solidFill>
                  <a:srgbClr val="5FB3AB"/>
                </a:solidFill>
                <a:latin typeface="Cambria" pitchFamily="34" charset="0"/>
                <a:ea typeface="Cambria" pitchFamily="34" charset="-122"/>
                <a:cs typeface="Cambria" pitchFamily="34" charset="-120"/>
              </a:rPr>
              <a:t>02</a:t>
            </a:r>
            <a:endParaRPr lang="en-US" sz="1600" dirty="0"/>
          </a:p>
        </p:txBody>
      </p:sp>
      <p:sp>
        <p:nvSpPr>
          <p:cNvPr id="20" name="Text 18"/>
          <p:cNvSpPr txBox="1"/>
          <p:nvPr/>
        </p:nvSpPr>
        <p:spPr>
          <a:xfrm>
            <a:off x="3697148" y="4462272"/>
            <a:ext cx="2014652" cy="1051560"/>
          </a:xfrm>
          <a:prstGeom prst="rect">
            <a:avLst/>
          </a:prstGeom>
          <a:noFill/>
          <a:ln/>
        </p:spPr>
        <p:txBody>
          <a:bodyPr wrap="square" lIns="0" tIns="0" rIns="0" bIns="0" rtlCol="0" anchor="ctr"/>
          <a:lstStyle/>
          <a:p>
            <a:pPr indent="0" marL="0">
              <a:lnSpc>
                <a:spcPts val="1900"/>
              </a:lnSpc>
              <a:buNone/>
            </a:pPr>
            <a:r>
              <a:rPr lang="en-US" sz="1300" dirty="0">
                <a:solidFill>
                  <a:srgbClr val="0B2B2E"/>
                </a:solidFill>
                <a:latin typeface="Calibri" pitchFamily="34" charset="0"/>
                <a:ea typeface="Calibri" pitchFamily="34" charset="-122"/>
                <a:cs typeface="Calibri" pitchFamily="34" charset="-120"/>
              </a:rPr>
              <a:t>…make recording feel like less work than the paper it replaces?</a:t>
            </a:r>
            <a:endParaRPr lang="en-US" sz="1300" dirty="0"/>
          </a:p>
        </p:txBody>
      </p:sp>
      <p:sp>
        <p:nvSpPr>
          <p:cNvPr id="21" name="Shape 19"/>
          <p:cNvSpPr/>
          <p:nvPr/>
        </p:nvSpPr>
        <p:spPr>
          <a:xfrm>
            <a:off x="6205576" y="3913632"/>
            <a:ext cx="2563292" cy="1783080"/>
          </a:xfrm>
          <a:prstGeom prst="roundRect">
            <a:avLst>
              <a:gd name="adj" fmla="val 3590"/>
            </a:avLst>
          </a:prstGeom>
          <a:solidFill>
            <a:srgbClr val="FFFFFF"/>
          </a:solidFill>
          <a:ln w="12700">
            <a:solidFill>
              <a:srgbClr val="DFEAE8"/>
            </a:solidFill>
            <a:prstDash val="solid"/>
          </a:ln>
          <a:effectLst>
            <a:outerShdw sx="100000" sy="100000" kx="0" ky="0" algn="bl" rotWithShape="0" blurRad="152400" dist="25400" dir="5400000">
              <a:srgbClr val="0B2B2E">
                <a:alpha val="9000"/>
              </a:srgbClr>
            </a:outerShdw>
          </a:effectLst>
        </p:spPr>
      </p:sp>
      <p:sp>
        <p:nvSpPr>
          <p:cNvPr id="22" name="Text 20"/>
          <p:cNvSpPr txBox="1"/>
          <p:nvPr/>
        </p:nvSpPr>
        <p:spPr>
          <a:xfrm>
            <a:off x="6479896" y="4114800"/>
            <a:ext cx="914400" cy="274320"/>
          </a:xfrm>
          <a:prstGeom prst="rect">
            <a:avLst/>
          </a:prstGeom>
          <a:noFill/>
          <a:ln/>
        </p:spPr>
        <p:txBody>
          <a:bodyPr wrap="square" lIns="0" tIns="0" rIns="0" bIns="0" rtlCol="0" anchor="ctr"/>
          <a:lstStyle/>
          <a:p>
            <a:pPr indent="0" marL="0">
              <a:buNone/>
            </a:pPr>
            <a:r>
              <a:rPr lang="en-US" sz="1600" b="1" dirty="0">
                <a:solidFill>
                  <a:srgbClr val="5FB3AB"/>
                </a:solidFill>
                <a:latin typeface="Cambria" pitchFamily="34" charset="0"/>
                <a:ea typeface="Cambria" pitchFamily="34" charset="-122"/>
                <a:cs typeface="Cambria" pitchFamily="34" charset="-120"/>
              </a:rPr>
              <a:t>03</a:t>
            </a:r>
            <a:endParaRPr lang="en-US" sz="1600" dirty="0"/>
          </a:p>
        </p:txBody>
      </p:sp>
      <p:sp>
        <p:nvSpPr>
          <p:cNvPr id="23" name="Text 21"/>
          <p:cNvSpPr txBox="1"/>
          <p:nvPr/>
        </p:nvSpPr>
        <p:spPr>
          <a:xfrm>
            <a:off x="6479896" y="4462272"/>
            <a:ext cx="2014652" cy="1051560"/>
          </a:xfrm>
          <a:prstGeom prst="rect">
            <a:avLst/>
          </a:prstGeom>
          <a:noFill/>
          <a:ln/>
        </p:spPr>
        <p:txBody>
          <a:bodyPr wrap="square" lIns="0" tIns="0" rIns="0" bIns="0" rtlCol="0" anchor="ctr"/>
          <a:lstStyle/>
          <a:p>
            <a:pPr indent="0" marL="0">
              <a:lnSpc>
                <a:spcPts val="1900"/>
              </a:lnSpc>
              <a:buNone/>
            </a:pPr>
            <a:r>
              <a:rPr lang="en-US" sz="1300" dirty="0">
                <a:solidFill>
                  <a:srgbClr val="0B2B2E"/>
                </a:solidFill>
                <a:latin typeface="Calibri" pitchFamily="34" charset="0"/>
                <a:ea typeface="Calibri" pitchFamily="34" charset="-122"/>
                <a:cs typeface="Calibri" pitchFamily="34" charset="-120"/>
              </a:rPr>
              <a:t>…guarantee no consultation is ever lost, whatever fails?</a:t>
            </a:r>
            <a:endParaRPr lang="en-US" sz="1300" dirty="0"/>
          </a:p>
        </p:txBody>
      </p:sp>
      <p:sp>
        <p:nvSpPr>
          <p:cNvPr id="24" name="Shape 22"/>
          <p:cNvSpPr/>
          <p:nvPr/>
        </p:nvSpPr>
        <p:spPr>
          <a:xfrm>
            <a:off x="8988323" y="3913632"/>
            <a:ext cx="2563292" cy="1783080"/>
          </a:xfrm>
          <a:prstGeom prst="roundRect">
            <a:avLst>
              <a:gd name="adj" fmla="val 3590"/>
            </a:avLst>
          </a:prstGeom>
          <a:solidFill>
            <a:srgbClr val="FFFFFF"/>
          </a:solidFill>
          <a:ln w="12700">
            <a:solidFill>
              <a:srgbClr val="DFEAE8"/>
            </a:solidFill>
            <a:prstDash val="solid"/>
          </a:ln>
          <a:effectLst>
            <a:outerShdw sx="100000" sy="100000" kx="0" ky="0" algn="bl" rotWithShape="0" blurRad="152400" dist="25400" dir="5400000">
              <a:srgbClr val="0B2B2E">
                <a:alpha val="9000"/>
              </a:srgbClr>
            </a:outerShdw>
          </a:effectLst>
        </p:spPr>
      </p:sp>
      <p:sp>
        <p:nvSpPr>
          <p:cNvPr id="25" name="Text 23"/>
          <p:cNvSpPr txBox="1"/>
          <p:nvPr/>
        </p:nvSpPr>
        <p:spPr>
          <a:xfrm>
            <a:off x="9262643" y="4114800"/>
            <a:ext cx="914400" cy="274320"/>
          </a:xfrm>
          <a:prstGeom prst="rect">
            <a:avLst/>
          </a:prstGeom>
          <a:noFill/>
          <a:ln/>
        </p:spPr>
        <p:txBody>
          <a:bodyPr wrap="square" lIns="0" tIns="0" rIns="0" bIns="0" rtlCol="0" anchor="ctr"/>
          <a:lstStyle/>
          <a:p>
            <a:pPr indent="0" marL="0">
              <a:buNone/>
            </a:pPr>
            <a:r>
              <a:rPr lang="en-US" sz="1600" b="1" dirty="0">
                <a:solidFill>
                  <a:srgbClr val="5FB3AB"/>
                </a:solidFill>
                <a:latin typeface="Cambria" pitchFamily="34" charset="0"/>
                <a:ea typeface="Cambria" pitchFamily="34" charset="-122"/>
                <a:cs typeface="Cambria" pitchFamily="34" charset="-120"/>
              </a:rPr>
              <a:t>04</a:t>
            </a:r>
            <a:endParaRPr lang="en-US" sz="1600" dirty="0"/>
          </a:p>
        </p:txBody>
      </p:sp>
      <p:sp>
        <p:nvSpPr>
          <p:cNvPr id="26" name="Text 24"/>
          <p:cNvSpPr txBox="1"/>
          <p:nvPr/>
        </p:nvSpPr>
        <p:spPr>
          <a:xfrm>
            <a:off x="9262643" y="4462272"/>
            <a:ext cx="2014652" cy="1051560"/>
          </a:xfrm>
          <a:prstGeom prst="rect">
            <a:avLst/>
          </a:prstGeom>
          <a:noFill/>
          <a:ln/>
        </p:spPr>
        <p:txBody>
          <a:bodyPr wrap="square" lIns="0" tIns="0" rIns="0" bIns="0" rtlCol="0" anchor="ctr"/>
          <a:lstStyle/>
          <a:p>
            <a:pPr indent="0" marL="0">
              <a:lnSpc>
                <a:spcPts val="1900"/>
              </a:lnSpc>
              <a:buNone/>
            </a:pPr>
            <a:r>
              <a:rPr lang="en-US" sz="1300" dirty="0">
                <a:solidFill>
                  <a:srgbClr val="0B2B2E"/>
                </a:solidFill>
                <a:latin typeface="Calibri" pitchFamily="34" charset="0"/>
                <a:ea typeface="Calibri" pitchFamily="34" charset="-122"/>
                <a:cs typeface="Calibri" pitchFamily="34" charset="-120"/>
              </a:rPr>
              <a:t>…stop short of clinical judgement while still being useful?</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p/>
        </p:txBody>
      </p:sp>
      <p:sp>
        <p:nvSpPr>
          <p:cNvPr id="3" name="Text 1"/>
          <p:cNvSpPr txBox="1"/>
          <p:nvPr/>
        </p:nvSpPr>
        <p:spPr>
          <a:xfrm>
            <a:off x="640080" y="475488"/>
            <a:ext cx="7315200" cy="256032"/>
          </a:xfrm>
          <a:prstGeom prst="rect">
            <a:avLst/>
          </a:prstGeom>
          <a:noFill/>
          <a:ln/>
        </p:spPr>
        <p:txBody>
          <a:bodyPr wrap="square" lIns="0" tIns="0" rIns="0" bIns="0" rtlCol="0" anchor="ctr"/>
          <a:lstStyle/>
          <a:p>
            <a:pPr indent="0" marL="0">
              <a:buNone/>
            </a:pPr>
            <a:r>
              <a:rPr lang="en-US" sz="1100" b="1" spc="240" kern="0" dirty="0">
                <a:solidFill>
                  <a:srgbClr val="0E6E6B"/>
                </a:solidFill>
                <a:latin typeface="Calibri" pitchFamily="34" charset="0"/>
                <a:ea typeface="Calibri" pitchFamily="34" charset="-122"/>
                <a:cs typeface="Calibri" pitchFamily="34" charset="-120"/>
              </a:rPr>
              <a:t>DEFINE</a:t>
            </a:r>
            <a:endParaRPr lang="en-US" sz="1100" dirty="0"/>
          </a:p>
        </p:txBody>
      </p:sp>
      <p:sp>
        <p:nvSpPr>
          <p:cNvPr id="4" name="Text 2"/>
          <p:cNvSpPr txBox="1"/>
          <p:nvPr/>
        </p:nvSpPr>
        <p:spPr>
          <a:xfrm>
            <a:off x="640080" y="822960"/>
            <a:ext cx="9509760" cy="777240"/>
          </a:xfrm>
          <a:prstGeom prst="rect">
            <a:avLst/>
          </a:prstGeom>
          <a:noFill/>
          <a:ln/>
        </p:spPr>
        <p:txBody>
          <a:bodyPr wrap="square" lIns="0" tIns="0" rIns="0" bIns="0" rtlCol="0" anchor="ctr"/>
          <a:lstStyle/>
          <a:p>
            <a:pPr indent="0" marL="0">
              <a:buNone/>
            </a:pPr>
            <a:r>
              <a:rPr lang="en-US" sz="3400" b="1" dirty="0">
                <a:solidFill>
                  <a:srgbClr val="0B2B2E"/>
                </a:solidFill>
                <a:latin typeface="Cambria" pitchFamily="34" charset="0"/>
                <a:ea typeface="Cambria" pitchFamily="34" charset="-122"/>
                <a:cs typeface="Cambria" pitchFamily="34" charset="-120"/>
              </a:rPr>
              <a:t>The boundaries we designed inside</a:t>
            </a:r>
            <a:endParaRPr lang="en-US" sz="3400" dirty="0"/>
          </a:p>
        </p:txBody>
      </p:sp>
      <p:sp>
        <p:nvSpPr>
          <p:cNvPr id="5" name="Text 3"/>
          <p:cNvSpPr txBox="1"/>
          <p:nvPr/>
        </p:nvSpPr>
        <p:spPr>
          <a:xfrm>
            <a:off x="7423099" y="493776"/>
            <a:ext cx="2788920" cy="256032"/>
          </a:xfrm>
          <a:prstGeom prst="rect">
            <a:avLst/>
          </a:prstGeom>
          <a:noFill/>
          <a:ln/>
        </p:spPr>
        <p:txBody>
          <a:bodyPr wrap="square" lIns="0" tIns="0" rIns="0" bIns="0" rtlCol="0" anchor="ctr"/>
          <a:lstStyle/>
          <a:p>
            <a:pPr algn="r" indent="0" marL="0">
              <a:buNone/>
            </a:pPr>
            <a:r>
              <a:rPr lang="en-US" sz="1000" b="1" spc="180" kern="0" dirty="0">
                <a:solidFill>
                  <a:srgbClr val="8B9C9D"/>
                </a:solidFill>
                <a:latin typeface="Calibri" pitchFamily="34" charset="0"/>
                <a:ea typeface="Calibri" pitchFamily="34" charset="-122"/>
                <a:cs typeface="Calibri" pitchFamily="34" charset="-120"/>
              </a:rPr>
              <a:t>DEFINE</a:t>
            </a:r>
            <a:endParaRPr lang="en-US" sz="1000" dirty="0"/>
          </a:p>
        </p:txBody>
      </p:sp>
      <p:sp>
        <p:nvSpPr>
          <p:cNvPr id="6" name="Shape 4"/>
          <p:cNvSpPr/>
          <p:nvPr/>
        </p:nvSpPr>
        <p:spPr>
          <a:xfrm>
            <a:off x="10349179" y="548640"/>
            <a:ext cx="141732" cy="141732"/>
          </a:xfrm>
          <a:prstGeom prst="ellipse">
            <a:avLst/>
          </a:prstGeom>
          <a:solidFill>
            <a:srgbClr val="DFEAE8"/>
          </a:solidFill>
          <a:ln/>
        </p:spPr>
        <p:txBody>
          <a:bodyPr/>
          <a:p/>
        </p:txBody>
      </p:sp>
      <p:sp>
        <p:nvSpPr>
          <p:cNvPr id="7" name="Shape 5"/>
          <p:cNvSpPr/>
          <p:nvPr/>
        </p:nvSpPr>
        <p:spPr>
          <a:xfrm>
            <a:off x="10614355" y="548640"/>
            <a:ext cx="141732" cy="141732"/>
          </a:xfrm>
          <a:prstGeom prst="ellipse">
            <a:avLst/>
          </a:prstGeom>
          <a:solidFill>
            <a:srgbClr val="C9821F"/>
          </a:solidFill>
          <a:ln/>
        </p:spPr>
        <p:txBody>
          <a:bodyPr/>
          <a:p/>
        </p:txBody>
      </p:sp>
      <p:sp>
        <p:nvSpPr>
          <p:cNvPr id="8" name="Shape 6"/>
          <p:cNvSpPr/>
          <p:nvPr/>
        </p:nvSpPr>
        <p:spPr>
          <a:xfrm>
            <a:off x="10879531" y="548640"/>
            <a:ext cx="141732" cy="141732"/>
          </a:xfrm>
          <a:prstGeom prst="ellipse">
            <a:avLst/>
          </a:prstGeom>
          <a:solidFill>
            <a:srgbClr val="DFEAE8"/>
          </a:solidFill>
          <a:ln/>
        </p:spPr>
        <p:txBody>
          <a:bodyPr/>
          <a:p/>
        </p:txBody>
      </p:sp>
      <p:sp>
        <p:nvSpPr>
          <p:cNvPr id="9" name="Shape 7"/>
          <p:cNvSpPr/>
          <p:nvPr/>
        </p:nvSpPr>
        <p:spPr>
          <a:xfrm>
            <a:off x="11144707" y="548640"/>
            <a:ext cx="141732" cy="141732"/>
          </a:xfrm>
          <a:prstGeom prst="ellipse">
            <a:avLst/>
          </a:prstGeom>
          <a:solidFill>
            <a:srgbClr val="DFEAE8"/>
          </a:solidFill>
          <a:ln/>
        </p:spPr>
        <p:txBody>
          <a:bodyPr/>
          <a:p/>
        </p:txBody>
      </p:sp>
      <p:sp>
        <p:nvSpPr>
          <p:cNvPr id="10" name="Shape 8"/>
          <p:cNvSpPr/>
          <p:nvPr/>
        </p:nvSpPr>
        <p:spPr>
          <a:xfrm>
            <a:off x="11409883" y="548640"/>
            <a:ext cx="141732" cy="141732"/>
          </a:xfrm>
          <a:prstGeom prst="ellipse">
            <a:avLst/>
          </a:prstGeom>
          <a:solidFill>
            <a:srgbClr val="DFEAE8"/>
          </a:solidFill>
          <a:ln/>
        </p:spPr>
        <p:txBody>
          <a:bodyPr/>
          <a:p/>
        </p:txBody>
      </p:sp>
      <p:sp>
        <p:nvSpPr>
          <p:cNvPr id="11" name="Text 9"/>
          <p:cNvSpPr txBox="1"/>
          <p:nvPr/>
        </p:nvSpPr>
        <p:spPr>
          <a:xfrm>
            <a:off x="640080" y="1847088"/>
            <a:ext cx="4572000" cy="256032"/>
          </a:xfrm>
          <a:prstGeom prst="rect">
            <a:avLst/>
          </a:prstGeom>
          <a:noFill/>
          <a:ln/>
        </p:spPr>
        <p:txBody>
          <a:bodyPr wrap="square" lIns="0" tIns="0" rIns="0" bIns="0" rtlCol="0" anchor="ctr"/>
          <a:lstStyle/>
          <a:p>
            <a:pPr indent="0" marL="0">
              <a:buNone/>
            </a:pPr>
            <a:r>
              <a:rPr lang="en-US" sz="1050" b="1" spc="180" kern="0" dirty="0">
                <a:solidFill>
                  <a:srgbClr val="A8453A"/>
                </a:solidFill>
                <a:latin typeface="Calibri" pitchFamily="34" charset="0"/>
                <a:ea typeface="Calibri" pitchFamily="34" charset="-122"/>
                <a:cs typeface="Calibri" pitchFamily="34" charset="-120"/>
              </a:rPr>
              <a:t>TWO LINES WE MAY NOT CROSS</a:t>
            </a:r>
            <a:endParaRPr lang="en-US" sz="1050" dirty="0"/>
          </a:p>
        </p:txBody>
      </p:sp>
      <p:sp>
        <p:nvSpPr>
          <p:cNvPr id="12" name="Shape 10"/>
          <p:cNvSpPr/>
          <p:nvPr/>
        </p:nvSpPr>
        <p:spPr>
          <a:xfrm>
            <a:off x="640080" y="2212848"/>
            <a:ext cx="5870448" cy="1737360"/>
          </a:xfrm>
          <a:prstGeom prst="roundRect">
            <a:avLst>
              <a:gd name="adj" fmla="val 3684"/>
            </a:avLst>
          </a:prstGeom>
          <a:solidFill>
            <a:srgbClr val="FFFFFF"/>
          </a:solidFill>
          <a:ln w="12700">
            <a:solidFill>
              <a:srgbClr val="DFEAE8"/>
            </a:solidFill>
            <a:prstDash val="solid"/>
          </a:ln>
          <a:effectLst>
            <a:outerShdw sx="100000" sy="100000" kx="0" ky="0" algn="bl" rotWithShape="0" blurRad="152400" dist="25400" dir="5400000">
              <a:srgbClr val="0B2B2E">
                <a:alpha val="9000"/>
              </a:srgbClr>
            </a:outerShdw>
          </a:effectLst>
        </p:spPr>
        <p:txBody>
          <a:bodyPr/>
          <a:p/>
        </p:txBody>
      </p:sp>
      <p:sp>
        <p:nvSpPr>
          <p:cNvPr id="13" name="Shape 11"/>
          <p:cNvSpPr/>
          <p:nvPr/>
        </p:nvSpPr>
        <p:spPr>
          <a:xfrm>
            <a:off x="932688" y="2487168"/>
            <a:ext cx="548640" cy="548640"/>
          </a:xfrm>
          <a:prstGeom prst="ellipse">
            <a:avLst/>
          </a:prstGeom>
          <a:solidFill>
            <a:srgbClr val="0B2B2E"/>
          </a:solidFill>
          <a:ln/>
        </p:spPr>
        <p:txBody>
          <a:bodyPr/>
          <a:p/>
        </p:txBody>
      </p:sp>
      <p:pic>
        <p:nvPicPr>
          <p:cNvPr id="14" name="Image 0" descr="preencoded.png">    </p:cNvPr>
          <p:cNvPicPr>
            <a:picLocks noChangeAspect="1"/>
          </p:cNvPicPr>
          <p:nvPr/>
        </p:nvPicPr>
        <p:blipFill>
          <a:blip r:embed="rId1"/>
          <a:stretch>
            <a:fillRect/>
          </a:stretch>
        </p:blipFill>
        <p:spPr>
          <a:xfrm>
            <a:off x="1069848" y="2624328"/>
            <a:ext cx="274320" cy="274320"/>
          </a:xfrm>
          <a:prstGeom prst="rect">
            <a:avLst/>
          </a:prstGeom>
        </p:spPr>
      </p:pic>
      <p:sp>
        <p:nvSpPr>
          <p:cNvPr id="15" name="Text 12"/>
          <p:cNvSpPr txBox="1"/>
          <p:nvPr/>
        </p:nvSpPr>
        <p:spPr>
          <a:xfrm>
            <a:off x="1627632" y="2505456"/>
            <a:ext cx="4663440" cy="292608"/>
          </a:xfrm>
          <a:prstGeom prst="rect">
            <a:avLst/>
          </a:prstGeom>
          <a:noFill/>
          <a:ln/>
        </p:spPr>
        <p:txBody>
          <a:bodyPr wrap="square" lIns="0" tIns="0" rIns="0" bIns="0" rtlCol="0" anchor="ctr"/>
          <a:lstStyle/>
          <a:p>
            <a:pPr indent="0" marL="0">
              <a:buNone/>
            </a:pPr>
            <a:r>
              <a:rPr lang="en-US" sz="1400" b="1" dirty="0">
                <a:solidFill>
                  <a:srgbClr val="0B2B2E"/>
                </a:solidFill>
                <a:latin typeface="Calibri" pitchFamily="34" charset="0"/>
                <a:ea typeface="Calibri" pitchFamily="34" charset="-122"/>
                <a:cs typeface="Calibri" pitchFamily="34" charset="-120"/>
              </a:rPr>
              <a:t>CDSCO — Software as a Medical Device</a:t>
            </a:r>
            <a:endParaRPr lang="en-US" sz="1400" dirty="0"/>
          </a:p>
        </p:txBody>
      </p:sp>
      <p:sp>
        <p:nvSpPr>
          <p:cNvPr id="16" name="Text 13"/>
          <p:cNvSpPr txBox="1"/>
          <p:nvPr/>
        </p:nvSpPr>
        <p:spPr>
          <a:xfrm>
            <a:off x="1627632" y="2871216"/>
            <a:ext cx="4718304" cy="914400"/>
          </a:xfrm>
          <a:prstGeom prst="rect">
            <a:avLst/>
          </a:prstGeom>
          <a:noFill/>
          <a:ln/>
        </p:spPr>
        <p:txBody>
          <a:bodyPr wrap="square" lIns="0" tIns="0" rIns="0" bIns="0" rtlCol="0" anchor="ctr"/>
          <a:lstStyle/>
          <a:p>
            <a:pPr indent="0" marL="0">
              <a:lnSpc>
                <a:spcPts val="1700"/>
              </a:lnSpc>
              <a:buNone/>
            </a:pPr>
            <a:r>
              <a:rPr lang="en-US" sz="1200" dirty="0">
                <a:solidFill>
                  <a:srgbClr val="56696A"/>
                </a:solidFill>
                <a:latin typeface="Calibri" pitchFamily="34" charset="0"/>
                <a:ea typeface="Calibri" pitchFamily="34" charset="-122"/>
                <a:cs typeface="Calibri" pitchFamily="34" charset="-120"/>
              </a:rPr>
              <a:t>Software confined to storing, formatting and communicating data sits outside device regulation. Software that quantifies a physiological parameter to drive a clinical decision does not.</a:t>
            </a:r>
            <a:endParaRPr lang="en-US" sz="1200" dirty="0"/>
          </a:p>
        </p:txBody>
      </p:sp>
      <p:sp>
        <p:nvSpPr>
          <p:cNvPr id="17" name="Shape 14"/>
          <p:cNvSpPr/>
          <p:nvPr/>
        </p:nvSpPr>
        <p:spPr>
          <a:xfrm>
            <a:off x="640080" y="4133088"/>
            <a:ext cx="5870448" cy="1737360"/>
          </a:xfrm>
          <a:prstGeom prst="roundRect">
            <a:avLst>
              <a:gd name="adj" fmla="val 3684"/>
            </a:avLst>
          </a:prstGeom>
          <a:solidFill>
            <a:srgbClr val="FFFFFF"/>
          </a:solidFill>
          <a:ln w="12700">
            <a:solidFill>
              <a:srgbClr val="DFEAE8"/>
            </a:solidFill>
            <a:prstDash val="solid"/>
          </a:ln>
          <a:effectLst>
            <a:outerShdw sx="100000" sy="100000" kx="0" ky="0" algn="bl" rotWithShape="0" blurRad="152400" dist="25400" dir="5400000">
              <a:srgbClr val="0B2B2E">
                <a:alpha val="9000"/>
              </a:srgbClr>
            </a:outerShdw>
          </a:effectLst>
        </p:spPr>
        <p:txBody>
          <a:bodyPr/>
          <a:p/>
        </p:txBody>
      </p:sp>
      <p:sp>
        <p:nvSpPr>
          <p:cNvPr id="18" name="Shape 15"/>
          <p:cNvSpPr/>
          <p:nvPr/>
        </p:nvSpPr>
        <p:spPr>
          <a:xfrm>
            <a:off x="932688" y="4407408"/>
            <a:ext cx="548640" cy="548640"/>
          </a:xfrm>
          <a:prstGeom prst="ellipse">
            <a:avLst/>
          </a:prstGeom>
          <a:solidFill>
            <a:srgbClr val="0B2B2E"/>
          </a:solidFill>
          <a:ln/>
        </p:spPr>
        <p:txBody>
          <a:bodyPr/>
          <a:p/>
        </p:txBody>
      </p:sp>
      <p:pic>
        <p:nvPicPr>
          <p:cNvPr id="19" name="Image 1" descr="preencoded.png">    </p:cNvPr>
          <p:cNvPicPr>
            <a:picLocks noChangeAspect="1"/>
          </p:cNvPicPr>
          <p:nvPr/>
        </p:nvPicPr>
        <p:blipFill>
          <a:blip r:embed="rId2"/>
          <a:stretch>
            <a:fillRect/>
          </a:stretch>
        </p:blipFill>
        <p:spPr>
          <a:xfrm>
            <a:off x="1069848" y="4544568"/>
            <a:ext cx="274320" cy="274320"/>
          </a:xfrm>
          <a:prstGeom prst="rect">
            <a:avLst/>
          </a:prstGeom>
        </p:spPr>
      </p:pic>
      <p:sp>
        <p:nvSpPr>
          <p:cNvPr id="20" name="Text 16"/>
          <p:cNvSpPr txBox="1"/>
          <p:nvPr/>
        </p:nvSpPr>
        <p:spPr>
          <a:xfrm>
            <a:off x="1627632" y="4425696"/>
            <a:ext cx="4663440" cy="292608"/>
          </a:xfrm>
          <a:prstGeom prst="rect">
            <a:avLst/>
          </a:prstGeom>
          <a:noFill/>
          <a:ln/>
        </p:spPr>
        <p:txBody>
          <a:bodyPr wrap="square" lIns="0" tIns="0" rIns="0" bIns="0" rtlCol="0" anchor="ctr"/>
          <a:lstStyle/>
          <a:p>
            <a:pPr indent="0" marL="0">
              <a:buNone/>
            </a:pPr>
            <a:r>
              <a:rPr lang="en-US" sz="1400" b="1" dirty="0">
                <a:solidFill>
                  <a:srgbClr val="0B2B2E"/>
                </a:solidFill>
                <a:latin typeface="Calibri" pitchFamily="34" charset="0"/>
                <a:ea typeface="Calibri" pitchFamily="34" charset="-122"/>
                <a:cs typeface="Calibri" pitchFamily="34" charset="-120"/>
              </a:rPr>
              <a:t>Digital Personal Data Protection Act, 2023</a:t>
            </a:r>
            <a:endParaRPr lang="en-US" sz="1400" dirty="0"/>
          </a:p>
        </p:txBody>
      </p:sp>
      <p:sp>
        <p:nvSpPr>
          <p:cNvPr id="21" name="Text 17"/>
          <p:cNvSpPr txBox="1"/>
          <p:nvPr/>
        </p:nvSpPr>
        <p:spPr>
          <a:xfrm>
            <a:off x="1627632" y="4791456"/>
            <a:ext cx="4718304" cy="914400"/>
          </a:xfrm>
          <a:prstGeom prst="rect">
            <a:avLst/>
          </a:prstGeom>
          <a:noFill/>
          <a:ln/>
        </p:spPr>
        <p:txBody>
          <a:bodyPr wrap="square" lIns="0" tIns="0" rIns="0" bIns="0" rtlCol="0" anchor="ctr"/>
          <a:lstStyle/>
          <a:p>
            <a:pPr indent="0" marL="0">
              <a:lnSpc>
                <a:spcPts val="1700"/>
              </a:lnSpc>
              <a:buNone/>
            </a:pPr>
            <a:r>
              <a:rPr lang="en-US" sz="1200" dirty="0">
                <a:solidFill>
                  <a:srgbClr val="56696A"/>
                </a:solidFill>
                <a:latin typeface="Calibri" pitchFamily="34" charset="0"/>
                <a:ea typeface="Calibri" pitchFamily="34" charset="-122"/>
                <a:cs typeface="Calibri" pitchFamily="34" charset="-120"/>
              </a:rPr>
              <a:t>Consultation content is sensitive personal data. Informed consent, purpose limitation and deletion rights apply to an early-stage product exactly as they apply to an established company.</a:t>
            </a:r>
            <a:endParaRPr lang="en-US" sz="1200" dirty="0"/>
          </a:p>
        </p:txBody>
      </p:sp>
      <p:sp>
        <p:nvSpPr>
          <p:cNvPr id="22" name="Shape 18"/>
          <p:cNvSpPr/>
          <p:nvPr/>
        </p:nvSpPr>
        <p:spPr>
          <a:xfrm>
            <a:off x="6766560" y="1847088"/>
            <a:ext cx="4782312" cy="3931920"/>
          </a:xfrm>
          <a:prstGeom prst="roundRect">
            <a:avLst>
              <a:gd name="adj" fmla="val 2093"/>
            </a:avLst>
          </a:prstGeom>
          <a:solidFill>
            <a:srgbClr val="0B2B2E"/>
          </a:solidFill>
          <a:ln/>
          <a:effectLst>
            <a:outerShdw sx="100000" sy="100000" kx="0" ky="0" algn="bl" rotWithShape="0" blurRad="152400" dist="25400" dir="5400000">
              <a:srgbClr val="0B2B2E">
                <a:alpha val="9000"/>
              </a:srgbClr>
            </a:outerShdw>
          </a:effectLst>
        </p:spPr>
        <p:txBody>
          <a:bodyPr/>
          <a:p/>
        </p:txBody>
      </p:sp>
      <p:sp>
        <p:nvSpPr>
          <p:cNvPr id="23" name="Text 19"/>
          <p:cNvSpPr txBox="1"/>
          <p:nvPr/>
        </p:nvSpPr>
        <p:spPr>
          <a:xfrm>
            <a:off x="7114032" y="2121408"/>
            <a:ext cx="4114800" cy="256032"/>
          </a:xfrm>
          <a:prstGeom prst="rect">
            <a:avLst/>
          </a:prstGeom>
          <a:noFill/>
          <a:ln/>
        </p:spPr>
        <p:txBody>
          <a:bodyPr wrap="square" lIns="0" tIns="0" rIns="0" bIns="0" rtlCol="0" anchor="ctr"/>
          <a:lstStyle/>
          <a:p>
            <a:pPr indent="0" marL="0">
              <a:buNone/>
            </a:pPr>
            <a:r>
              <a:rPr lang="en-US" sz="1050" b="1" spc="160" kern="0" dirty="0">
                <a:solidFill>
                  <a:srgbClr val="C9821F"/>
                </a:solidFill>
                <a:latin typeface="Calibri" pitchFamily="34" charset="0"/>
                <a:ea typeface="Calibri" pitchFamily="34" charset="-122"/>
                <a:cs typeface="Calibri" pitchFamily="34" charset="-120"/>
              </a:rPr>
              <a:t>FOUR THINGS WE CHOSE NOT TO BUILD</a:t>
            </a:r>
            <a:endParaRPr lang="en-US" sz="1050" dirty="0"/>
          </a:p>
        </p:txBody>
      </p:sp>
      <p:sp>
        <p:nvSpPr>
          <p:cNvPr id="24" name="Text 20"/>
          <p:cNvSpPr txBox="1"/>
          <p:nvPr/>
        </p:nvSpPr>
        <p:spPr>
          <a:xfrm>
            <a:off x="7114032" y="2560320"/>
            <a:ext cx="274320" cy="274320"/>
          </a:xfrm>
          <a:prstGeom prst="rect">
            <a:avLst/>
          </a:prstGeom>
          <a:noFill/>
          <a:ln/>
        </p:spPr>
        <p:txBody>
          <a:bodyPr wrap="square" lIns="0" tIns="0" rIns="0" bIns="0" rtlCol="0" anchor="ctr"/>
          <a:lstStyle/>
          <a:p>
            <a:pPr indent="0" marL="0">
              <a:buNone/>
            </a:pPr>
            <a:r>
              <a:rPr lang="en-US" sz="1700" b="1" dirty="0">
                <a:solidFill>
                  <a:srgbClr val="5FB3AB"/>
                </a:solidFill>
                <a:latin typeface="Calibri" pitchFamily="34" charset="0"/>
                <a:ea typeface="Calibri" pitchFamily="34" charset="-122"/>
                <a:cs typeface="Calibri" pitchFamily="34" charset="-120"/>
              </a:rPr>
              <a:t>×</a:t>
            </a:r>
            <a:endParaRPr lang="en-US" sz="1700" dirty="0"/>
          </a:p>
        </p:txBody>
      </p:sp>
      <p:sp>
        <p:nvSpPr>
          <p:cNvPr id="25" name="Text 21"/>
          <p:cNvSpPr txBox="1"/>
          <p:nvPr/>
        </p:nvSpPr>
        <p:spPr>
          <a:xfrm>
            <a:off x="7443216" y="2578608"/>
            <a:ext cx="3794760"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No diagnosis, no risk score</a:t>
            </a:r>
            <a:endParaRPr lang="en-US" sz="1300" dirty="0"/>
          </a:p>
        </p:txBody>
      </p:sp>
      <p:sp>
        <p:nvSpPr>
          <p:cNvPr id="26" name="Text 22"/>
          <p:cNvSpPr txBox="1"/>
          <p:nvPr/>
        </p:nvSpPr>
        <p:spPr>
          <a:xfrm>
            <a:off x="7443216" y="2852928"/>
            <a:ext cx="3794760" cy="384048"/>
          </a:xfrm>
          <a:prstGeom prst="rect">
            <a:avLst/>
          </a:prstGeom>
          <a:noFill/>
          <a:ln/>
        </p:spPr>
        <p:txBody>
          <a:bodyPr wrap="square" lIns="0" tIns="0" rIns="0" bIns="0" rtlCol="0" anchor="ctr"/>
          <a:lstStyle/>
          <a:p>
            <a:pPr indent="0" marL="0">
              <a:lnSpc>
                <a:spcPts val="1500"/>
              </a:lnSpc>
              <a:buNone/>
            </a:pPr>
            <a:r>
              <a:rPr lang="en-US" sz="1150" dirty="0">
                <a:solidFill>
                  <a:srgbClr val="9DB4B4"/>
                </a:solidFill>
                <a:latin typeface="Calibri" pitchFamily="34" charset="0"/>
                <a:ea typeface="Calibri" pitchFamily="34" charset="-122"/>
                <a:cs typeface="Calibri" pitchFamily="34" charset="-120"/>
              </a:rPr>
              <a:t>the system carries the record, it does not judge it</a:t>
            </a:r>
            <a:endParaRPr lang="en-US" sz="1150" dirty="0"/>
          </a:p>
        </p:txBody>
      </p:sp>
      <p:sp>
        <p:nvSpPr>
          <p:cNvPr id="27" name="Text 23"/>
          <p:cNvSpPr txBox="1"/>
          <p:nvPr/>
        </p:nvSpPr>
        <p:spPr>
          <a:xfrm>
            <a:off x="7114032" y="3346704"/>
            <a:ext cx="274320" cy="274320"/>
          </a:xfrm>
          <a:prstGeom prst="rect">
            <a:avLst/>
          </a:prstGeom>
          <a:noFill/>
          <a:ln/>
        </p:spPr>
        <p:txBody>
          <a:bodyPr wrap="square" lIns="0" tIns="0" rIns="0" bIns="0" rtlCol="0" anchor="ctr"/>
          <a:lstStyle/>
          <a:p>
            <a:pPr indent="0" marL="0">
              <a:buNone/>
            </a:pPr>
            <a:r>
              <a:rPr lang="en-US" sz="1700" b="1" dirty="0">
                <a:solidFill>
                  <a:srgbClr val="5FB3AB"/>
                </a:solidFill>
                <a:latin typeface="Calibri" pitchFamily="34" charset="0"/>
                <a:ea typeface="Calibri" pitchFamily="34" charset="-122"/>
                <a:cs typeface="Calibri" pitchFamily="34" charset="-120"/>
              </a:rPr>
              <a:t>×</a:t>
            </a:r>
            <a:endParaRPr lang="en-US" sz="1700" dirty="0"/>
          </a:p>
        </p:txBody>
      </p:sp>
      <p:sp>
        <p:nvSpPr>
          <p:cNvPr id="28" name="Text 24"/>
          <p:cNvSpPr txBox="1"/>
          <p:nvPr/>
        </p:nvSpPr>
        <p:spPr>
          <a:xfrm>
            <a:off x="7443216" y="3364992"/>
            <a:ext cx="3794760"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Nothing identifiable leaves the machine</a:t>
            </a:r>
            <a:endParaRPr lang="en-US" sz="1300" dirty="0"/>
          </a:p>
        </p:txBody>
      </p:sp>
      <p:sp>
        <p:nvSpPr>
          <p:cNvPr id="29" name="Text 25"/>
          <p:cNvSpPr txBox="1"/>
          <p:nvPr/>
        </p:nvSpPr>
        <p:spPr>
          <a:xfrm>
            <a:off x="7443216" y="3639312"/>
            <a:ext cx="3794760" cy="384048"/>
          </a:xfrm>
          <a:prstGeom prst="rect">
            <a:avLst/>
          </a:prstGeom>
          <a:noFill/>
          <a:ln/>
        </p:spPr>
        <p:txBody>
          <a:bodyPr wrap="square" lIns="0" tIns="0" rIns="0" bIns="0" rtlCol="0" anchor="ctr"/>
          <a:lstStyle/>
          <a:p>
            <a:pPr indent="0" marL="0">
              <a:lnSpc>
                <a:spcPts val="1500"/>
              </a:lnSpc>
              <a:buNone/>
            </a:pPr>
            <a:r>
              <a:rPr lang="en-US" sz="1150" dirty="0">
                <a:solidFill>
                  <a:srgbClr val="9DB4B4"/>
                </a:solidFill>
                <a:latin typeface="Calibri" pitchFamily="34" charset="0"/>
                <a:ea typeface="Calibri" pitchFamily="34" charset="-122"/>
                <a:cs typeface="Calibri" pitchFamily="34" charset="-120"/>
              </a:rPr>
              <a:t>no cloud, no upload, no exception</a:t>
            </a:r>
            <a:endParaRPr lang="en-US" sz="1150" dirty="0"/>
          </a:p>
        </p:txBody>
      </p:sp>
      <p:sp>
        <p:nvSpPr>
          <p:cNvPr id="30" name="Text 26"/>
          <p:cNvSpPr txBox="1"/>
          <p:nvPr/>
        </p:nvSpPr>
        <p:spPr>
          <a:xfrm>
            <a:off x="7114032" y="4133088"/>
            <a:ext cx="274320" cy="274320"/>
          </a:xfrm>
          <a:prstGeom prst="rect">
            <a:avLst/>
          </a:prstGeom>
          <a:noFill/>
          <a:ln/>
        </p:spPr>
        <p:txBody>
          <a:bodyPr wrap="square" lIns="0" tIns="0" rIns="0" bIns="0" rtlCol="0" anchor="ctr"/>
          <a:lstStyle/>
          <a:p>
            <a:pPr indent="0" marL="0">
              <a:buNone/>
            </a:pPr>
            <a:r>
              <a:rPr lang="en-US" sz="1700" b="1" dirty="0">
                <a:solidFill>
                  <a:srgbClr val="5FB3AB"/>
                </a:solidFill>
                <a:latin typeface="Calibri" pitchFamily="34" charset="0"/>
                <a:ea typeface="Calibri" pitchFamily="34" charset="-122"/>
                <a:cs typeface="Calibri" pitchFamily="34" charset="-120"/>
              </a:rPr>
              <a:t>×</a:t>
            </a:r>
            <a:endParaRPr lang="en-US" sz="1700" dirty="0"/>
          </a:p>
        </p:txBody>
      </p:sp>
      <p:sp>
        <p:nvSpPr>
          <p:cNvPr id="31" name="Text 27"/>
          <p:cNvSpPr txBox="1"/>
          <p:nvPr/>
        </p:nvSpPr>
        <p:spPr>
          <a:xfrm>
            <a:off x="7443216" y="4151376"/>
            <a:ext cx="3794760"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No audio kept after signing</a:t>
            </a:r>
            <a:endParaRPr lang="en-US" sz="1300" dirty="0"/>
          </a:p>
        </p:txBody>
      </p:sp>
      <p:sp>
        <p:nvSpPr>
          <p:cNvPr id="32" name="Text 28"/>
          <p:cNvSpPr txBox="1"/>
          <p:nvPr/>
        </p:nvSpPr>
        <p:spPr>
          <a:xfrm>
            <a:off x="7443216" y="4425696"/>
            <a:ext cx="3794760" cy="384048"/>
          </a:xfrm>
          <a:prstGeom prst="rect">
            <a:avLst/>
          </a:prstGeom>
          <a:noFill/>
          <a:ln/>
        </p:spPr>
        <p:txBody>
          <a:bodyPr wrap="square" lIns="0" tIns="0" rIns="0" bIns="0" rtlCol="0" anchor="ctr"/>
          <a:lstStyle/>
          <a:p>
            <a:pPr indent="0" marL="0">
              <a:lnSpc>
                <a:spcPts val="1500"/>
              </a:lnSpc>
              <a:buNone/>
            </a:pPr>
            <a:r>
              <a:rPr lang="en-US" sz="1150" dirty="0">
                <a:solidFill>
                  <a:srgbClr val="9DB4B4"/>
                </a:solidFill>
                <a:latin typeface="Calibri" pitchFamily="34" charset="0"/>
                <a:ea typeface="Calibri" pitchFamily="34" charset="-122"/>
                <a:cs typeface="Calibri" pitchFamily="34" charset="-120"/>
              </a:rPr>
              <a:t>the recording is deleted the moment the note is signed</a:t>
            </a:r>
            <a:endParaRPr lang="en-US" sz="1150" dirty="0"/>
          </a:p>
        </p:txBody>
      </p:sp>
      <p:sp>
        <p:nvSpPr>
          <p:cNvPr id="33" name="Text 29"/>
          <p:cNvSpPr txBox="1"/>
          <p:nvPr/>
        </p:nvSpPr>
        <p:spPr>
          <a:xfrm>
            <a:off x="7114032" y="4919472"/>
            <a:ext cx="274320" cy="274320"/>
          </a:xfrm>
          <a:prstGeom prst="rect">
            <a:avLst/>
          </a:prstGeom>
          <a:noFill/>
          <a:ln/>
        </p:spPr>
        <p:txBody>
          <a:bodyPr wrap="square" lIns="0" tIns="0" rIns="0" bIns="0" rtlCol="0" anchor="ctr"/>
          <a:lstStyle/>
          <a:p>
            <a:pPr indent="0" marL="0">
              <a:buNone/>
            </a:pPr>
            <a:r>
              <a:rPr lang="en-US" sz="1700" b="1" dirty="0">
                <a:solidFill>
                  <a:srgbClr val="5FB3AB"/>
                </a:solidFill>
                <a:latin typeface="Calibri" pitchFamily="34" charset="0"/>
                <a:ea typeface="Calibri" pitchFamily="34" charset="-122"/>
                <a:cs typeface="Calibri" pitchFamily="34" charset="-120"/>
              </a:rPr>
              <a:t>×</a:t>
            </a:r>
            <a:endParaRPr lang="en-US" sz="1700" dirty="0"/>
          </a:p>
        </p:txBody>
      </p:sp>
      <p:sp>
        <p:nvSpPr>
          <p:cNvPr id="34" name="Text 30"/>
          <p:cNvSpPr txBox="1"/>
          <p:nvPr/>
        </p:nvSpPr>
        <p:spPr>
          <a:xfrm>
            <a:off x="7443216" y="4937760"/>
            <a:ext cx="3794760"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No lock-in</a:t>
            </a:r>
            <a:endParaRPr lang="en-US" sz="1300" dirty="0"/>
          </a:p>
        </p:txBody>
      </p:sp>
      <p:sp>
        <p:nvSpPr>
          <p:cNvPr id="35" name="Text 31"/>
          <p:cNvSpPr txBox="1"/>
          <p:nvPr/>
        </p:nvSpPr>
        <p:spPr>
          <a:xfrm>
            <a:off x="7443216" y="5212080"/>
            <a:ext cx="3794760" cy="384048"/>
          </a:xfrm>
          <a:prstGeom prst="rect">
            <a:avLst/>
          </a:prstGeom>
          <a:noFill/>
          <a:ln/>
        </p:spPr>
        <p:txBody>
          <a:bodyPr wrap="square" lIns="0" tIns="0" rIns="0" bIns="0" rtlCol="0" anchor="ctr"/>
          <a:lstStyle/>
          <a:p>
            <a:pPr indent="0" marL="0">
              <a:lnSpc>
                <a:spcPts val="1500"/>
              </a:lnSpc>
              <a:buNone/>
            </a:pPr>
            <a:r>
              <a:rPr lang="en-US" sz="1150" dirty="0">
                <a:solidFill>
                  <a:srgbClr val="9DB4B4"/>
                </a:solidFill>
                <a:latin typeface="Calibri" pitchFamily="34" charset="0"/>
                <a:ea typeface="Calibri" pitchFamily="34" charset="-122"/>
                <a:cs typeface="Calibri" pitchFamily="34" charset="-120"/>
              </a:rPr>
              <a:t>complete records exportable in an open format, any time</a:t>
            </a:r>
            <a:endParaRPr lang="en-US" sz="1150" dirty="0"/>
          </a:p>
        </p:txBody>
      </p:sp>
      <p:sp>
        <p:nvSpPr>
          <p:cNvPr id="36" name="Text 32"/>
          <p:cNvSpPr txBox="1"/>
          <p:nvPr/>
        </p:nvSpPr>
        <p:spPr>
          <a:xfrm>
            <a:off x="640080" y="5961888"/>
            <a:ext cx="5852160" cy="365760"/>
          </a:xfrm>
          <a:prstGeom prst="rect">
            <a:avLst/>
          </a:prstGeom>
          <a:noFill/>
          <a:ln/>
        </p:spPr>
        <p:txBody>
          <a:bodyPr wrap="square" lIns="0" tIns="0" rIns="0" bIns="0" rtlCol="0" anchor="ctr"/>
          <a:lstStyle/>
          <a:p>
            <a:pPr indent="0" marL="0">
              <a:buNone/>
            </a:pPr>
            <a:r>
              <a:rPr lang="en-US" sz="1200" i="1" dirty="0">
                <a:solidFill>
                  <a:srgbClr val="56696A"/>
                </a:solidFill>
                <a:latin typeface="Calibri" pitchFamily="34" charset="0"/>
                <a:ea typeface="Calibri" pitchFamily="34" charset="-122"/>
                <a:cs typeface="Calibri" pitchFamily="34" charset="-120"/>
              </a:rPr>
              <a:t>Constraints of this kind are not obstacles to the design. They are the reason the design took the shape it did.</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Text 1"/>
          <p:cNvSpPr txBox="1"/>
          <p:nvPr/>
        </p:nvSpPr>
        <p:spPr>
          <a:xfrm>
            <a:off x="640080" y="475488"/>
            <a:ext cx="7315200" cy="256032"/>
          </a:xfrm>
          <a:prstGeom prst="rect">
            <a:avLst/>
          </a:prstGeom>
          <a:noFill/>
          <a:ln/>
        </p:spPr>
        <p:txBody>
          <a:bodyPr wrap="square" lIns="0" tIns="0" rIns="0" bIns="0" rtlCol="0" anchor="ctr"/>
          <a:lstStyle/>
          <a:p>
            <a:pPr indent="0" marL="0">
              <a:buNone/>
            </a:pPr>
            <a:r>
              <a:rPr lang="en-US" sz="1100" b="1" spc="240" kern="0" dirty="0">
                <a:solidFill>
                  <a:srgbClr val="0E6E6B"/>
                </a:solidFill>
                <a:latin typeface="Calibri" pitchFamily="34" charset="0"/>
                <a:ea typeface="Calibri" pitchFamily="34" charset="-122"/>
                <a:cs typeface="Calibri" pitchFamily="34" charset="-120"/>
              </a:rPr>
              <a:t>IDEATE</a:t>
            </a:r>
            <a:endParaRPr lang="en-US" sz="1100" dirty="0"/>
          </a:p>
        </p:txBody>
      </p:sp>
      <p:sp>
        <p:nvSpPr>
          <p:cNvPr id="4" name="Text 2"/>
          <p:cNvSpPr txBox="1"/>
          <p:nvPr/>
        </p:nvSpPr>
        <p:spPr>
          <a:xfrm>
            <a:off x="640080" y="822960"/>
            <a:ext cx="9509760" cy="777240"/>
          </a:xfrm>
          <a:prstGeom prst="rect">
            <a:avLst/>
          </a:prstGeom>
          <a:noFill/>
          <a:ln/>
        </p:spPr>
        <p:txBody>
          <a:bodyPr wrap="square" lIns="0" tIns="0" rIns="0" bIns="0" rtlCol="0" anchor="ctr"/>
          <a:lstStyle/>
          <a:p>
            <a:pPr indent="0" marL="0">
              <a:buNone/>
            </a:pPr>
            <a:r>
              <a:rPr lang="en-US" sz="3400" b="1" dirty="0">
                <a:solidFill>
                  <a:srgbClr val="0B2B2E"/>
                </a:solidFill>
                <a:latin typeface="Cambria" pitchFamily="34" charset="0"/>
                <a:ea typeface="Cambria" pitchFamily="34" charset="-122"/>
                <a:cs typeface="Cambria" pitchFamily="34" charset="-120"/>
              </a:rPr>
              <a:t>What we considered, and what we kept</a:t>
            </a:r>
            <a:endParaRPr lang="en-US" sz="3400" dirty="0"/>
          </a:p>
        </p:txBody>
      </p:sp>
      <p:sp>
        <p:nvSpPr>
          <p:cNvPr id="5" name="Text 3"/>
          <p:cNvSpPr txBox="1"/>
          <p:nvPr/>
        </p:nvSpPr>
        <p:spPr>
          <a:xfrm>
            <a:off x="7423099" y="493776"/>
            <a:ext cx="2788920" cy="256032"/>
          </a:xfrm>
          <a:prstGeom prst="rect">
            <a:avLst/>
          </a:prstGeom>
          <a:noFill/>
          <a:ln/>
        </p:spPr>
        <p:txBody>
          <a:bodyPr wrap="square" lIns="0" tIns="0" rIns="0" bIns="0" rtlCol="0" anchor="ctr"/>
          <a:lstStyle/>
          <a:p>
            <a:pPr algn="r" indent="0" marL="0">
              <a:buNone/>
            </a:pPr>
            <a:r>
              <a:rPr lang="en-US" sz="1000" b="1" spc="180" kern="0" dirty="0">
                <a:solidFill>
                  <a:srgbClr val="8B9C9D"/>
                </a:solidFill>
                <a:latin typeface="Calibri" pitchFamily="34" charset="0"/>
                <a:ea typeface="Calibri" pitchFamily="34" charset="-122"/>
                <a:cs typeface="Calibri" pitchFamily="34" charset="-120"/>
              </a:rPr>
              <a:t>IDEATE</a:t>
            </a:r>
            <a:endParaRPr lang="en-US" sz="1000" dirty="0"/>
          </a:p>
        </p:txBody>
      </p:sp>
      <p:sp>
        <p:nvSpPr>
          <p:cNvPr id="6" name="Shape 4"/>
          <p:cNvSpPr/>
          <p:nvPr/>
        </p:nvSpPr>
        <p:spPr>
          <a:xfrm>
            <a:off x="10349179" y="548640"/>
            <a:ext cx="141732" cy="141732"/>
          </a:xfrm>
          <a:prstGeom prst="ellipse">
            <a:avLst/>
          </a:prstGeom>
          <a:solidFill>
            <a:srgbClr val="DFEAE8"/>
          </a:solidFill>
          <a:ln/>
        </p:spPr>
      </p:sp>
      <p:sp>
        <p:nvSpPr>
          <p:cNvPr id="7" name="Shape 5"/>
          <p:cNvSpPr/>
          <p:nvPr/>
        </p:nvSpPr>
        <p:spPr>
          <a:xfrm>
            <a:off x="10614355" y="548640"/>
            <a:ext cx="141732" cy="141732"/>
          </a:xfrm>
          <a:prstGeom prst="ellipse">
            <a:avLst/>
          </a:prstGeom>
          <a:solidFill>
            <a:srgbClr val="DFEAE8"/>
          </a:solidFill>
          <a:ln/>
        </p:spPr>
      </p:sp>
      <p:sp>
        <p:nvSpPr>
          <p:cNvPr id="8" name="Shape 6"/>
          <p:cNvSpPr/>
          <p:nvPr/>
        </p:nvSpPr>
        <p:spPr>
          <a:xfrm>
            <a:off x="10879531" y="548640"/>
            <a:ext cx="141732" cy="141732"/>
          </a:xfrm>
          <a:prstGeom prst="ellipse">
            <a:avLst/>
          </a:prstGeom>
          <a:solidFill>
            <a:srgbClr val="C9821F"/>
          </a:solidFill>
          <a:ln/>
        </p:spPr>
      </p:sp>
      <p:sp>
        <p:nvSpPr>
          <p:cNvPr id="9" name="Shape 7"/>
          <p:cNvSpPr/>
          <p:nvPr/>
        </p:nvSpPr>
        <p:spPr>
          <a:xfrm>
            <a:off x="11144707" y="548640"/>
            <a:ext cx="141732" cy="141732"/>
          </a:xfrm>
          <a:prstGeom prst="ellipse">
            <a:avLst/>
          </a:prstGeom>
          <a:solidFill>
            <a:srgbClr val="DFEAE8"/>
          </a:solidFill>
          <a:ln/>
        </p:spPr>
      </p:sp>
      <p:sp>
        <p:nvSpPr>
          <p:cNvPr id="10" name="Shape 8"/>
          <p:cNvSpPr/>
          <p:nvPr/>
        </p:nvSpPr>
        <p:spPr>
          <a:xfrm>
            <a:off x="11409883" y="548640"/>
            <a:ext cx="141732" cy="141732"/>
          </a:xfrm>
          <a:prstGeom prst="ellipse">
            <a:avLst/>
          </a:prstGeom>
          <a:solidFill>
            <a:srgbClr val="DFEAE8"/>
          </a:solidFill>
          <a:ln/>
        </p:spPr>
      </p:sp>
      <p:sp>
        <p:nvSpPr>
          <p:cNvPr id="11" name="Shape 9"/>
          <p:cNvSpPr/>
          <p:nvPr/>
        </p:nvSpPr>
        <p:spPr>
          <a:xfrm>
            <a:off x="640080" y="1920240"/>
            <a:ext cx="10911535" cy="914400"/>
          </a:xfrm>
          <a:prstGeom prst="roundRect">
            <a:avLst>
              <a:gd name="adj" fmla="val 7000"/>
            </a:avLst>
          </a:prstGeom>
          <a:solidFill>
            <a:srgbClr val="FFFFFF"/>
          </a:solidFill>
          <a:ln w="12700">
            <a:solidFill>
              <a:srgbClr val="DFEAE8"/>
            </a:solidFill>
            <a:prstDash val="solid"/>
          </a:ln>
        </p:spPr>
      </p:sp>
      <p:sp>
        <p:nvSpPr>
          <p:cNvPr id="12" name="Shape 10"/>
          <p:cNvSpPr/>
          <p:nvPr/>
        </p:nvSpPr>
        <p:spPr>
          <a:xfrm>
            <a:off x="950976" y="2194560"/>
            <a:ext cx="365760" cy="365760"/>
          </a:xfrm>
          <a:prstGeom prst="ellipse">
            <a:avLst/>
          </a:prstGeom>
          <a:solidFill>
            <a:srgbClr val="DFEAE8"/>
          </a:solidFill>
          <a:ln/>
        </p:spPr>
      </p:sp>
      <p:sp>
        <p:nvSpPr>
          <p:cNvPr id="13" name="Text 11"/>
          <p:cNvSpPr txBox="1"/>
          <p:nvPr/>
        </p:nvSpPr>
        <p:spPr>
          <a:xfrm>
            <a:off x="950976" y="2194560"/>
            <a:ext cx="365760" cy="365760"/>
          </a:xfrm>
          <a:prstGeom prst="rect">
            <a:avLst/>
          </a:prstGeom>
          <a:noFill/>
          <a:ln/>
        </p:spPr>
        <p:txBody>
          <a:bodyPr wrap="square" lIns="0" tIns="0" rIns="0" bIns="0" rtlCol="0" anchor="ctr"/>
          <a:lstStyle/>
          <a:p>
            <a:pPr algn="ctr" indent="0" marL="0">
              <a:buNone/>
            </a:pPr>
            <a:r>
              <a:rPr lang="en-US" sz="1400" b="1" dirty="0">
                <a:solidFill>
                  <a:srgbClr val="56696A"/>
                </a:solidFill>
                <a:latin typeface="Calibri" pitchFamily="34" charset="0"/>
                <a:ea typeface="Calibri" pitchFamily="34" charset="-122"/>
                <a:cs typeface="Calibri" pitchFamily="34" charset="-120"/>
              </a:rPr>
              <a:t>×</a:t>
            </a:r>
            <a:endParaRPr lang="en-US" sz="1400" dirty="0"/>
          </a:p>
        </p:txBody>
      </p:sp>
      <p:sp>
        <p:nvSpPr>
          <p:cNvPr id="14" name="Text 12"/>
          <p:cNvSpPr txBox="1"/>
          <p:nvPr/>
        </p:nvSpPr>
        <p:spPr>
          <a:xfrm>
            <a:off x="1499616" y="2066544"/>
            <a:ext cx="4663440" cy="621792"/>
          </a:xfrm>
          <a:prstGeom prst="rect">
            <a:avLst/>
          </a:prstGeom>
          <a:noFill/>
          <a:ln/>
        </p:spPr>
        <p:txBody>
          <a:bodyPr wrap="square" lIns="0" tIns="0" rIns="0" bIns="0" rtlCol="0" anchor="ctr"/>
          <a:lstStyle/>
          <a:p>
            <a:pPr indent="0" marL="0">
              <a:buNone/>
            </a:pPr>
            <a:r>
              <a:rPr lang="en-US" sz="1450" b="1" dirty="0">
                <a:solidFill>
                  <a:srgbClr val="0B2B2E"/>
                </a:solidFill>
                <a:latin typeface="Calibri" pitchFamily="34" charset="0"/>
                <a:ea typeface="Calibri" pitchFamily="34" charset="-122"/>
                <a:cs typeface="Calibri" pitchFamily="34" charset="-120"/>
              </a:rPr>
              <a:t>Faster paper — printed templates and tick-boxes</a:t>
            </a:r>
            <a:endParaRPr lang="en-US" sz="1450" dirty="0"/>
          </a:p>
        </p:txBody>
      </p:sp>
      <p:sp>
        <p:nvSpPr>
          <p:cNvPr id="15" name="Text 13"/>
          <p:cNvSpPr txBox="1"/>
          <p:nvPr/>
        </p:nvSpPr>
        <p:spPr>
          <a:xfrm>
            <a:off x="5760720" y="2066544"/>
            <a:ext cx="5760720" cy="621792"/>
          </a:xfrm>
          <a:prstGeom prst="rect">
            <a:avLst/>
          </a:prstGeom>
          <a:noFill/>
          <a:ln/>
        </p:spPr>
        <p:txBody>
          <a:bodyPr wrap="square" lIns="0" tIns="0" rIns="0" bIns="0" rtlCol="0" anchor="ctr"/>
          <a:lstStyle/>
          <a:p>
            <a:pPr indent="0" marL="0">
              <a:lnSpc>
                <a:spcPts val="1700"/>
              </a:lnSpc>
              <a:buNone/>
            </a:pPr>
            <a:r>
              <a:rPr lang="en-US" sz="1250" dirty="0">
                <a:solidFill>
                  <a:srgbClr val="56696A"/>
                </a:solidFill>
                <a:latin typeface="Calibri" pitchFamily="34" charset="0"/>
                <a:ea typeface="Calibri" pitchFamily="34" charset="-122"/>
                <a:cs typeface="Calibri" pitchFamily="34" charset="-120"/>
              </a:rPr>
              <a:t>Still costs the doctor attention during the visit, and produces a record no one can search.</a:t>
            </a:r>
            <a:endParaRPr lang="en-US" sz="1250" dirty="0"/>
          </a:p>
        </p:txBody>
      </p:sp>
      <p:sp>
        <p:nvSpPr>
          <p:cNvPr id="16" name="Shape 14"/>
          <p:cNvSpPr/>
          <p:nvPr/>
        </p:nvSpPr>
        <p:spPr>
          <a:xfrm>
            <a:off x="640080" y="2971800"/>
            <a:ext cx="10911535" cy="914400"/>
          </a:xfrm>
          <a:prstGeom prst="roundRect">
            <a:avLst>
              <a:gd name="adj" fmla="val 7000"/>
            </a:avLst>
          </a:prstGeom>
          <a:solidFill>
            <a:srgbClr val="FFFFFF"/>
          </a:solidFill>
          <a:ln w="12700">
            <a:solidFill>
              <a:srgbClr val="DFEAE8"/>
            </a:solidFill>
            <a:prstDash val="solid"/>
          </a:ln>
        </p:spPr>
      </p:sp>
      <p:sp>
        <p:nvSpPr>
          <p:cNvPr id="17" name="Shape 15"/>
          <p:cNvSpPr/>
          <p:nvPr/>
        </p:nvSpPr>
        <p:spPr>
          <a:xfrm>
            <a:off x="950976" y="3246120"/>
            <a:ext cx="365760" cy="365760"/>
          </a:xfrm>
          <a:prstGeom prst="ellipse">
            <a:avLst/>
          </a:prstGeom>
          <a:solidFill>
            <a:srgbClr val="DFEAE8"/>
          </a:solidFill>
          <a:ln/>
        </p:spPr>
      </p:sp>
      <p:sp>
        <p:nvSpPr>
          <p:cNvPr id="18" name="Text 16"/>
          <p:cNvSpPr txBox="1"/>
          <p:nvPr/>
        </p:nvSpPr>
        <p:spPr>
          <a:xfrm>
            <a:off x="950976" y="3246120"/>
            <a:ext cx="365760" cy="365760"/>
          </a:xfrm>
          <a:prstGeom prst="rect">
            <a:avLst/>
          </a:prstGeom>
          <a:noFill/>
          <a:ln/>
        </p:spPr>
        <p:txBody>
          <a:bodyPr wrap="square" lIns="0" tIns="0" rIns="0" bIns="0" rtlCol="0" anchor="ctr"/>
          <a:lstStyle/>
          <a:p>
            <a:pPr algn="ctr" indent="0" marL="0">
              <a:buNone/>
            </a:pPr>
            <a:r>
              <a:rPr lang="en-US" sz="1400" b="1" dirty="0">
                <a:solidFill>
                  <a:srgbClr val="56696A"/>
                </a:solidFill>
                <a:latin typeface="Calibri" pitchFamily="34" charset="0"/>
                <a:ea typeface="Calibri" pitchFamily="34" charset="-122"/>
                <a:cs typeface="Calibri" pitchFamily="34" charset="-120"/>
              </a:rPr>
              <a:t>×</a:t>
            </a:r>
            <a:endParaRPr lang="en-US" sz="1400" dirty="0"/>
          </a:p>
        </p:txBody>
      </p:sp>
      <p:sp>
        <p:nvSpPr>
          <p:cNvPr id="19" name="Text 17"/>
          <p:cNvSpPr txBox="1"/>
          <p:nvPr/>
        </p:nvSpPr>
        <p:spPr>
          <a:xfrm>
            <a:off x="1499616" y="3118104"/>
            <a:ext cx="4663440" cy="621792"/>
          </a:xfrm>
          <a:prstGeom prst="rect">
            <a:avLst/>
          </a:prstGeom>
          <a:noFill/>
          <a:ln/>
        </p:spPr>
        <p:txBody>
          <a:bodyPr wrap="square" lIns="0" tIns="0" rIns="0" bIns="0" rtlCol="0" anchor="ctr"/>
          <a:lstStyle/>
          <a:p>
            <a:pPr indent="0" marL="0">
              <a:buNone/>
            </a:pPr>
            <a:r>
              <a:rPr lang="en-US" sz="1450" b="1" dirty="0">
                <a:solidFill>
                  <a:srgbClr val="0B2B2E"/>
                </a:solidFill>
                <a:latin typeface="Calibri" pitchFamily="34" charset="0"/>
                <a:ea typeface="Calibri" pitchFamily="34" charset="-122"/>
                <a:cs typeface="Calibri" pitchFamily="34" charset="-120"/>
              </a:rPr>
              <a:t>A conventional clinic EMR with typed fields</a:t>
            </a:r>
            <a:endParaRPr lang="en-US" sz="1450" dirty="0"/>
          </a:p>
        </p:txBody>
      </p:sp>
      <p:sp>
        <p:nvSpPr>
          <p:cNvPr id="20" name="Text 18"/>
          <p:cNvSpPr txBox="1"/>
          <p:nvPr/>
        </p:nvSpPr>
        <p:spPr>
          <a:xfrm>
            <a:off x="5760720" y="3118104"/>
            <a:ext cx="5760720" cy="621792"/>
          </a:xfrm>
          <a:prstGeom prst="rect">
            <a:avLst/>
          </a:prstGeom>
          <a:noFill/>
          <a:ln/>
        </p:spPr>
        <p:txBody>
          <a:bodyPr wrap="square" lIns="0" tIns="0" rIns="0" bIns="0" rtlCol="0" anchor="ctr"/>
          <a:lstStyle/>
          <a:p>
            <a:pPr indent="0" marL="0">
              <a:lnSpc>
                <a:spcPts val="1700"/>
              </a:lnSpc>
              <a:buNone/>
            </a:pPr>
            <a:r>
              <a:rPr lang="en-US" sz="1250" dirty="0">
                <a:solidFill>
                  <a:srgbClr val="56696A"/>
                </a:solidFill>
                <a:latin typeface="Calibri" pitchFamily="34" charset="0"/>
                <a:ea typeface="Calibri" pitchFamily="34" charset="-122"/>
                <a:cs typeface="Calibri" pitchFamily="34" charset="-120"/>
              </a:rPr>
              <a:t>The measured failure mode: documentation time goes up, and the software is abandoned within weeks.</a:t>
            </a:r>
            <a:endParaRPr lang="en-US" sz="1250" dirty="0"/>
          </a:p>
        </p:txBody>
      </p:sp>
      <p:sp>
        <p:nvSpPr>
          <p:cNvPr id="21" name="Shape 19"/>
          <p:cNvSpPr/>
          <p:nvPr/>
        </p:nvSpPr>
        <p:spPr>
          <a:xfrm>
            <a:off x="640080" y="4023360"/>
            <a:ext cx="10911535" cy="914400"/>
          </a:xfrm>
          <a:prstGeom prst="roundRect">
            <a:avLst>
              <a:gd name="adj" fmla="val 7000"/>
            </a:avLst>
          </a:prstGeom>
          <a:solidFill>
            <a:srgbClr val="FFFFFF"/>
          </a:solidFill>
          <a:ln w="12700">
            <a:solidFill>
              <a:srgbClr val="DFEAE8"/>
            </a:solidFill>
            <a:prstDash val="solid"/>
          </a:ln>
        </p:spPr>
      </p:sp>
      <p:sp>
        <p:nvSpPr>
          <p:cNvPr id="22" name="Shape 20"/>
          <p:cNvSpPr/>
          <p:nvPr/>
        </p:nvSpPr>
        <p:spPr>
          <a:xfrm>
            <a:off x="950976" y="4297680"/>
            <a:ext cx="365760" cy="365760"/>
          </a:xfrm>
          <a:prstGeom prst="ellipse">
            <a:avLst/>
          </a:prstGeom>
          <a:solidFill>
            <a:srgbClr val="DFEAE8"/>
          </a:solidFill>
          <a:ln/>
        </p:spPr>
      </p:sp>
      <p:sp>
        <p:nvSpPr>
          <p:cNvPr id="23" name="Text 21"/>
          <p:cNvSpPr txBox="1"/>
          <p:nvPr/>
        </p:nvSpPr>
        <p:spPr>
          <a:xfrm>
            <a:off x="950976" y="4297680"/>
            <a:ext cx="365760" cy="365760"/>
          </a:xfrm>
          <a:prstGeom prst="rect">
            <a:avLst/>
          </a:prstGeom>
          <a:noFill/>
          <a:ln/>
        </p:spPr>
        <p:txBody>
          <a:bodyPr wrap="square" lIns="0" tIns="0" rIns="0" bIns="0" rtlCol="0" anchor="ctr"/>
          <a:lstStyle/>
          <a:p>
            <a:pPr algn="ctr" indent="0" marL="0">
              <a:buNone/>
            </a:pPr>
            <a:r>
              <a:rPr lang="en-US" sz="1400" b="1" dirty="0">
                <a:solidFill>
                  <a:srgbClr val="56696A"/>
                </a:solidFill>
                <a:latin typeface="Calibri" pitchFamily="34" charset="0"/>
                <a:ea typeface="Calibri" pitchFamily="34" charset="-122"/>
                <a:cs typeface="Calibri" pitchFamily="34" charset="-120"/>
              </a:rPr>
              <a:t>×</a:t>
            </a:r>
            <a:endParaRPr lang="en-US" sz="1400" dirty="0"/>
          </a:p>
        </p:txBody>
      </p:sp>
      <p:sp>
        <p:nvSpPr>
          <p:cNvPr id="24" name="Text 22"/>
          <p:cNvSpPr txBox="1"/>
          <p:nvPr/>
        </p:nvSpPr>
        <p:spPr>
          <a:xfrm>
            <a:off x="1499616" y="4169664"/>
            <a:ext cx="4663440" cy="621792"/>
          </a:xfrm>
          <a:prstGeom prst="rect">
            <a:avLst/>
          </a:prstGeom>
          <a:noFill/>
          <a:ln/>
        </p:spPr>
        <p:txBody>
          <a:bodyPr wrap="square" lIns="0" tIns="0" rIns="0" bIns="0" rtlCol="0" anchor="ctr"/>
          <a:lstStyle/>
          <a:p>
            <a:pPr indent="0" marL="0">
              <a:buNone/>
            </a:pPr>
            <a:r>
              <a:rPr lang="en-US" sz="1450" b="1" dirty="0">
                <a:solidFill>
                  <a:srgbClr val="0B2B2E"/>
                </a:solidFill>
                <a:latin typeface="Calibri" pitchFamily="34" charset="0"/>
                <a:ea typeface="Calibri" pitchFamily="34" charset="-122"/>
                <a:cs typeface="Calibri" pitchFamily="34" charset="-120"/>
              </a:rPr>
              <a:t>A cloud AI scribe</a:t>
            </a:r>
            <a:endParaRPr lang="en-US" sz="1450" dirty="0"/>
          </a:p>
        </p:txBody>
      </p:sp>
      <p:sp>
        <p:nvSpPr>
          <p:cNvPr id="25" name="Text 23"/>
          <p:cNvSpPr txBox="1"/>
          <p:nvPr/>
        </p:nvSpPr>
        <p:spPr>
          <a:xfrm>
            <a:off x="5760720" y="4169664"/>
            <a:ext cx="5760720" cy="621792"/>
          </a:xfrm>
          <a:prstGeom prst="rect">
            <a:avLst/>
          </a:prstGeom>
          <a:noFill/>
          <a:ln/>
        </p:spPr>
        <p:txBody>
          <a:bodyPr wrap="square" lIns="0" tIns="0" rIns="0" bIns="0" rtlCol="0" anchor="ctr"/>
          <a:lstStyle/>
          <a:p>
            <a:pPr indent="0" marL="0">
              <a:lnSpc>
                <a:spcPts val="1700"/>
              </a:lnSpc>
              <a:buNone/>
            </a:pPr>
            <a:r>
              <a:rPr lang="en-US" sz="1250" dirty="0">
                <a:solidFill>
                  <a:srgbClr val="56696A"/>
                </a:solidFill>
                <a:latin typeface="Calibri" pitchFamily="34" charset="0"/>
                <a:ea typeface="Calibri" pitchFamily="34" charset="-122"/>
                <a:cs typeface="Calibri" pitchFamily="34" charset="-120"/>
              </a:rPr>
              <a:t>Sends the most sensitive audio a clinic produces off the premises, and stops working when the link drops.</a:t>
            </a:r>
            <a:endParaRPr lang="en-US" sz="1250" dirty="0"/>
          </a:p>
        </p:txBody>
      </p:sp>
      <p:sp>
        <p:nvSpPr>
          <p:cNvPr id="26" name="Shape 24"/>
          <p:cNvSpPr/>
          <p:nvPr/>
        </p:nvSpPr>
        <p:spPr>
          <a:xfrm>
            <a:off x="640080" y="5074920"/>
            <a:ext cx="10911535" cy="914400"/>
          </a:xfrm>
          <a:prstGeom prst="roundRect">
            <a:avLst>
              <a:gd name="adj" fmla="val 7000"/>
            </a:avLst>
          </a:prstGeom>
          <a:solidFill>
            <a:srgbClr val="0B2B2E"/>
          </a:solidFill>
          <a:ln/>
          <a:effectLst>
            <a:outerShdw sx="100000" sy="100000" kx="0" ky="0" algn="bl" rotWithShape="0" blurRad="152400" dist="25400" dir="5400000">
              <a:srgbClr val="0B2B2E">
                <a:alpha val="9000"/>
              </a:srgbClr>
            </a:outerShdw>
          </a:effectLst>
        </p:spPr>
      </p:sp>
      <p:sp>
        <p:nvSpPr>
          <p:cNvPr id="27" name="Shape 25"/>
          <p:cNvSpPr/>
          <p:nvPr/>
        </p:nvSpPr>
        <p:spPr>
          <a:xfrm>
            <a:off x="950976" y="5349240"/>
            <a:ext cx="365760" cy="365760"/>
          </a:xfrm>
          <a:prstGeom prst="ellipse">
            <a:avLst/>
          </a:prstGeom>
          <a:solidFill>
            <a:srgbClr val="C9821F"/>
          </a:solidFill>
          <a:ln/>
        </p:spPr>
      </p:sp>
      <p:sp>
        <p:nvSpPr>
          <p:cNvPr id="28" name="Text 26"/>
          <p:cNvSpPr txBox="1"/>
          <p:nvPr/>
        </p:nvSpPr>
        <p:spPr>
          <a:xfrm>
            <a:off x="950976" y="5349240"/>
            <a:ext cx="365760" cy="365760"/>
          </a:xfrm>
          <a:prstGeom prst="rect">
            <a:avLst/>
          </a:prstGeom>
          <a:noFill/>
          <a:ln/>
        </p:spPr>
        <p:txBody>
          <a:bodyPr wrap="square" lIns="0" tIns="0" rIns="0" bIns="0" rtlCol="0" anchor="ctr"/>
          <a:lstStyle/>
          <a:p>
            <a:pPr algn="ctr" indent="0" marL="0">
              <a:buNone/>
            </a:pPr>
            <a:r>
              <a:rPr lang="en-US" sz="1400" b="1" dirty="0">
                <a:solidFill>
                  <a:srgbClr val="0B2B2E"/>
                </a:solidFill>
                <a:latin typeface="Calibri" pitchFamily="34" charset="0"/>
                <a:ea typeface="Calibri" pitchFamily="34" charset="-122"/>
                <a:cs typeface="Calibri" pitchFamily="34" charset="-120"/>
              </a:rPr>
              <a:t>✓</a:t>
            </a:r>
            <a:endParaRPr lang="en-US" sz="1400" dirty="0"/>
          </a:p>
        </p:txBody>
      </p:sp>
      <p:sp>
        <p:nvSpPr>
          <p:cNvPr id="29" name="Text 27"/>
          <p:cNvSpPr txBox="1"/>
          <p:nvPr/>
        </p:nvSpPr>
        <p:spPr>
          <a:xfrm>
            <a:off x="1499616" y="5221224"/>
            <a:ext cx="4663440" cy="621792"/>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An on-device ambient scribe</a:t>
            </a:r>
            <a:endParaRPr lang="en-US" sz="1450" dirty="0"/>
          </a:p>
        </p:txBody>
      </p:sp>
      <p:sp>
        <p:nvSpPr>
          <p:cNvPr id="30" name="Text 28"/>
          <p:cNvSpPr txBox="1"/>
          <p:nvPr/>
        </p:nvSpPr>
        <p:spPr>
          <a:xfrm>
            <a:off x="5760720" y="5221224"/>
            <a:ext cx="5760720" cy="621792"/>
          </a:xfrm>
          <a:prstGeom prst="rect">
            <a:avLst/>
          </a:prstGeom>
          <a:noFill/>
          <a:ln/>
        </p:spPr>
        <p:txBody>
          <a:bodyPr wrap="square" lIns="0" tIns="0" rIns="0" bIns="0" rtlCol="0" anchor="ctr"/>
          <a:lstStyle/>
          <a:p>
            <a:pPr indent="0" marL="0">
              <a:lnSpc>
                <a:spcPts val="1700"/>
              </a:lnSpc>
              <a:buNone/>
            </a:pPr>
            <a:r>
              <a:rPr lang="en-US" sz="1250" dirty="0">
                <a:solidFill>
                  <a:srgbClr val="C3D2D2"/>
                </a:solidFill>
                <a:latin typeface="Calibri" pitchFamily="34" charset="0"/>
                <a:ea typeface="Calibri" pitchFamily="34" charset="-122"/>
                <a:cs typeface="Calibri" pitchFamily="34" charset="-120"/>
              </a:rPr>
              <a:t>Listens to the consultation already happening, drafts the note locally, and asks the doctor only to review and sign.</a:t>
            </a:r>
            <a:endParaRPr lang="en-US" sz="1250" dirty="0"/>
          </a:p>
        </p:txBody>
      </p:sp>
      <p:sp>
        <p:nvSpPr>
          <p:cNvPr id="31" name="Text 29"/>
          <p:cNvSpPr txBox="1"/>
          <p:nvPr/>
        </p:nvSpPr>
        <p:spPr>
          <a:xfrm>
            <a:off x="640080" y="6144768"/>
            <a:ext cx="10911535" cy="310896"/>
          </a:xfrm>
          <a:prstGeom prst="rect">
            <a:avLst/>
          </a:prstGeom>
          <a:noFill/>
          <a:ln/>
        </p:spPr>
        <p:txBody>
          <a:bodyPr wrap="square" lIns="0" tIns="0" rIns="0" bIns="0" rtlCol="0" anchor="ctr"/>
          <a:lstStyle/>
          <a:p>
            <a:pPr indent="0" marL="0">
              <a:buNone/>
            </a:pPr>
            <a:r>
              <a:rPr lang="en-US" sz="1200" i="1" dirty="0">
                <a:solidFill>
                  <a:srgbClr val="56696A"/>
                </a:solidFill>
                <a:latin typeface="Calibri" pitchFamily="34" charset="0"/>
                <a:ea typeface="Calibri" pitchFamily="34" charset="-122"/>
                <a:cs typeface="Calibri" pitchFamily="34" charset="-120"/>
              </a:rPr>
              <a:t>Three of the four were rejected on evidence gathered in the Empathize stage, not on preference.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Text 1"/>
          <p:cNvSpPr txBox="1"/>
          <p:nvPr/>
        </p:nvSpPr>
        <p:spPr>
          <a:xfrm>
            <a:off x="640080" y="475488"/>
            <a:ext cx="7315200" cy="256032"/>
          </a:xfrm>
          <a:prstGeom prst="rect">
            <a:avLst/>
          </a:prstGeom>
          <a:noFill/>
          <a:ln/>
        </p:spPr>
        <p:txBody>
          <a:bodyPr wrap="square" lIns="0" tIns="0" rIns="0" bIns="0" rtlCol="0" anchor="ctr"/>
          <a:lstStyle/>
          <a:p>
            <a:pPr indent="0" marL="0">
              <a:buNone/>
            </a:pPr>
            <a:r>
              <a:rPr lang="en-US" sz="1100" b="1" spc="240" kern="0" dirty="0">
                <a:solidFill>
                  <a:srgbClr val="0E6E6B"/>
                </a:solidFill>
                <a:latin typeface="Calibri" pitchFamily="34" charset="0"/>
                <a:ea typeface="Calibri" pitchFamily="34" charset="-122"/>
                <a:cs typeface="Calibri" pitchFamily="34" charset="-120"/>
              </a:rPr>
              <a:t>IDEATE</a:t>
            </a:r>
            <a:endParaRPr lang="en-US" sz="1100" dirty="0"/>
          </a:p>
        </p:txBody>
      </p:sp>
      <p:sp>
        <p:nvSpPr>
          <p:cNvPr id="4" name="Text 2"/>
          <p:cNvSpPr txBox="1"/>
          <p:nvPr/>
        </p:nvSpPr>
        <p:spPr>
          <a:xfrm>
            <a:off x="640080" y="822960"/>
            <a:ext cx="9509760" cy="777240"/>
          </a:xfrm>
          <a:prstGeom prst="rect">
            <a:avLst/>
          </a:prstGeom>
          <a:noFill/>
          <a:ln/>
        </p:spPr>
        <p:txBody>
          <a:bodyPr wrap="square" lIns="0" tIns="0" rIns="0" bIns="0" rtlCol="0" anchor="ctr"/>
          <a:lstStyle/>
          <a:p>
            <a:pPr indent="0" marL="0">
              <a:buNone/>
            </a:pPr>
            <a:r>
              <a:rPr lang="en-US" sz="3400" b="1" dirty="0">
                <a:solidFill>
                  <a:srgbClr val="0B2B2E"/>
                </a:solidFill>
                <a:latin typeface="Cambria" pitchFamily="34" charset="0"/>
                <a:ea typeface="Cambria" pitchFamily="34" charset="-122"/>
                <a:cs typeface="Cambria" pitchFamily="34" charset="-120"/>
              </a:rPr>
              <a:t>Four principles we committed to</a:t>
            </a:r>
            <a:endParaRPr lang="en-US" sz="3400" dirty="0"/>
          </a:p>
        </p:txBody>
      </p:sp>
      <p:sp>
        <p:nvSpPr>
          <p:cNvPr id="5" name="Text 3"/>
          <p:cNvSpPr txBox="1"/>
          <p:nvPr/>
        </p:nvSpPr>
        <p:spPr>
          <a:xfrm>
            <a:off x="7423099" y="493776"/>
            <a:ext cx="2788920" cy="256032"/>
          </a:xfrm>
          <a:prstGeom prst="rect">
            <a:avLst/>
          </a:prstGeom>
          <a:noFill/>
          <a:ln/>
        </p:spPr>
        <p:txBody>
          <a:bodyPr wrap="square" lIns="0" tIns="0" rIns="0" bIns="0" rtlCol="0" anchor="ctr"/>
          <a:lstStyle/>
          <a:p>
            <a:pPr algn="r" indent="0" marL="0">
              <a:buNone/>
            </a:pPr>
            <a:r>
              <a:rPr lang="en-US" sz="1000" b="1" spc="180" kern="0" dirty="0">
                <a:solidFill>
                  <a:srgbClr val="8B9C9D"/>
                </a:solidFill>
                <a:latin typeface="Calibri" pitchFamily="34" charset="0"/>
                <a:ea typeface="Calibri" pitchFamily="34" charset="-122"/>
                <a:cs typeface="Calibri" pitchFamily="34" charset="-120"/>
              </a:rPr>
              <a:t>IDEATE</a:t>
            </a:r>
            <a:endParaRPr lang="en-US" sz="1000" dirty="0"/>
          </a:p>
        </p:txBody>
      </p:sp>
      <p:sp>
        <p:nvSpPr>
          <p:cNvPr id="6" name="Shape 4"/>
          <p:cNvSpPr/>
          <p:nvPr/>
        </p:nvSpPr>
        <p:spPr>
          <a:xfrm>
            <a:off x="10349179" y="548640"/>
            <a:ext cx="141732" cy="141732"/>
          </a:xfrm>
          <a:prstGeom prst="ellipse">
            <a:avLst/>
          </a:prstGeom>
          <a:solidFill>
            <a:srgbClr val="DFEAE8"/>
          </a:solidFill>
          <a:ln/>
        </p:spPr>
      </p:sp>
      <p:sp>
        <p:nvSpPr>
          <p:cNvPr id="7" name="Shape 5"/>
          <p:cNvSpPr/>
          <p:nvPr/>
        </p:nvSpPr>
        <p:spPr>
          <a:xfrm>
            <a:off x="10614355" y="548640"/>
            <a:ext cx="141732" cy="141732"/>
          </a:xfrm>
          <a:prstGeom prst="ellipse">
            <a:avLst/>
          </a:prstGeom>
          <a:solidFill>
            <a:srgbClr val="DFEAE8"/>
          </a:solidFill>
          <a:ln/>
        </p:spPr>
      </p:sp>
      <p:sp>
        <p:nvSpPr>
          <p:cNvPr id="8" name="Shape 6"/>
          <p:cNvSpPr/>
          <p:nvPr/>
        </p:nvSpPr>
        <p:spPr>
          <a:xfrm>
            <a:off x="10879531" y="548640"/>
            <a:ext cx="141732" cy="141732"/>
          </a:xfrm>
          <a:prstGeom prst="ellipse">
            <a:avLst/>
          </a:prstGeom>
          <a:solidFill>
            <a:srgbClr val="C9821F"/>
          </a:solidFill>
          <a:ln/>
        </p:spPr>
      </p:sp>
      <p:sp>
        <p:nvSpPr>
          <p:cNvPr id="9" name="Shape 7"/>
          <p:cNvSpPr/>
          <p:nvPr/>
        </p:nvSpPr>
        <p:spPr>
          <a:xfrm>
            <a:off x="11144707" y="548640"/>
            <a:ext cx="141732" cy="141732"/>
          </a:xfrm>
          <a:prstGeom prst="ellipse">
            <a:avLst/>
          </a:prstGeom>
          <a:solidFill>
            <a:srgbClr val="DFEAE8"/>
          </a:solidFill>
          <a:ln/>
        </p:spPr>
      </p:sp>
      <p:sp>
        <p:nvSpPr>
          <p:cNvPr id="10" name="Shape 8"/>
          <p:cNvSpPr/>
          <p:nvPr/>
        </p:nvSpPr>
        <p:spPr>
          <a:xfrm>
            <a:off x="11409883" y="548640"/>
            <a:ext cx="141732" cy="141732"/>
          </a:xfrm>
          <a:prstGeom prst="ellipse">
            <a:avLst/>
          </a:prstGeom>
          <a:solidFill>
            <a:srgbClr val="DFEAE8"/>
          </a:solidFill>
          <a:ln/>
        </p:spPr>
      </p:sp>
      <p:sp>
        <p:nvSpPr>
          <p:cNvPr id="11" name="Text 9"/>
          <p:cNvSpPr txBox="1"/>
          <p:nvPr/>
        </p:nvSpPr>
        <p:spPr>
          <a:xfrm>
            <a:off x="640080" y="1664208"/>
            <a:ext cx="9692640" cy="329184"/>
          </a:xfrm>
          <a:prstGeom prst="rect">
            <a:avLst/>
          </a:prstGeom>
          <a:noFill/>
          <a:ln/>
        </p:spPr>
        <p:txBody>
          <a:bodyPr wrap="square" lIns="0" tIns="0" rIns="0" bIns="0" rtlCol="0" anchor="ctr"/>
          <a:lstStyle/>
          <a:p>
            <a:pPr indent="0" marL="0">
              <a:buNone/>
            </a:pPr>
            <a:r>
              <a:rPr lang="en-US" sz="1400" dirty="0">
                <a:solidFill>
                  <a:srgbClr val="56696A"/>
                </a:solidFill>
                <a:latin typeface="Calibri" pitchFamily="34" charset="0"/>
                <a:ea typeface="Calibri" pitchFamily="34" charset="-122"/>
                <a:cs typeface="Calibri" pitchFamily="34" charset="-120"/>
              </a:rPr>
              <a:t>Each principle answers one How-Might-We question, and each one has cost us a feature we would otherwise have built.</a:t>
            </a:r>
            <a:endParaRPr lang="en-US" sz="1400" dirty="0"/>
          </a:p>
        </p:txBody>
      </p:sp>
      <p:sp>
        <p:nvSpPr>
          <p:cNvPr id="12" name="Shape 10"/>
          <p:cNvSpPr/>
          <p:nvPr/>
        </p:nvSpPr>
        <p:spPr>
          <a:xfrm>
            <a:off x="640080" y="2212848"/>
            <a:ext cx="2549576" cy="3401568"/>
          </a:xfrm>
          <a:prstGeom prst="roundRect">
            <a:avLst>
              <a:gd name="adj" fmla="val 2511"/>
            </a:avLst>
          </a:prstGeom>
          <a:solidFill>
            <a:srgbClr val="FFFFFF"/>
          </a:solidFill>
          <a:ln w="12700">
            <a:solidFill>
              <a:srgbClr val="DFEAE8"/>
            </a:solidFill>
            <a:prstDash val="solid"/>
          </a:ln>
          <a:effectLst>
            <a:outerShdw sx="100000" sy="100000" kx="0" ky="0" algn="bl" rotWithShape="0" blurRad="152400" dist="25400" dir="5400000">
              <a:srgbClr val="0B2B2E">
                <a:alpha val="9000"/>
              </a:srgbClr>
            </a:outerShdw>
          </a:effectLst>
        </p:spPr>
      </p:sp>
      <p:sp>
        <p:nvSpPr>
          <p:cNvPr id="13" name="Shape 11"/>
          <p:cNvSpPr/>
          <p:nvPr/>
        </p:nvSpPr>
        <p:spPr>
          <a:xfrm>
            <a:off x="969264" y="2560320"/>
            <a:ext cx="621792" cy="621792"/>
          </a:xfrm>
          <a:prstGeom prst="ellipse">
            <a:avLst/>
          </a:prstGeom>
          <a:solidFill>
            <a:srgbClr val="0E6E6B"/>
          </a:solidFill>
          <a:ln/>
        </p:spPr>
      </p:sp>
      <p:pic>
        <p:nvPicPr>
          <p:cNvPr id="14" name="Image 0" descr="preencoded.png">    </p:cNvPr>
          <p:cNvPicPr>
            <a:picLocks noChangeAspect="1"/>
          </p:cNvPicPr>
          <p:nvPr/>
        </p:nvPicPr>
        <p:blipFill>
          <a:blip r:embed="rId1"/>
          <a:stretch>
            <a:fillRect/>
          </a:stretch>
        </p:blipFill>
        <p:spPr>
          <a:xfrm>
            <a:off x="1124712" y="2715768"/>
            <a:ext cx="310896" cy="310896"/>
          </a:xfrm>
          <a:prstGeom prst="rect">
            <a:avLst/>
          </a:prstGeom>
        </p:spPr>
      </p:pic>
      <p:sp>
        <p:nvSpPr>
          <p:cNvPr id="15" name="Text 12"/>
          <p:cNvSpPr txBox="1"/>
          <p:nvPr/>
        </p:nvSpPr>
        <p:spPr>
          <a:xfrm>
            <a:off x="969264" y="3346704"/>
            <a:ext cx="1891208" cy="566928"/>
          </a:xfrm>
          <a:prstGeom prst="rect">
            <a:avLst/>
          </a:prstGeom>
          <a:noFill/>
          <a:ln/>
        </p:spPr>
        <p:txBody>
          <a:bodyPr wrap="square" lIns="0" tIns="0" rIns="0" bIns="0" rtlCol="0" anchor="ctr"/>
          <a:lstStyle/>
          <a:p>
            <a:pPr indent="0" marL="0">
              <a:lnSpc>
                <a:spcPts val="2100"/>
              </a:lnSpc>
              <a:buNone/>
            </a:pPr>
            <a:r>
              <a:rPr lang="en-US" sz="1600" b="1" dirty="0">
                <a:solidFill>
                  <a:srgbClr val="0B2B2E"/>
                </a:solidFill>
                <a:latin typeface="Calibri" pitchFamily="34" charset="0"/>
                <a:ea typeface="Calibri" pitchFamily="34" charset="-122"/>
                <a:cs typeface="Calibri" pitchFamily="34" charset="-120"/>
              </a:rPr>
              <a:t>Listen, don't ask</a:t>
            </a:r>
            <a:endParaRPr lang="en-US" sz="1600" dirty="0"/>
          </a:p>
        </p:txBody>
      </p:sp>
      <p:sp>
        <p:nvSpPr>
          <p:cNvPr id="16" name="Text 13"/>
          <p:cNvSpPr txBox="1"/>
          <p:nvPr/>
        </p:nvSpPr>
        <p:spPr>
          <a:xfrm>
            <a:off x="969264" y="3986784"/>
            <a:ext cx="1891208" cy="1463040"/>
          </a:xfrm>
          <a:prstGeom prst="rect">
            <a:avLst/>
          </a:prstGeom>
          <a:noFill/>
          <a:ln/>
        </p:spPr>
        <p:txBody>
          <a:bodyPr wrap="square" lIns="0" tIns="0" rIns="0" bIns="0" rtlCol="0" anchor="ctr"/>
          <a:lstStyle/>
          <a:p>
            <a:pPr indent="0" marL="0">
              <a:lnSpc>
                <a:spcPts val="1800"/>
              </a:lnSpc>
              <a:buNone/>
            </a:pPr>
            <a:r>
              <a:rPr lang="en-US" sz="1250" dirty="0">
                <a:solidFill>
                  <a:srgbClr val="56696A"/>
                </a:solidFill>
                <a:latin typeface="Calibri" pitchFamily="34" charset="0"/>
                <a:ea typeface="Calibri" pitchFamily="34" charset="-122"/>
                <a:cs typeface="Calibri" pitchFamily="34" charset="-120"/>
              </a:rPr>
              <a:t>The record is drafted from the conversation that was going to happen anyway. The doctor is never asked to enter data mid-visit.</a:t>
            </a:r>
            <a:endParaRPr lang="en-US" sz="1250" dirty="0"/>
          </a:p>
        </p:txBody>
      </p:sp>
      <p:sp>
        <p:nvSpPr>
          <p:cNvPr id="17" name="Shape 14"/>
          <p:cNvSpPr/>
          <p:nvPr/>
        </p:nvSpPr>
        <p:spPr>
          <a:xfrm>
            <a:off x="3427400" y="2212848"/>
            <a:ext cx="2549576" cy="3401568"/>
          </a:xfrm>
          <a:prstGeom prst="roundRect">
            <a:avLst>
              <a:gd name="adj" fmla="val 2511"/>
            </a:avLst>
          </a:prstGeom>
          <a:solidFill>
            <a:srgbClr val="0B2B2E"/>
          </a:solidFill>
          <a:ln/>
          <a:effectLst>
            <a:outerShdw sx="100000" sy="100000" kx="0" ky="0" algn="bl" rotWithShape="0" blurRad="152400" dist="25400" dir="5400000">
              <a:srgbClr val="0B2B2E">
                <a:alpha val="9000"/>
              </a:srgbClr>
            </a:outerShdw>
          </a:effectLst>
        </p:spPr>
      </p:sp>
      <p:sp>
        <p:nvSpPr>
          <p:cNvPr id="18" name="Shape 15"/>
          <p:cNvSpPr/>
          <p:nvPr/>
        </p:nvSpPr>
        <p:spPr>
          <a:xfrm>
            <a:off x="3756584" y="2560320"/>
            <a:ext cx="621792" cy="621792"/>
          </a:xfrm>
          <a:prstGeom prst="ellipse">
            <a:avLst/>
          </a:prstGeom>
          <a:solidFill>
            <a:srgbClr val="C9821F"/>
          </a:solidFill>
          <a:ln/>
        </p:spPr>
      </p:sp>
      <p:pic>
        <p:nvPicPr>
          <p:cNvPr id="19" name="Image 1" descr="preencoded.png">    </p:cNvPr>
          <p:cNvPicPr>
            <a:picLocks noChangeAspect="1"/>
          </p:cNvPicPr>
          <p:nvPr/>
        </p:nvPicPr>
        <p:blipFill>
          <a:blip r:embed="rId2"/>
          <a:stretch>
            <a:fillRect/>
          </a:stretch>
        </p:blipFill>
        <p:spPr>
          <a:xfrm>
            <a:off x="3912032" y="2715768"/>
            <a:ext cx="310896" cy="310896"/>
          </a:xfrm>
          <a:prstGeom prst="rect">
            <a:avLst/>
          </a:prstGeom>
        </p:spPr>
      </p:pic>
      <p:sp>
        <p:nvSpPr>
          <p:cNvPr id="20" name="Text 16"/>
          <p:cNvSpPr txBox="1"/>
          <p:nvPr/>
        </p:nvSpPr>
        <p:spPr>
          <a:xfrm>
            <a:off x="3756584" y="3346704"/>
            <a:ext cx="1891208" cy="566928"/>
          </a:xfrm>
          <a:prstGeom prst="rect">
            <a:avLst/>
          </a:prstGeom>
          <a:noFill/>
          <a:ln/>
        </p:spPr>
        <p:txBody>
          <a:bodyPr wrap="square" lIns="0" tIns="0" rIns="0" bIns="0" rtlCol="0" anchor="ctr"/>
          <a:lstStyle/>
          <a:p>
            <a:pPr indent="0" marL="0">
              <a:lnSpc>
                <a:spcPts val="2100"/>
              </a:lnSpc>
              <a:buNone/>
            </a:pPr>
            <a:r>
              <a:rPr lang="en-US" sz="1600" b="1" dirty="0">
                <a:solidFill>
                  <a:srgbClr val="FFFFFF"/>
                </a:solidFill>
                <a:latin typeface="Calibri" pitchFamily="34" charset="0"/>
                <a:ea typeface="Calibri" pitchFamily="34" charset="-122"/>
                <a:cs typeface="Calibri" pitchFamily="34" charset="-120"/>
              </a:rPr>
              <a:t>Never lose a consultation</a:t>
            </a:r>
            <a:endParaRPr lang="en-US" sz="1600" dirty="0"/>
          </a:p>
        </p:txBody>
      </p:sp>
      <p:sp>
        <p:nvSpPr>
          <p:cNvPr id="21" name="Text 17"/>
          <p:cNvSpPr txBox="1"/>
          <p:nvPr/>
        </p:nvSpPr>
        <p:spPr>
          <a:xfrm>
            <a:off x="3756584" y="3986784"/>
            <a:ext cx="1891208" cy="1463040"/>
          </a:xfrm>
          <a:prstGeom prst="rect">
            <a:avLst/>
          </a:prstGeom>
          <a:noFill/>
          <a:ln/>
        </p:spPr>
        <p:txBody>
          <a:bodyPr wrap="square" lIns="0" tIns="0" rIns="0" bIns="0" rtlCol="0" anchor="ctr"/>
          <a:lstStyle/>
          <a:p>
            <a:pPr indent="0" marL="0">
              <a:lnSpc>
                <a:spcPts val="1800"/>
              </a:lnSpc>
              <a:buNone/>
            </a:pPr>
            <a:r>
              <a:rPr lang="en-US" sz="1250" dirty="0">
                <a:solidFill>
                  <a:srgbClr val="C3D2D2"/>
                </a:solidFill>
                <a:latin typeface="Calibri" pitchFamily="34" charset="0"/>
                <a:ea typeface="Calibri" pitchFamily="34" charset="-122"/>
                <a:cs typeface="Calibri" pitchFamily="34" charset="-120"/>
              </a:rPr>
              <a:t>Audio is written to disk continuously, not at the end. Work in progress survives a crash, a closed laptop or a power cut.</a:t>
            </a:r>
            <a:endParaRPr lang="en-US" sz="1250" dirty="0"/>
          </a:p>
        </p:txBody>
      </p:sp>
      <p:sp>
        <p:nvSpPr>
          <p:cNvPr id="22" name="Shape 18"/>
          <p:cNvSpPr/>
          <p:nvPr/>
        </p:nvSpPr>
        <p:spPr>
          <a:xfrm>
            <a:off x="6214720" y="2212848"/>
            <a:ext cx="2549576" cy="3401568"/>
          </a:xfrm>
          <a:prstGeom prst="roundRect">
            <a:avLst>
              <a:gd name="adj" fmla="val 2511"/>
            </a:avLst>
          </a:prstGeom>
          <a:solidFill>
            <a:srgbClr val="FFFFFF"/>
          </a:solidFill>
          <a:ln w="12700">
            <a:solidFill>
              <a:srgbClr val="DFEAE8"/>
            </a:solidFill>
            <a:prstDash val="solid"/>
          </a:ln>
          <a:effectLst>
            <a:outerShdw sx="100000" sy="100000" kx="0" ky="0" algn="bl" rotWithShape="0" blurRad="152400" dist="25400" dir="5400000">
              <a:srgbClr val="0B2B2E">
                <a:alpha val="9000"/>
              </a:srgbClr>
            </a:outerShdw>
          </a:effectLst>
        </p:spPr>
      </p:sp>
      <p:sp>
        <p:nvSpPr>
          <p:cNvPr id="23" name="Shape 19"/>
          <p:cNvSpPr/>
          <p:nvPr/>
        </p:nvSpPr>
        <p:spPr>
          <a:xfrm>
            <a:off x="6543904" y="2560320"/>
            <a:ext cx="621792" cy="621792"/>
          </a:xfrm>
          <a:prstGeom prst="ellipse">
            <a:avLst/>
          </a:prstGeom>
          <a:solidFill>
            <a:srgbClr val="0E6E6B"/>
          </a:solidFill>
          <a:ln/>
        </p:spPr>
      </p:sp>
      <p:pic>
        <p:nvPicPr>
          <p:cNvPr id="24" name="Image 2" descr="preencoded.png">    </p:cNvPr>
          <p:cNvPicPr>
            <a:picLocks noChangeAspect="1"/>
          </p:cNvPicPr>
          <p:nvPr/>
        </p:nvPicPr>
        <p:blipFill>
          <a:blip r:embed="rId3"/>
          <a:stretch>
            <a:fillRect/>
          </a:stretch>
        </p:blipFill>
        <p:spPr>
          <a:xfrm>
            <a:off x="6699352" y="2715768"/>
            <a:ext cx="310896" cy="310896"/>
          </a:xfrm>
          <a:prstGeom prst="rect">
            <a:avLst/>
          </a:prstGeom>
        </p:spPr>
      </p:pic>
      <p:sp>
        <p:nvSpPr>
          <p:cNvPr id="25" name="Text 20"/>
          <p:cNvSpPr txBox="1"/>
          <p:nvPr/>
        </p:nvSpPr>
        <p:spPr>
          <a:xfrm>
            <a:off x="6543904" y="3346704"/>
            <a:ext cx="1891208" cy="566928"/>
          </a:xfrm>
          <a:prstGeom prst="rect">
            <a:avLst/>
          </a:prstGeom>
          <a:noFill/>
          <a:ln/>
        </p:spPr>
        <p:txBody>
          <a:bodyPr wrap="square" lIns="0" tIns="0" rIns="0" bIns="0" rtlCol="0" anchor="ctr"/>
          <a:lstStyle/>
          <a:p>
            <a:pPr indent="0" marL="0">
              <a:lnSpc>
                <a:spcPts val="2100"/>
              </a:lnSpc>
              <a:buNone/>
            </a:pPr>
            <a:r>
              <a:rPr lang="en-US" sz="1600" b="1" dirty="0">
                <a:solidFill>
                  <a:srgbClr val="0B2B2E"/>
                </a:solidFill>
                <a:latin typeface="Calibri" pitchFamily="34" charset="0"/>
                <a:ea typeface="Calibri" pitchFamily="34" charset="-122"/>
                <a:cs typeface="Calibri" pitchFamily="34" charset="-120"/>
              </a:rPr>
              <a:t>Carry, don't judge</a:t>
            </a:r>
            <a:endParaRPr lang="en-US" sz="1600" dirty="0"/>
          </a:p>
        </p:txBody>
      </p:sp>
      <p:sp>
        <p:nvSpPr>
          <p:cNvPr id="26" name="Text 21"/>
          <p:cNvSpPr txBox="1"/>
          <p:nvPr/>
        </p:nvSpPr>
        <p:spPr>
          <a:xfrm>
            <a:off x="6543904" y="3986784"/>
            <a:ext cx="1891208" cy="1463040"/>
          </a:xfrm>
          <a:prstGeom prst="rect">
            <a:avLst/>
          </a:prstGeom>
          <a:noFill/>
          <a:ln/>
        </p:spPr>
        <p:txBody>
          <a:bodyPr wrap="square" lIns="0" tIns="0" rIns="0" bIns="0" rtlCol="0" anchor="ctr"/>
          <a:lstStyle/>
          <a:p>
            <a:pPr indent="0" marL="0">
              <a:lnSpc>
                <a:spcPts val="1800"/>
              </a:lnSpc>
              <a:buNone/>
            </a:pPr>
            <a:r>
              <a:rPr lang="en-US" sz="1250" dirty="0">
                <a:solidFill>
                  <a:srgbClr val="56696A"/>
                </a:solidFill>
                <a:latin typeface="Calibri" pitchFamily="34" charset="0"/>
                <a:ea typeface="Calibri" pitchFamily="34" charset="-122"/>
                <a:cs typeface="Calibri" pitchFamily="34" charset="-120"/>
              </a:rPr>
              <a:t>The system transcribes, structures and prints. It does not diagnose, score or advise — that boundary is deliberate.</a:t>
            </a:r>
            <a:endParaRPr lang="en-US" sz="1250" dirty="0"/>
          </a:p>
        </p:txBody>
      </p:sp>
      <p:sp>
        <p:nvSpPr>
          <p:cNvPr id="27" name="Shape 22"/>
          <p:cNvSpPr/>
          <p:nvPr/>
        </p:nvSpPr>
        <p:spPr>
          <a:xfrm>
            <a:off x="9002039" y="2212848"/>
            <a:ext cx="2549576" cy="3401568"/>
          </a:xfrm>
          <a:prstGeom prst="roundRect">
            <a:avLst>
              <a:gd name="adj" fmla="val 2511"/>
            </a:avLst>
          </a:prstGeom>
          <a:solidFill>
            <a:srgbClr val="FFFFFF"/>
          </a:solidFill>
          <a:ln w="12700">
            <a:solidFill>
              <a:srgbClr val="DFEAE8"/>
            </a:solidFill>
            <a:prstDash val="solid"/>
          </a:ln>
          <a:effectLst>
            <a:outerShdw sx="100000" sy="100000" kx="0" ky="0" algn="bl" rotWithShape="0" blurRad="152400" dist="25400" dir="5400000">
              <a:srgbClr val="0B2B2E">
                <a:alpha val="9000"/>
              </a:srgbClr>
            </a:outerShdw>
          </a:effectLst>
        </p:spPr>
      </p:sp>
      <p:sp>
        <p:nvSpPr>
          <p:cNvPr id="28" name="Shape 23"/>
          <p:cNvSpPr/>
          <p:nvPr/>
        </p:nvSpPr>
        <p:spPr>
          <a:xfrm>
            <a:off x="9331223" y="2560320"/>
            <a:ext cx="621792" cy="621792"/>
          </a:xfrm>
          <a:prstGeom prst="ellipse">
            <a:avLst/>
          </a:prstGeom>
          <a:solidFill>
            <a:srgbClr val="0E6E6B"/>
          </a:solidFill>
          <a:ln/>
        </p:spPr>
      </p:sp>
      <p:pic>
        <p:nvPicPr>
          <p:cNvPr id="29" name="Image 3" descr="preencoded.png">    </p:cNvPr>
          <p:cNvPicPr>
            <a:picLocks noChangeAspect="1"/>
          </p:cNvPicPr>
          <p:nvPr/>
        </p:nvPicPr>
        <p:blipFill>
          <a:blip r:embed="rId4"/>
          <a:stretch>
            <a:fillRect/>
          </a:stretch>
        </p:blipFill>
        <p:spPr>
          <a:xfrm>
            <a:off x="9486671" y="2715768"/>
            <a:ext cx="310896" cy="310896"/>
          </a:xfrm>
          <a:prstGeom prst="rect">
            <a:avLst/>
          </a:prstGeom>
        </p:spPr>
      </p:pic>
      <p:sp>
        <p:nvSpPr>
          <p:cNvPr id="30" name="Text 24"/>
          <p:cNvSpPr txBox="1"/>
          <p:nvPr/>
        </p:nvSpPr>
        <p:spPr>
          <a:xfrm>
            <a:off x="9331223" y="3346704"/>
            <a:ext cx="1891208" cy="566928"/>
          </a:xfrm>
          <a:prstGeom prst="rect">
            <a:avLst/>
          </a:prstGeom>
          <a:noFill/>
          <a:ln/>
        </p:spPr>
        <p:txBody>
          <a:bodyPr wrap="square" lIns="0" tIns="0" rIns="0" bIns="0" rtlCol="0" anchor="ctr"/>
          <a:lstStyle/>
          <a:p>
            <a:pPr indent="0" marL="0">
              <a:lnSpc>
                <a:spcPts val="2100"/>
              </a:lnSpc>
              <a:buNone/>
            </a:pPr>
            <a:r>
              <a:rPr lang="en-US" sz="1600" b="1" dirty="0">
                <a:solidFill>
                  <a:srgbClr val="0B2B2E"/>
                </a:solidFill>
                <a:latin typeface="Calibri" pitchFamily="34" charset="0"/>
                <a:ea typeface="Calibri" pitchFamily="34" charset="-122"/>
                <a:cs typeface="Calibri" pitchFamily="34" charset="-120"/>
              </a:rPr>
              <a:t>Leave the door open</a:t>
            </a:r>
            <a:endParaRPr lang="en-US" sz="1600" dirty="0"/>
          </a:p>
        </p:txBody>
      </p:sp>
      <p:sp>
        <p:nvSpPr>
          <p:cNvPr id="31" name="Text 25"/>
          <p:cNvSpPr txBox="1"/>
          <p:nvPr/>
        </p:nvSpPr>
        <p:spPr>
          <a:xfrm>
            <a:off x="9331223" y="3986784"/>
            <a:ext cx="1891208" cy="1463040"/>
          </a:xfrm>
          <a:prstGeom prst="rect">
            <a:avLst/>
          </a:prstGeom>
          <a:noFill/>
          <a:ln/>
        </p:spPr>
        <p:txBody>
          <a:bodyPr wrap="square" lIns="0" tIns="0" rIns="0" bIns="0" rtlCol="0" anchor="ctr"/>
          <a:lstStyle/>
          <a:p>
            <a:pPr indent="0" marL="0">
              <a:lnSpc>
                <a:spcPts val="1800"/>
              </a:lnSpc>
              <a:buNone/>
            </a:pPr>
            <a:r>
              <a:rPr lang="en-US" sz="1250" dirty="0">
                <a:solidFill>
                  <a:srgbClr val="56696A"/>
                </a:solidFill>
                <a:latin typeface="Calibri" pitchFamily="34" charset="0"/>
                <a:ea typeface="Calibri" pitchFamily="34" charset="-122"/>
                <a:cs typeface="Calibri" pitchFamily="34" charset="-120"/>
              </a:rPr>
              <a:t>Every record exportable in an open format at any moment. A clinic that wants to leave should find it easy.</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Text 1"/>
          <p:cNvSpPr txBox="1"/>
          <p:nvPr/>
        </p:nvSpPr>
        <p:spPr>
          <a:xfrm>
            <a:off x="640080" y="475488"/>
            <a:ext cx="7315200" cy="256032"/>
          </a:xfrm>
          <a:prstGeom prst="rect">
            <a:avLst/>
          </a:prstGeom>
          <a:noFill/>
          <a:ln/>
        </p:spPr>
        <p:txBody>
          <a:bodyPr wrap="square" lIns="0" tIns="0" rIns="0" bIns="0" rtlCol="0" anchor="ctr"/>
          <a:lstStyle/>
          <a:p>
            <a:pPr indent="0" marL="0">
              <a:buNone/>
            </a:pPr>
            <a:r>
              <a:rPr lang="en-US" sz="1100" b="1" spc="240" kern="0" dirty="0">
                <a:solidFill>
                  <a:srgbClr val="0E6E6B"/>
                </a:solidFill>
                <a:latin typeface="Calibri" pitchFamily="34" charset="0"/>
                <a:ea typeface="Calibri" pitchFamily="34" charset="-122"/>
                <a:cs typeface="Calibri" pitchFamily="34" charset="-120"/>
              </a:rPr>
              <a:t>PROTOTYPE</a:t>
            </a:r>
            <a:endParaRPr lang="en-US" sz="1100" dirty="0"/>
          </a:p>
        </p:txBody>
      </p:sp>
      <p:sp>
        <p:nvSpPr>
          <p:cNvPr id="4" name="Text 2"/>
          <p:cNvSpPr txBox="1"/>
          <p:nvPr/>
        </p:nvSpPr>
        <p:spPr>
          <a:xfrm>
            <a:off x="640080" y="822960"/>
            <a:ext cx="9509760" cy="777240"/>
          </a:xfrm>
          <a:prstGeom prst="rect">
            <a:avLst/>
          </a:prstGeom>
          <a:noFill/>
          <a:ln/>
        </p:spPr>
        <p:txBody>
          <a:bodyPr wrap="square" lIns="0" tIns="0" rIns="0" bIns="0" rtlCol="0" anchor="ctr"/>
          <a:lstStyle/>
          <a:p>
            <a:pPr indent="0" marL="0">
              <a:buNone/>
            </a:pPr>
            <a:r>
              <a:rPr lang="en-US" sz="3400" b="1" dirty="0">
                <a:solidFill>
                  <a:srgbClr val="0B2B2E"/>
                </a:solidFill>
                <a:latin typeface="Cambria" pitchFamily="34" charset="0"/>
                <a:ea typeface="Cambria" pitchFamily="34" charset="-122"/>
                <a:cs typeface="Cambria" pitchFamily="34" charset="-120"/>
              </a:rPr>
              <a:t>The prototype, running</a:t>
            </a:r>
            <a:endParaRPr lang="en-US" sz="3400" dirty="0"/>
          </a:p>
        </p:txBody>
      </p:sp>
      <p:sp>
        <p:nvSpPr>
          <p:cNvPr id="5" name="Text 3"/>
          <p:cNvSpPr txBox="1"/>
          <p:nvPr/>
        </p:nvSpPr>
        <p:spPr>
          <a:xfrm>
            <a:off x="7423099" y="493776"/>
            <a:ext cx="2788920" cy="256032"/>
          </a:xfrm>
          <a:prstGeom prst="rect">
            <a:avLst/>
          </a:prstGeom>
          <a:noFill/>
          <a:ln/>
        </p:spPr>
        <p:txBody>
          <a:bodyPr wrap="square" lIns="0" tIns="0" rIns="0" bIns="0" rtlCol="0" anchor="ctr"/>
          <a:lstStyle/>
          <a:p>
            <a:pPr algn="r" indent="0" marL="0">
              <a:buNone/>
            </a:pPr>
            <a:r>
              <a:rPr lang="en-US" sz="1000" b="1" spc="180" kern="0" dirty="0">
                <a:solidFill>
                  <a:srgbClr val="8B9C9D"/>
                </a:solidFill>
                <a:latin typeface="Calibri" pitchFamily="34" charset="0"/>
                <a:ea typeface="Calibri" pitchFamily="34" charset="-122"/>
                <a:cs typeface="Calibri" pitchFamily="34" charset="-120"/>
              </a:rPr>
              <a:t>PROTOTYPE</a:t>
            </a:r>
            <a:endParaRPr lang="en-US" sz="1000" dirty="0"/>
          </a:p>
        </p:txBody>
      </p:sp>
      <p:sp>
        <p:nvSpPr>
          <p:cNvPr id="6" name="Shape 4"/>
          <p:cNvSpPr/>
          <p:nvPr/>
        </p:nvSpPr>
        <p:spPr>
          <a:xfrm>
            <a:off x="10349179" y="548640"/>
            <a:ext cx="141732" cy="141732"/>
          </a:xfrm>
          <a:prstGeom prst="ellipse">
            <a:avLst/>
          </a:prstGeom>
          <a:solidFill>
            <a:srgbClr val="DFEAE8"/>
          </a:solidFill>
          <a:ln/>
        </p:spPr>
      </p:sp>
      <p:sp>
        <p:nvSpPr>
          <p:cNvPr id="7" name="Shape 5"/>
          <p:cNvSpPr/>
          <p:nvPr/>
        </p:nvSpPr>
        <p:spPr>
          <a:xfrm>
            <a:off x="10614355" y="548640"/>
            <a:ext cx="141732" cy="141732"/>
          </a:xfrm>
          <a:prstGeom prst="ellipse">
            <a:avLst/>
          </a:prstGeom>
          <a:solidFill>
            <a:srgbClr val="DFEAE8"/>
          </a:solidFill>
          <a:ln/>
        </p:spPr>
      </p:sp>
      <p:sp>
        <p:nvSpPr>
          <p:cNvPr id="8" name="Shape 6"/>
          <p:cNvSpPr/>
          <p:nvPr/>
        </p:nvSpPr>
        <p:spPr>
          <a:xfrm>
            <a:off x="10879531" y="548640"/>
            <a:ext cx="141732" cy="141732"/>
          </a:xfrm>
          <a:prstGeom prst="ellipse">
            <a:avLst/>
          </a:prstGeom>
          <a:solidFill>
            <a:srgbClr val="DFEAE8"/>
          </a:solidFill>
          <a:ln/>
        </p:spPr>
      </p:sp>
      <p:sp>
        <p:nvSpPr>
          <p:cNvPr id="9" name="Shape 7"/>
          <p:cNvSpPr/>
          <p:nvPr/>
        </p:nvSpPr>
        <p:spPr>
          <a:xfrm>
            <a:off x="11144707" y="548640"/>
            <a:ext cx="141732" cy="141732"/>
          </a:xfrm>
          <a:prstGeom prst="ellipse">
            <a:avLst/>
          </a:prstGeom>
          <a:solidFill>
            <a:srgbClr val="C9821F"/>
          </a:solidFill>
          <a:ln/>
        </p:spPr>
      </p:sp>
      <p:sp>
        <p:nvSpPr>
          <p:cNvPr id="10" name="Shape 8"/>
          <p:cNvSpPr/>
          <p:nvPr/>
        </p:nvSpPr>
        <p:spPr>
          <a:xfrm>
            <a:off x="11409883" y="548640"/>
            <a:ext cx="141732" cy="141732"/>
          </a:xfrm>
          <a:prstGeom prst="ellipse">
            <a:avLst/>
          </a:prstGeom>
          <a:solidFill>
            <a:srgbClr val="DFEAE8"/>
          </a:solidFill>
          <a:ln/>
        </p:spPr>
      </p:sp>
      <p:pic>
        <p:nvPicPr>
          <p:cNvPr id="11" name="Image 0" descr="today-tight.png">    </p:cNvPr>
          <p:cNvPicPr>
            <a:picLocks noChangeAspect="1"/>
          </p:cNvPicPr>
          <p:nvPr/>
        </p:nvPicPr>
        <p:blipFill>
          <a:blip r:embed="rId1"/>
          <a:stretch>
            <a:fillRect/>
          </a:stretch>
        </p:blipFill>
        <p:spPr>
          <a:xfrm>
            <a:off x="640080" y="1874520"/>
            <a:ext cx="7086600" cy="3840480"/>
          </a:xfrm>
          <a:prstGeom prst="rect">
            <a:avLst/>
          </a:prstGeom>
          <a:effectLst>
            <a:outerShdw sx="100000" sy="100000" kx="0" ky="0" algn="bl" rotWithShape="0" blurRad="203200" dist="25400" dir="5400000">
              <a:srgbClr val="0B2B2E">
                <a:alpha val="14000"/>
              </a:srgbClr>
            </a:outerShdw>
          </a:effectLst>
        </p:spPr>
      </p:pic>
      <p:sp>
        <p:nvSpPr>
          <p:cNvPr id="12" name="Text 9"/>
          <p:cNvSpPr txBox="1"/>
          <p:nvPr/>
        </p:nvSpPr>
        <p:spPr>
          <a:xfrm>
            <a:off x="7973568" y="1874520"/>
            <a:ext cx="3611880" cy="274320"/>
          </a:xfrm>
          <a:prstGeom prst="rect">
            <a:avLst/>
          </a:prstGeom>
          <a:noFill/>
          <a:ln/>
        </p:spPr>
        <p:txBody>
          <a:bodyPr wrap="square" lIns="0" tIns="0" rIns="0" bIns="0" rtlCol="0" anchor="ctr"/>
          <a:lstStyle/>
          <a:p>
            <a:pPr indent="0" marL="0">
              <a:buNone/>
            </a:pPr>
            <a:r>
              <a:rPr lang="en-US" sz="1350" b="1" dirty="0">
                <a:solidFill>
                  <a:srgbClr val="0E6E6B"/>
                </a:solidFill>
                <a:latin typeface="Calibri" pitchFamily="34" charset="0"/>
                <a:ea typeface="Calibri" pitchFamily="34" charset="-122"/>
                <a:cs typeface="Calibri" pitchFamily="34" charset="-120"/>
              </a:rPr>
              <a:t>Working software, not a mockup</a:t>
            </a:r>
            <a:endParaRPr lang="en-US" sz="1350" dirty="0"/>
          </a:p>
        </p:txBody>
      </p:sp>
      <p:sp>
        <p:nvSpPr>
          <p:cNvPr id="13" name="Text 10"/>
          <p:cNvSpPr txBox="1"/>
          <p:nvPr/>
        </p:nvSpPr>
        <p:spPr>
          <a:xfrm>
            <a:off x="7973568" y="2167128"/>
            <a:ext cx="3611880" cy="603504"/>
          </a:xfrm>
          <a:prstGeom prst="rect">
            <a:avLst/>
          </a:prstGeom>
          <a:noFill/>
          <a:ln/>
        </p:spPr>
        <p:txBody>
          <a:bodyPr wrap="square" lIns="0" tIns="0" rIns="0" bIns="0" rtlCol="0" anchor="ctr"/>
          <a:lstStyle/>
          <a:p>
            <a:pPr indent="0" marL="0">
              <a:lnSpc>
                <a:spcPts val="1700"/>
              </a:lnSpc>
              <a:buNone/>
            </a:pPr>
            <a:r>
              <a:rPr lang="en-US" sz="1200" dirty="0">
                <a:solidFill>
                  <a:srgbClr val="56696A"/>
                </a:solidFill>
                <a:latin typeface="Calibri" pitchFamily="34" charset="0"/>
                <a:ea typeface="Calibri" pitchFamily="34" charset="-122"/>
                <a:cs typeface="Calibri" pitchFamily="34" charset="-120"/>
              </a:rPr>
              <a:t>Runs on an ordinary laptop with no internet connection and no account.</a:t>
            </a:r>
            <a:endParaRPr lang="en-US" sz="1200" dirty="0"/>
          </a:p>
        </p:txBody>
      </p:sp>
      <p:sp>
        <p:nvSpPr>
          <p:cNvPr id="14" name="Text 11"/>
          <p:cNvSpPr txBox="1"/>
          <p:nvPr/>
        </p:nvSpPr>
        <p:spPr>
          <a:xfrm>
            <a:off x="7973568" y="2871216"/>
            <a:ext cx="3611880" cy="274320"/>
          </a:xfrm>
          <a:prstGeom prst="rect">
            <a:avLst/>
          </a:prstGeom>
          <a:noFill/>
          <a:ln/>
        </p:spPr>
        <p:txBody>
          <a:bodyPr wrap="square" lIns="0" tIns="0" rIns="0" bIns="0" rtlCol="0" anchor="ctr"/>
          <a:lstStyle/>
          <a:p>
            <a:pPr indent="0" marL="0">
              <a:buNone/>
            </a:pPr>
            <a:r>
              <a:rPr lang="en-US" sz="1350" b="1" dirty="0">
                <a:solidFill>
                  <a:srgbClr val="0E6E6B"/>
                </a:solidFill>
                <a:latin typeface="Calibri" pitchFamily="34" charset="0"/>
                <a:ea typeface="Calibri" pitchFamily="34" charset="-122"/>
                <a:cs typeface="Calibri" pitchFamily="34" charset="-120"/>
              </a:rPr>
              <a:t>Nothing here has been lost</a:t>
            </a:r>
            <a:endParaRPr lang="en-US" sz="1350" dirty="0"/>
          </a:p>
        </p:txBody>
      </p:sp>
      <p:sp>
        <p:nvSpPr>
          <p:cNvPr id="15" name="Text 12"/>
          <p:cNvSpPr txBox="1"/>
          <p:nvPr/>
        </p:nvSpPr>
        <p:spPr>
          <a:xfrm>
            <a:off x="7973568" y="3163824"/>
            <a:ext cx="3611880" cy="603504"/>
          </a:xfrm>
          <a:prstGeom prst="rect">
            <a:avLst/>
          </a:prstGeom>
          <a:noFill/>
          <a:ln/>
        </p:spPr>
        <p:txBody>
          <a:bodyPr wrap="square" lIns="0" tIns="0" rIns="0" bIns="0" rtlCol="0" anchor="ctr"/>
          <a:lstStyle/>
          <a:p>
            <a:pPr indent="0" marL="0">
              <a:lnSpc>
                <a:spcPts val="1700"/>
              </a:lnSpc>
              <a:buNone/>
            </a:pPr>
            <a:r>
              <a:rPr lang="en-US" sz="1200" dirty="0">
                <a:solidFill>
                  <a:srgbClr val="56696A"/>
                </a:solidFill>
                <a:latin typeface="Calibri" pitchFamily="34" charset="0"/>
                <a:ea typeface="Calibri" pitchFamily="34" charset="-122"/>
                <a:cs typeface="Calibri" pitchFamily="34" charset="-120"/>
              </a:rPr>
              <a:t>Interrupted consultations surface on the home screen with the reason they stopped.</a:t>
            </a:r>
            <a:endParaRPr lang="en-US" sz="1200" dirty="0"/>
          </a:p>
        </p:txBody>
      </p:sp>
      <p:sp>
        <p:nvSpPr>
          <p:cNvPr id="16" name="Text 13"/>
          <p:cNvSpPr txBox="1"/>
          <p:nvPr/>
        </p:nvSpPr>
        <p:spPr>
          <a:xfrm>
            <a:off x="7973568" y="3867912"/>
            <a:ext cx="3611880" cy="274320"/>
          </a:xfrm>
          <a:prstGeom prst="rect">
            <a:avLst/>
          </a:prstGeom>
          <a:noFill/>
          <a:ln/>
        </p:spPr>
        <p:txBody>
          <a:bodyPr wrap="square" lIns="0" tIns="0" rIns="0" bIns="0" rtlCol="0" anchor="ctr"/>
          <a:lstStyle/>
          <a:p>
            <a:pPr indent="0" marL="0">
              <a:buNone/>
            </a:pPr>
            <a:r>
              <a:rPr lang="en-US" sz="1350" b="1" dirty="0">
                <a:solidFill>
                  <a:srgbClr val="0E6E6B"/>
                </a:solidFill>
                <a:latin typeface="Calibri" pitchFamily="34" charset="0"/>
                <a:ea typeface="Calibri" pitchFamily="34" charset="-122"/>
                <a:cs typeface="Calibri" pitchFamily="34" charset="-120"/>
              </a:rPr>
              <a:t>Honest measures on the front page</a:t>
            </a:r>
            <a:endParaRPr lang="en-US" sz="1350" dirty="0"/>
          </a:p>
        </p:txBody>
      </p:sp>
      <p:sp>
        <p:nvSpPr>
          <p:cNvPr id="17" name="Text 14"/>
          <p:cNvSpPr txBox="1"/>
          <p:nvPr/>
        </p:nvSpPr>
        <p:spPr>
          <a:xfrm>
            <a:off x="7973568" y="4160520"/>
            <a:ext cx="3611880" cy="603504"/>
          </a:xfrm>
          <a:prstGeom prst="rect">
            <a:avLst/>
          </a:prstGeom>
          <a:noFill/>
          <a:ln/>
        </p:spPr>
        <p:txBody>
          <a:bodyPr wrap="square" lIns="0" tIns="0" rIns="0" bIns="0" rtlCol="0" anchor="ctr"/>
          <a:lstStyle/>
          <a:p>
            <a:pPr indent="0" marL="0">
              <a:lnSpc>
                <a:spcPts val="1700"/>
              </a:lnSpc>
              <a:buNone/>
            </a:pPr>
            <a:r>
              <a:rPr lang="en-US" sz="1200" dirty="0">
                <a:solidFill>
                  <a:srgbClr val="56696A"/>
                </a:solidFill>
                <a:latin typeface="Calibri" pitchFamily="34" charset="0"/>
                <a:ea typeface="Calibri" pitchFamily="34" charset="-122"/>
                <a:cs typeface="Calibri" pitchFamily="34" charset="-120"/>
              </a:rPr>
              <a:t>Edits per note is shown because it is the number that would expose the system as unreliable.</a:t>
            </a:r>
            <a:endParaRPr lang="en-US" sz="1200" dirty="0"/>
          </a:p>
        </p:txBody>
      </p:sp>
      <p:sp>
        <p:nvSpPr>
          <p:cNvPr id="18" name="Text 15"/>
          <p:cNvSpPr txBox="1"/>
          <p:nvPr/>
        </p:nvSpPr>
        <p:spPr>
          <a:xfrm>
            <a:off x="7973568" y="4864608"/>
            <a:ext cx="3611880" cy="274320"/>
          </a:xfrm>
          <a:prstGeom prst="rect">
            <a:avLst/>
          </a:prstGeom>
          <a:noFill/>
          <a:ln/>
        </p:spPr>
        <p:txBody>
          <a:bodyPr wrap="square" lIns="0" tIns="0" rIns="0" bIns="0" rtlCol="0" anchor="ctr"/>
          <a:lstStyle/>
          <a:p>
            <a:pPr indent="0" marL="0">
              <a:buNone/>
            </a:pPr>
            <a:r>
              <a:rPr lang="en-US" sz="1350" b="1" dirty="0">
                <a:solidFill>
                  <a:srgbClr val="0E6E6B"/>
                </a:solidFill>
                <a:latin typeface="Calibri" pitchFamily="34" charset="0"/>
                <a:ea typeface="Calibri" pitchFamily="34" charset="-122"/>
                <a:cs typeface="Calibri" pitchFamily="34" charset="-120"/>
              </a:rPr>
              <a:t>Audio never leaves the machine</a:t>
            </a:r>
            <a:endParaRPr lang="en-US" sz="1350" dirty="0"/>
          </a:p>
        </p:txBody>
      </p:sp>
      <p:sp>
        <p:nvSpPr>
          <p:cNvPr id="19" name="Text 16"/>
          <p:cNvSpPr txBox="1"/>
          <p:nvPr/>
        </p:nvSpPr>
        <p:spPr>
          <a:xfrm>
            <a:off x="7973568" y="5157216"/>
            <a:ext cx="3611880" cy="603504"/>
          </a:xfrm>
          <a:prstGeom prst="rect">
            <a:avLst/>
          </a:prstGeom>
          <a:noFill/>
          <a:ln/>
        </p:spPr>
        <p:txBody>
          <a:bodyPr wrap="square" lIns="0" tIns="0" rIns="0" bIns="0" rtlCol="0" anchor="ctr"/>
          <a:lstStyle/>
          <a:p>
            <a:pPr indent="0" marL="0">
              <a:lnSpc>
                <a:spcPts val="1700"/>
              </a:lnSpc>
              <a:buNone/>
            </a:pPr>
            <a:r>
              <a:rPr lang="en-US" sz="1200" dirty="0">
                <a:solidFill>
                  <a:srgbClr val="56696A"/>
                </a:solidFill>
                <a:latin typeface="Calibri" pitchFamily="34" charset="0"/>
                <a:ea typeface="Calibri" pitchFamily="34" charset="-122"/>
                <a:cs typeface="Calibri" pitchFamily="34" charset="-120"/>
              </a:rPr>
              <a:t>Stated on every screen, and enforced in the code rather than in a policy.</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Text 1"/>
          <p:cNvSpPr txBox="1"/>
          <p:nvPr/>
        </p:nvSpPr>
        <p:spPr>
          <a:xfrm>
            <a:off x="640080" y="475488"/>
            <a:ext cx="7315200" cy="256032"/>
          </a:xfrm>
          <a:prstGeom prst="rect">
            <a:avLst/>
          </a:prstGeom>
          <a:noFill/>
          <a:ln/>
        </p:spPr>
        <p:txBody>
          <a:bodyPr wrap="square" lIns="0" tIns="0" rIns="0" bIns="0" rtlCol="0" anchor="ctr"/>
          <a:lstStyle/>
          <a:p>
            <a:pPr indent="0" marL="0">
              <a:buNone/>
            </a:pPr>
            <a:r>
              <a:rPr lang="en-US" sz="1100" b="1" spc="240" kern="0" dirty="0">
                <a:solidFill>
                  <a:srgbClr val="0E6E6B"/>
                </a:solidFill>
                <a:latin typeface="Calibri" pitchFamily="34" charset="0"/>
                <a:ea typeface="Calibri" pitchFamily="34" charset="-122"/>
                <a:cs typeface="Calibri" pitchFamily="34" charset="-120"/>
              </a:rPr>
              <a:t>PROTOTYPE</a:t>
            </a:r>
            <a:endParaRPr lang="en-US" sz="1100" dirty="0"/>
          </a:p>
        </p:txBody>
      </p:sp>
      <p:sp>
        <p:nvSpPr>
          <p:cNvPr id="4" name="Text 2"/>
          <p:cNvSpPr txBox="1"/>
          <p:nvPr/>
        </p:nvSpPr>
        <p:spPr>
          <a:xfrm>
            <a:off x="640080" y="822960"/>
            <a:ext cx="9509760" cy="777240"/>
          </a:xfrm>
          <a:prstGeom prst="rect">
            <a:avLst/>
          </a:prstGeom>
          <a:noFill/>
          <a:ln/>
        </p:spPr>
        <p:txBody>
          <a:bodyPr wrap="square" lIns="0" tIns="0" rIns="0" bIns="0" rtlCol="0" anchor="ctr"/>
          <a:lstStyle/>
          <a:p>
            <a:pPr indent="0" marL="0">
              <a:buNone/>
            </a:pPr>
            <a:r>
              <a:rPr lang="en-US" sz="3400" b="1" dirty="0">
                <a:solidFill>
                  <a:srgbClr val="0B2B2E"/>
                </a:solidFill>
                <a:latin typeface="Cambria" pitchFamily="34" charset="0"/>
                <a:ea typeface="Cambria" pitchFamily="34" charset="-122"/>
                <a:cs typeface="Cambria" pitchFamily="34" charset="-120"/>
              </a:rPr>
              <a:t>What the patient walks out with</a:t>
            </a:r>
            <a:endParaRPr lang="en-US" sz="3400" dirty="0"/>
          </a:p>
        </p:txBody>
      </p:sp>
      <p:sp>
        <p:nvSpPr>
          <p:cNvPr id="5" name="Text 3"/>
          <p:cNvSpPr txBox="1"/>
          <p:nvPr/>
        </p:nvSpPr>
        <p:spPr>
          <a:xfrm>
            <a:off x="7423099" y="493776"/>
            <a:ext cx="2788920" cy="256032"/>
          </a:xfrm>
          <a:prstGeom prst="rect">
            <a:avLst/>
          </a:prstGeom>
          <a:noFill/>
          <a:ln/>
        </p:spPr>
        <p:txBody>
          <a:bodyPr wrap="square" lIns="0" tIns="0" rIns="0" bIns="0" rtlCol="0" anchor="ctr"/>
          <a:lstStyle/>
          <a:p>
            <a:pPr algn="r" indent="0" marL="0">
              <a:buNone/>
            </a:pPr>
            <a:r>
              <a:rPr lang="en-US" sz="1000" b="1" spc="180" kern="0" dirty="0">
                <a:solidFill>
                  <a:srgbClr val="8B9C9D"/>
                </a:solidFill>
                <a:latin typeface="Calibri" pitchFamily="34" charset="0"/>
                <a:ea typeface="Calibri" pitchFamily="34" charset="-122"/>
                <a:cs typeface="Calibri" pitchFamily="34" charset="-120"/>
              </a:rPr>
              <a:t>PROTOTYPE</a:t>
            </a:r>
            <a:endParaRPr lang="en-US" sz="1000" dirty="0"/>
          </a:p>
        </p:txBody>
      </p:sp>
      <p:sp>
        <p:nvSpPr>
          <p:cNvPr id="6" name="Shape 4"/>
          <p:cNvSpPr/>
          <p:nvPr/>
        </p:nvSpPr>
        <p:spPr>
          <a:xfrm>
            <a:off x="10349179" y="548640"/>
            <a:ext cx="141732" cy="141732"/>
          </a:xfrm>
          <a:prstGeom prst="ellipse">
            <a:avLst/>
          </a:prstGeom>
          <a:solidFill>
            <a:srgbClr val="DFEAE8"/>
          </a:solidFill>
          <a:ln/>
        </p:spPr>
      </p:sp>
      <p:sp>
        <p:nvSpPr>
          <p:cNvPr id="7" name="Shape 5"/>
          <p:cNvSpPr/>
          <p:nvPr/>
        </p:nvSpPr>
        <p:spPr>
          <a:xfrm>
            <a:off x="10614355" y="548640"/>
            <a:ext cx="141732" cy="141732"/>
          </a:xfrm>
          <a:prstGeom prst="ellipse">
            <a:avLst/>
          </a:prstGeom>
          <a:solidFill>
            <a:srgbClr val="DFEAE8"/>
          </a:solidFill>
          <a:ln/>
        </p:spPr>
      </p:sp>
      <p:sp>
        <p:nvSpPr>
          <p:cNvPr id="8" name="Shape 6"/>
          <p:cNvSpPr/>
          <p:nvPr/>
        </p:nvSpPr>
        <p:spPr>
          <a:xfrm>
            <a:off x="10879531" y="548640"/>
            <a:ext cx="141732" cy="141732"/>
          </a:xfrm>
          <a:prstGeom prst="ellipse">
            <a:avLst/>
          </a:prstGeom>
          <a:solidFill>
            <a:srgbClr val="DFEAE8"/>
          </a:solidFill>
          <a:ln/>
        </p:spPr>
      </p:sp>
      <p:sp>
        <p:nvSpPr>
          <p:cNvPr id="9" name="Shape 7"/>
          <p:cNvSpPr/>
          <p:nvPr/>
        </p:nvSpPr>
        <p:spPr>
          <a:xfrm>
            <a:off x="11144707" y="548640"/>
            <a:ext cx="141732" cy="141732"/>
          </a:xfrm>
          <a:prstGeom prst="ellipse">
            <a:avLst/>
          </a:prstGeom>
          <a:solidFill>
            <a:srgbClr val="C9821F"/>
          </a:solidFill>
          <a:ln/>
        </p:spPr>
      </p:sp>
      <p:sp>
        <p:nvSpPr>
          <p:cNvPr id="10" name="Shape 8"/>
          <p:cNvSpPr/>
          <p:nvPr/>
        </p:nvSpPr>
        <p:spPr>
          <a:xfrm>
            <a:off x="11409883" y="548640"/>
            <a:ext cx="141732" cy="141732"/>
          </a:xfrm>
          <a:prstGeom prst="ellipse">
            <a:avLst/>
          </a:prstGeom>
          <a:solidFill>
            <a:srgbClr val="DFEAE8"/>
          </a:solidFill>
          <a:ln/>
        </p:spPr>
      </p:sp>
      <p:pic>
        <p:nvPicPr>
          <p:cNvPr id="11" name="Image 0" descr="rx-tight.png">    </p:cNvPr>
          <p:cNvPicPr>
            <a:picLocks noChangeAspect="1"/>
          </p:cNvPicPr>
          <p:nvPr/>
        </p:nvPicPr>
        <p:blipFill>
          <a:blip r:embed="rId1"/>
          <a:stretch>
            <a:fillRect/>
          </a:stretch>
        </p:blipFill>
        <p:spPr>
          <a:xfrm>
            <a:off x="640080" y="1783080"/>
            <a:ext cx="3794760" cy="4133088"/>
          </a:xfrm>
          <a:prstGeom prst="rect">
            <a:avLst/>
          </a:prstGeom>
          <a:effectLst>
            <a:outerShdw sx="100000" sy="100000" kx="0" ky="0" algn="bl" rotWithShape="0" blurRad="203200" dist="25400" dir="5400000">
              <a:srgbClr val="0B2B2E">
                <a:alpha val="14000"/>
              </a:srgbClr>
            </a:outerShdw>
          </a:effectLst>
        </p:spPr>
      </p:pic>
      <p:sp>
        <p:nvSpPr>
          <p:cNvPr id="12" name="Text 9"/>
          <p:cNvSpPr txBox="1"/>
          <p:nvPr/>
        </p:nvSpPr>
        <p:spPr>
          <a:xfrm>
            <a:off x="640080" y="5998464"/>
            <a:ext cx="3794760" cy="274320"/>
          </a:xfrm>
          <a:prstGeom prst="rect">
            <a:avLst/>
          </a:prstGeom>
          <a:noFill/>
          <a:ln/>
        </p:spPr>
        <p:txBody>
          <a:bodyPr wrap="square" lIns="0" tIns="0" rIns="0" bIns="0" rtlCol="0" anchor="ctr"/>
          <a:lstStyle/>
          <a:p>
            <a:pPr indent="0" marL="0">
              <a:buNone/>
            </a:pPr>
            <a:r>
              <a:rPr lang="en-US" sz="1100" i="1" dirty="0">
                <a:solidFill>
                  <a:srgbClr val="8B9C9D"/>
                </a:solidFill>
                <a:latin typeface="Calibri" pitchFamily="34" charset="0"/>
                <a:ea typeface="Calibri" pitchFamily="34" charset="-122"/>
                <a:cs typeface="Calibri" pitchFamily="34" charset="-120"/>
              </a:rPr>
              <a:t>Printed prescription, generated from the signed note</a:t>
            </a:r>
            <a:endParaRPr lang="en-US" sz="1100" dirty="0"/>
          </a:p>
        </p:txBody>
      </p:sp>
      <p:sp>
        <p:nvSpPr>
          <p:cNvPr id="13" name="Text 10"/>
          <p:cNvSpPr txBox="1"/>
          <p:nvPr/>
        </p:nvSpPr>
        <p:spPr>
          <a:xfrm>
            <a:off x="4892040" y="1828800"/>
            <a:ext cx="5486400" cy="256032"/>
          </a:xfrm>
          <a:prstGeom prst="rect">
            <a:avLst/>
          </a:prstGeom>
          <a:noFill/>
          <a:ln/>
        </p:spPr>
        <p:txBody>
          <a:bodyPr wrap="square" lIns="0" tIns="0" rIns="0" bIns="0" rtlCol="0" anchor="ctr"/>
          <a:lstStyle/>
          <a:p>
            <a:pPr indent="0" marL="0">
              <a:buNone/>
            </a:pPr>
            <a:r>
              <a:rPr lang="en-US" sz="1050" b="1" spc="160" kern="0" dirty="0">
                <a:solidFill>
                  <a:srgbClr val="C9821F"/>
                </a:solidFill>
                <a:latin typeface="Calibri" pitchFamily="34" charset="0"/>
                <a:ea typeface="Calibri" pitchFamily="34" charset="-122"/>
                <a:cs typeface="Calibri" pitchFamily="34" charset="-120"/>
              </a:rPr>
              <a:t>THREE DECISIONS TRACED BACK TO THE FIELD</a:t>
            </a:r>
            <a:endParaRPr lang="en-US" sz="1050" dirty="0"/>
          </a:p>
        </p:txBody>
      </p:sp>
      <p:sp>
        <p:nvSpPr>
          <p:cNvPr id="14" name="Shape 11"/>
          <p:cNvSpPr/>
          <p:nvPr/>
        </p:nvSpPr>
        <p:spPr>
          <a:xfrm>
            <a:off x="4892040" y="2212848"/>
            <a:ext cx="6656832" cy="1152144"/>
          </a:xfrm>
          <a:prstGeom prst="roundRect">
            <a:avLst>
              <a:gd name="adj" fmla="val 5556"/>
            </a:avLst>
          </a:prstGeom>
          <a:solidFill>
            <a:srgbClr val="0B2B2E"/>
          </a:solidFill>
          <a:ln/>
          <a:effectLst>
            <a:outerShdw sx="100000" sy="100000" kx="0" ky="0" algn="bl" rotWithShape="0" blurRad="152400" dist="25400" dir="5400000">
              <a:srgbClr val="0B2B2E">
                <a:alpha val="9000"/>
              </a:srgbClr>
            </a:outerShdw>
          </a:effectLst>
        </p:spPr>
      </p:sp>
      <p:sp>
        <p:nvSpPr>
          <p:cNvPr id="15" name="Text 12"/>
          <p:cNvSpPr txBox="1"/>
          <p:nvPr/>
        </p:nvSpPr>
        <p:spPr>
          <a:xfrm>
            <a:off x="5193792" y="2377440"/>
            <a:ext cx="6035040" cy="274320"/>
          </a:xfrm>
          <a:prstGeom prst="rect">
            <a:avLst/>
          </a:prstGeom>
          <a:noFill/>
          <a:ln/>
        </p:spPr>
        <p:txBody>
          <a:bodyPr wrap="square" lIns="0" tIns="0" rIns="0" bIns="0" rtlCol="0" anchor="ctr"/>
          <a:lstStyle/>
          <a:p>
            <a:pPr indent="0" marL="0">
              <a:buNone/>
            </a:pPr>
            <a:r>
              <a:rPr lang="en-US" sz="1450" b="1" dirty="0">
                <a:solidFill>
                  <a:srgbClr val="C9821F"/>
                </a:solidFill>
                <a:latin typeface="Cambria" pitchFamily="34" charset="0"/>
                <a:ea typeface="Cambria" pitchFamily="34" charset="-122"/>
                <a:cs typeface="Cambria" pitchFamily="34" charset="-120"/>
              </a:rPr>
              <a:t>“A consultation must survive anything.”</a:t>
            </a:r>
            <a:endParaRPr lang="en-US" sz="1450" dirty="0"/>
          </a:p>
        </p:txBody>
      </p:sp>
      <p:sp>
        <p:nvSpPr>
          <p:cNvPr id="16" name="Text 13"/>
          <p:cNvSpPr txBox="1"/>
          <p:nvPr/>
        </p:nvSpPr>
        <p:spPr>
          <a:xfrm>
            <a:off x="5193792" y="2706624"/>
            <a:ext cx="6080760" cy="566928"/>
          </a:xfrm>
          <a:prstGeom prst="rect">
            <a:avLst/>
          </a:prstGeom>
          <a:noFill/>
          <a:ln/>
        </p:spPr>
        <p:txBody>
          <a:bodyPr wrap="square" lIns="0" tIns="0" rIns="0" bIns="0" rtlCol="0" anchor="ctr"/>
          <a:lstStyle/>
          <a:p>
            <a:pPr indent="0" marL="0">
              <a:lnSpc>
                <a:spcPts val="1700"/>
              </a:lnSpc>
              <a:buNone/>
            </a:pPr>
            <a:r>
              <a:rPr lang="en-US" sz="1200" dirty="0">
                <a:solidFill>
                  <a:srgbClr val="C3D2D2"/>
                </a:solidFill>
                <a:latin typeface="Calibri" pitchFamily="34" charset="0"/>
                <a:ea typeface="Calibri" pitchFamily="34" charset="-122"/>
                <a:cs typeface="Calibri" pitchFamily="34" charset="-120"/>
              </a:rPr>
              <a:t>Audio is streamed to disk in five-second pieces as it is recorded, with the note autosaved to two independent places. A crash costs seconds, not a visit.</a:t>
            </a:r>
            <a:endParaRPr lang="en-US" sz="1200" dirty="0"/>
          </a:p>
        </p:txBody>
      </p:sp>
      <p:sp>
        <p:nvSpPr>
          <p:cNvPr id="17" name="Shape 14"/>
          <p:cNvSpPr/>
          <p:nvPr/>
        </p:nvSpPr>
        <p:spPr>
          <a:xfrm>
            <a:off x="4892040" y="3511296"/>
            <a:ext cx="6656832" cy="1152144"/>
          </a:xfrm>
          <a:prstGeom prst="roundRect">
            <a:avLst>
              <a:gd name="adj" fmla="val 5556"/>
            </a:avLst>
          </a:prstGeom>
          <a:solidFill>
            <a:srgbClr val="EFF4F3"/>
          </a:solidFill>
          <a:ln/>
        </p:spPr>
      </p:sp>
      <p:sp>
        <p:nvSpPr>
          <p:cNvPr id="18" name="Text 15"/>
          <p:cNvSpPr txBox="1"/>
          <p:nvPr/>
        </p:nvSpPr>
        <p:spPr>
          <a:xfrm>
            <a:off x="5193792" y="3675888"/>
            <a:ext cx="6035040" cy="274320"/>
          </a:xfrm>
          <a:prstGeom prst="rect">
            <a:avLst/>
          </a:prstGeom>
          <a:noFill/>
          <a:ln/>
        </p:spPr>
        <p:txBody>
          <a:bodyPr wrap="square" lIns="0" tIns="0" rIns="0" bIns="0" rtlCol="0" anchor="ctr"/>
          <a:lstStyle/>
          <a:p>
            <a:pPr indent="0" marL="0">
              <a:buNone/>
            </a:pPr>
            <a:r>
              <a:rPr lang="en-US" sz="1450" b="1" dirty="0">
                <a:solidFill>
                  <a:srgbClr val="0E6E6B"/>
                </a:solidFill>
                <a:latin typeface="Cambria" pitchFamily="34" charset="0"/>
                <a:ea typeface="Cambria" pitchFamily="34" charset="-122"/>
                <a:cs typeface="Cambria" pitchFamily="34" charset="-120"/>
              </a:rPr>
              <a:t>“Consent has to fit in the room.”</a:t>
            </a:r>
            <a:endParaRPr lang="en-US" sz="1450" dirty="0"/>
          </a:p>
        </p:txBody>
      </p:sp>
      <p:sp>
        <p:nvSpPr>
          <p:cNvPr id="19" name="Text 16"/>
          <p:cNvSpPr txBox="1"/>
          <p:nvPr/>
        </p:nvSpPr>
        <p:spPr>
          <a:xfrm>
            <a:off x="5193792" y="4005072"/>
            <a:ext cx="6080760" cy="566928"/>
          </a:xfrm>
          <a:prstGeom prst="rect">
            <a:avLst/>
          </a:prstGeom>
          <a:noFill/>
          <a:ln/>
        </p:spPr>
        <p:txBody>
          <a:bodyPr wrap="square" lIns="0" tIns="0" rIns="0" bIns="0" rtlCol="0" anchor="ctr"/>
          <a:lstStyle/>
          <a:p>
            <a:pPr indent="0" marL="0">
              <a:lnSpc>
                <a:spcPts val="1700"/>
              </a:lnSpc>
              <a:buNone/>
            </a:pPr>
            <a:r>
              <a:rPr lang="en-US" sz="1200" dirty="0">
                <a:solidFill>
                  <a:srgbClr val="0B2B2E"/>
                </a:solidFill>
                <a:latin typeface="Calibri" pitchFamily="34" charset="0"/>
                <a:ea typeface="Calibri" pitchFamily="34" charset="-122"/>
                <a:cs typeface="Calibri" pitchFamily="34" charset="-120"/>
              </a:rPr>
              <a:t>A spoken Bengali line the doctor can say in fifteen seconds, and a server that refuses to record at all until it is marked given.</a:t>
            </a:r>
            <a:endParaRPr lang="en-US" sz="1200" dirty="0"/>
          </a:p>
        </p:txBody>
      </p:sp>
      <p:sp>
        <p:nvSpPr>
          <p:cNvPr id="20" name="Shape 17"/>
          <p:cNvSpPr/>
          <p:nvPr/>
        </p:nvSpPr>
        <p:spPr>
          <a:xfrm>
            <a:off x="4892040" y="4809744"/>
            <a:ext cx="6656832" cy="1152144"/>
          </a:xfrm>
          <a:prstGeom prst="roundRect">
            <a:avLst>
              <a:gd name="adj" fmla="val 5556"/>
            </a:avLst>
          </a:prstGeom>
          <a:solidFill>
            <a:srgbClr val="EFF4F3"/>
          </a:solidFill>
          <a:ln/>
        </p:spPr>
      </p:sp>
      <p:sp>
        <p:nvSpPr>
          <p:cNvPr id="21" name="Text 18"/>
          <p:cNvSpPr txBox="1"/>
          <p:nvPr/>
        </p:nvSpPr>
        <p:spPr>
          <a:xfrm>
            <a:off x="5193792" y="4974336"/>
            <a:ext cx="6035040" cy="274320"/>
          </a:xfrm>
          <a:prstGeom prst="rect">
            <a:avLst/>
          </a:prstGeom>
          <a:noFill/>
          <a:ln/>
        </p:spPr>
        <p:txBody>
          <a:bodyPr wrap="square" lIns="0" tIns="0" rIns="0" bIns="0" rtlCol="0" anchor="ctr"/>
          <a:lstStyle/>
          <a:p>
            <a:pPr indent="0" marL="0">
              <a:buNone/>
            </a:pPr>
            <a:r>
              <a:rPr lang="en-US" sz="1450" b="1" dirty="0">
                <a:solidFill>
                  <a:srgbClr val="0E6E6B"/>
                </a:solidFill>
                <a:latin typeface="Cambria" pitchFamily="34" charset="0"/>
                <a:ea typeface="Cambria" pitchFamily="34" charset="-122"/>
                <a:cs typeface="Cambria" pitchFamily="34" charset="-120"/>
              </a:rPr>
              <a:t>“One laptop is one point of failure.”</a:t>
            </a:r>
            <a:endParaRPr lang="en-US" sz="1450" dirty="0"/>
          </a:p>
        </p:txBody>
      </p:sp>
      <p:sp>
        <p:nvSpPr>
          <p:cNvPr id="22" name="Text 19"/>
          <p:cNvSpPr txBox="1"/>
          <p:nvPr/>
        </p:nvSpPr>
        <p:spPr>
          <a:xfrm>
            <a:off x="5193792" y="5303520"/>
            <a:ext cx="6080760" cy="566928"/>
          </a:xfrm>
          <a:prstGeom prst="rect">
            <a:avLst/>
          </a:prstGeom>
          <a:noFill/>
          <a:ln/>
        </p:spPr>
        <p:txBody>
          <a:bodyPr wrap="square" lIns="0" tIns="0" rIns="0" bIns="0" rtlCol="0" anchor="ctr"/>
          <a:lstStyle/>
          <a:p>
            <a:pPr indent="0" marL="0">
              <a:lnSpc>
                <a:spcPts val="1700"/>
              </a:lnSpc>
              <a:buNone/>
            </a:pPr>
            <a:r>
              <a:rPr lang="en-US" sz="1200" dirty="0">
                <a:solidFill>
                  <a:srgbClr val="0B2B2E"/>
                </a:solidFill>
                <a:latin typeface="Calibri" pitchFamily="34" charset="0"/>
                <a:ea typeface="Calibri" pitchFamily="34" charset="-122"/>
                <a:cs typeface="Calibri" pitchFamily="34" charset="-120"/>
              </a:rPr>
              <a:t>A verified daily snapshot of the whole clinic, restorable in one step — and a plain-file export that works without this software at all.</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Text 1"/>
          <p:cNvSpPr txBox="1"/>
          <p:nvPr/>
        </p:nvSpPr>
        <p:spPr>
          <a:xfrm>
            <a:off x="640080" y="475488"/>
            <a:ext cx="7315200" cy="256032"/>
          </a:xfrm>
          <a:prstGeom prst="rect">
            <a:avLst/>
          </a:prstGeom>
          <a:noFill/>
          <a:ln/>
        </p:spPr>
        <p:txBody>
          <a:bodyPr wrap="square" lIns="0" tIns="0" rIns="0" bIns="0" rtlCol="0" anchor="ctr"/>
          <a:lstStyle/>
          <a:p>
            <a:pPr indent="0" marL="0">
              <a:buNone/>
            </a:pPr>
            <a:r>
              <a:rPr lang="en-US" sz="1100" b="1" spc="240" kern="0" dirty="0">
                <a:solidFill>
                  <a:srgbClr val="0E6E6B"/>
                </a:solidFill>
                <a:latin typeface="Calibri" pitchFamily="34" charset="0"/>
                <a:ea typeface="Calibri" pitchFamily="34" charset="-122"/>
                <a:cs typeface="Calibri" pitchFamily="34" charset="-120"/>
              </a:rPr>
              <a:t>TEST</a:t>
            </a:r>
            <a:endParaRPr lang="en-US" sz="1100" dirty="0"/>
          </a:p>
        </p:txBody>
      </p:sp>
      <p:sp>
        <p:nvSpPr>
          <p:cNvPr id="4" name="Text 2"/>
          <p:cNvSpPr txBox="1"/>
          <p:nvPr/>
        </p:nvSpPr>
        <p:spPr>
          <a:xfrm>
            <a:off x="640080" y="822960"/>
            <a:ext cx="9509760" cy="777240"/>
          </a:xfrm>
          <a:prstGeom prst="rect">
            <a:avLst/>
          </a:prstGeom>
          <a:noFill/>
          <a:ln/>
        </p:spPr>
        <p:txBody>
          <a:bodyPr wrap="square" lIns="0" tIns="0" rIns="0" bIns="0" rtlCol="0" anchor="ctr"/>
          <a:lstStyle/>
          <a:p>
            <a:pPr indent="0" marL="0">
              <a:buNone/>
            </a:pPr>
            <a:r>
              <a:rPr lang="en-US" sz="3400" b="1" dirty="0">
                <a:solidFill>
                  <a:srgbClr val="0B2B2E"/>
                </a:solidFill>
                <a:latin typeface="Cambria" pitchFamily="34" charset="0"/>
                <a:ea typeface="Cambria" pitchFamily="34" charset="-122"/>
                <a:cs typeface="Cambria" pitchFamily="34" charset="-120"/>
              </a:rPr>
              <a:t>How we will know we were wrong</a:t>
            </a:r>
            <a:endParaRPr lang="en-US" sz="3400" dirty="0"/>
          </a:p>
        </p:txBody>
      </p:sp>
      <p:sp>
        <p:nvSpPr>
          <p:cNvPr id="5" name="Text 3"/>
          <p:cNvSpPr txBox="1"/>
          <p:nvPr/>
        </p:nvSpPr>
        <p:spPr>
          <a:xfrm>
            <a:off x="7423099" y="493776"/>
            <a:ext cx="2788920" cy="256032"/>
          </a:xfrm>
          <a:prstGeom prst="rect">
            <a:avLst/>
          </a:prstGeom>
          <a:noFill/>
          <a:ln/>
        </p:spPr>
        <p:txBody>
          <a:bodyPr wrap="square" lIns="0" tIns="0" rIns="0" bIns="0" rtlCol="0" anchor="ctr"/>
          <a:lstStyle/>
          <a:p>
            <a:pPr algn="r" indent="0" marL="0">
              <a:buNone/>
            </a:pPr>
            <a:r>
              <a:rPr lang="en-US" sz="1000" b="1" spc="180" kern="0" dirty="0">
                <a:solidFill>
                  <a:srgbClr val="8B9C9D"/>
                </a:solidFill>
                <a:latin typeface="Calibri" pitchFamily="34" charset="0"/>
                <a:ea typeface="Calibri" pitchFamily="34" charset="-122"/>
                <a:cs typeface="Calibri" pitchFamily="34" charset="-120"/>
              </a:rPr>
              <a:t>TEST</a:t>
            </a:r>
            <a:endParaRPr lang="en-US" sz="1000" dirty="0"/>
          </a:p>
        </p:txBody>
      </p:sp>
      <p:sp>
        <p:nvSpPr>
          <p:cNvPr id="6" name="Shape 4"/>
          <p:cNvSpPr/>
          <p:nvPr/>
        </p:nvSpPr>
        <p:spPr>
          <a:xfrm>
            <a:off x="10349179" y="548640"/>
            <a:ext cx="141732" cy="141732"/>
          </a:xfrm>
          <a:prstGeom prst="ellipse">
            <a:avLst/>
          </a:prstGeom>
          <a:solidFill>
            <a:srgbClr val="DFEAE8"/>
          </a:solidFill>
          <a:ln/>
        </p:spPr>
      </p:sp>
      <p:sp>
        <p:nvSpPr>
          <p:cNvPr id="7" name="Shape 5"/>
          <p:cNvSpPr/>
          <p:nvPr/>
        </p:nvSpPr>
        <p:spPr>
          <a:xfrm>
            <a:off x="10614355" y="548640"/>
            <a:ext cx="141732" cy="141732"/>
          </a:xfrm>
          <a:prstGeom prst="ellipse">
            <a:avLst/>
          </a:prstGeom>
          <a:solidFill>
            <a:srgbClr val="DFEAE8"/>
          </a:solidFill>
          <a:ln/>
        </p:spPr>
      </p:sp>
      <p:sp>
        <p:nvSpPr>
          <p:cNvPr id="8" name="Shape 6"/>
          <p:cNvSpPr/>
          <p:nvPr/>
        </p:nvSpPr>
        <p:spPr>
          <a:xfrm>
            <a:off x="10879531" y="548640"/>
            <a:ext cx="141732" cy="141732"/>
          </a:xfrm>
          <a:prstGeom prst="ellipse">
            <a:avLst/>
          </a:prstGeom>
          <a:solidFill>
            <a:srgbClr val="DFEAE8"/>
          </a:solidFill>
          <a:ln/>
        </p:spPr>
      </p:sp>
      <p:sp>
        <p:nvSpPr>
          <p:cNvPr id="9" name="Shape 7"/>
          <p:cNvSpPr/>
          <p:nvPr/>
        </p:nvSpPr>
        <p:spPr>
          <a:xfrm>
            <a:off x="11144707" y="548640"/>
            <a:ext cx="141732" cy="141732"/>
          </a:xfrm>
          <a:prstGeom prst="ellipse">
            <a:avLst/>
          </a:prstGeom>
          <a:solidFill>
            <a:srgbClr val="DFEAE8"/>
          </a:solidFill>
          <a:ln/>
        </p:spPr>
      </p:sp>
      <p:sp>
        <p:nvSpPr>
          <p:cNvPr id="10" name="Shape 8"/>
          <p:cNvSpPr/>
          <p:nvPr/>
        </p:nvSpPr>
        <p:spPr>
          <a:xfrm>
            <a:off x="11409883" y="548640"/>
            <a:ext cx="141732" cy="141732"/>
          </a:xfrm>
          <a:prstGeom prst="ellipse">
            <a:avLst/>
          </a:prstGeom>
          <a:solidFill>
            <a:srgbClr val="C9821F"/>
          </a:solidFill>
          <a:ln/>
        </p:spPr>
      </p:sp>
      <p:sp>
        <p:nvSpPr>
          <p:cNvPr id="11" name="Text 9"/>
          <p:cNvSpPr txBox="1"/>
          <p:nvPr/>
        </p:nvSpPr>
        <p:spPr>
          <a:xfrm>
            <a:off x="640080" y="1664208"/>
            <a:ext cx="9692640" cy="329184"/>
          </a:xfrm>
          <a:prstGeom prst="rect">
            <a:avLst/>
          </a:prstGeom>
          <a:noFill/>
          <a:ln/>
        </p:spPr>
        <p:txBody>
          <a:bodyPr wrap="square" lIns="0" tIns="0" rIns="0" bIns="0" rtlCol="0" anchor="ctr"/>
          <a:lstStyle/>
          <a:p>
            <a:pPr indent="0" marL="0">
              <a:buNone/>
            </a:pPr>
            <a:r>
              <a:rPr lang="en-US" sz="1400" dirty="0">
                <a:solidFill>
                  <a:srgbClr val="56696A"/>
                </a:solidFill>
                <a:latin typeface="Calibri" pitchFamily="34" charset="0"/>
                <a:ea typeface="Calibri" pitchFamily="34" charset="-122"/>
                <a:cs typeface="Calibri" pitchFamily="34" charset="-120"/>
              </a:rPr>
              <a:t>Thresholds set before the test, not after it. Failing any gate stops the project at that gate.</a:t>
            </a:r>
            <a:endParaRPr lang="en-US" sz="1400" dirty="0"/>
          </a:p>
        </p:txBody>
      </p:sp>
      <p:sp>
        <p:nvSpPr>
          <p:cNvPr id="12" name="Shape 10"/>
          <p:cNvSpPr/>
          <p:nvPr/>
        </p:nvSpPr>
        <p:spPr>
          <a:xfrm>
            <a:off x="640080" y="2194560"/>
            <a:ext cx="3466490" cy="2606040"/>
          </a:xfrm>
          <a:prstGeom prst="roundRect">
            <a:avLst>
              <a:gd name="adj" fmla="val 2456"/>
            </a:avLst>
          </a:prstGeom>
          <a:solidFill>
            <a:srgbClr val="FFFFFF"/>
          </a:solidFill>
          <a:ln w="12700">
            <a:solidFill>
              <a:srgbClr val="DFEAE8"/>
            </a:solidFill>
            <a:prstDash val="solid"/>
          </a:ln>
          <a:effectLst>
            <a:outerShdw sx="100000" sy="100000" kx="0" ky="0" algn="bl" rotWithShape="0" blurRad="152400" dist="25400" dir="5400000">
              <a:srgbClr val="0B2B2E">
                <a:alpha val="9000"/>
              </a:srgbClr>
            </a:outerShdw>
          </a:effectLst>
        </p:spPr>
      </p:sp>
      <p:sp>
        <p:nvSpPr>
          <p:cNvPr id="13" name="Text 11"/>
          <p:cNvSpPr txBox="1"/>
          <p:nvPr/>
        </p:nvSpPr>
        <p:spPr>
          <a:xfrm>
            <a:off x="950976" y="2395728"/>
            <a:ext cx="2844698" cy="237744"/>
          </a:xfrm>
          <a:prstGeom prst="rect">
            <a:avLst/>
          </a:prstGeom>
          <a:noFill/>
          <a:ln/>
        </p:spPr>
        <p:txBody>
          <a:bodyPr wrap="square" lIns="0" tIns="0" rIns="0" bIns="0" rtlCol="0" anchor="ctr"/>
          <a:lstStyle/>
          <a:p>
            <a:pPr indent="0" marL="0">
              <a:buNone/>
            </a:pPr>
            <a:r>
              <a:rPr lang="en-US" sz="950" b="1" spc="160" kern="0" dirty="0">
                <a:solidFill>
                  <a:srgbClr val="0E6E6B"/>
                </a:solidFill>
                <a:latin typeface="Calibri" pitchFamily="34" charset="0"/>
                <a:ea typeface="Calibri" pitchFamily="34" charset="-122"/>
                <a:cs typeface="Calibri" pitchFamily="34" charset="-120"/>
              </a:rPr>
              <a:t>GATE 1 · WEEK 4</a:t>
            </a:r>
            <a:endParaRPr lang="en-US" sz="950" dirty="0"/>
          </a:p>
        </p:txBody>
      </p:sp>
      <p:sp>
        <p:nvSpPr>
          <p:cNvPr id="14" name="Text 12"/>
          <p:cNvSpPr txBox="1"/>
          <p:nvPr/>
        </p:nvSpPr>
        <p:spPr>
          <a:xfrm>
            <a:off x="950976" y="2670048"/>
            <a:ext cx="2844698" cy="658368"/>
          </a:xfrm>
          <a:prstGeom prst="rect">
            <a:avLst/>
          </a:prstGeom>
          <a:noFill/>
          <a:ln/>
        </p:spPr>
        <p:txBody>
          <a:bodyPr wrap="square" lIns="0" tIns="0" rIns="0" bIns="0" rtlCol="0" anchor="ctr"/>
          <a:lstStyle/>
          <a:p>
            <a:pPr indent="0" marL="0">
              <a:buNone/>
            </a:pPr>
            <a:r>
              <a:rPr lang="en-US" sz="3800" b="1" dirty="0">
                <a:solidFill>
                  <a:srgbClr val="0B2B2E"/>
                </a:solidFill>
                <a:latin typeface="Cambria" pitchFamily="34" charset="0"/>
                <a:ea typeface="Cambria" pitchFamily="34" charset="-122"/>
                <a:cs typeface="Cambria" pitchFamily="34" charset="-120"/>
              </a:rPr>
              <a:t>6 of 20</a:t>
            </a:r>
            <a:endParaRPr lang="en-US" sz="3800" dirty="0"/>
          </a:p>
        </p:txBody>
      </p:sp>
      <p:sp>
        <p:nvSpPr>
          <p:cNvPr id="15" name="Text 13"/>
          <p:cNvSpPr txBox="1"/>
          <p:nvPr/>
        </p:nvSpPr>
        <p:spPr>
          <a:xfrm>
            <a:off x="950976" y="3401568"/>
            <a:ext cx="2844698" cy="749808"/>
          </a:xfrm>
          <a:prstGeom prst="rect">
            <a:avLst/>
          </a:prstGeom>
          <a:noFill/>
          <a:ln/>
        </p:spPr>
        <p:txBody>
          <a:bodyPr wrap="square" lIns="0" tIns="0" rIns="0" bIns="0" rtlCol="0" anchor="ctr"/>
          <a:lstStyle/>
          <a:p>
            <a:pPr indent="0" marL="0">
              <a:lnSpc>
                <a:spcPts val="1800"/>
              </a:lnSpc>
              <a:buNone/>
            </a:pPr>
            <a:r>
              <a:rPr lang="en-US" sz="1250" dirty="0">
                <a:solidFill>
                  <a:srgbClr val="56696A"/>
                </a:solidFill>
                <a:latin typeface="Calibri" pitchFamily="34" charset="0"/>
                <a:ea typeface="Calibri" pitchFamily="34" charset="-122"/>
                <a:cs typeface="Calibri" pitchFamily="34" charset="-120"/>
              </a:rPr>
              <a:t>doctors name documentation, unprompted, among their three worst frustrations</a:t>
            </a:r>
            <a:endParaRPr lang="en-US" sz="1250" dirty="0"/>
          </a:p>
        </p:txBody>
      </p:sp>
      <p:sp>
        <p:nvSpPr>
          <p:cNvPr id="16" name="Text 14"/>
          <p:cNvSpPr txBox="1"/>
          <p:nvPr/>
        </p:nvSpPr>
        <p:spPr>
          <a:xfrm>
            <a:off x="950976" y="4224528"/>
            <a:ext cx="2844698" cy="438912"/>
          </a:xfrm>
          <a:prstGeom prst="rect">
            <a:avLst/>
          </a:prstGeom>
          <a:noFill/>
          <a:ln/>
        </p:spPr>
        <p:txBody>
          <a:bodyPr wrap="square" lIns="0" tIns="0" rIns="0" bIns="0" rtlCol="0" anchor="ctr"/>
          <a:lstStyle/>
          <a:p>
            <a:pPr indent="0" marL="0">
              <a:lnSpc>
                <a:spcPts val="1600"/>
              </a:lnSpc>
              <a:buNone/>
            </a:pPr>
            <a:r>
              <a:rPr lang="en-US" sz="1150" i="1" dirty="0">
                <a:solidFill>
                  <a:srgbClr val="A8453A"/>
                </a:solidFill>
                <a:latin typeface="Calibri" pitchFamily="34" charset="0"/>
                <a:ea typeface="Calibri" pitchFamily="34" charset="-122"/>
                <a:cs typeface="Calibri" pitchFamily="34" charset="-120"/>
              </a:rPr>
              <a:t>Below this, the problem is not the one we think it is.</a:t>
            </a:r>
            <a:endParaRPr lang="en-US" sz="1150" dirty="0"/>
          </a:p>
        </p:txBody>
      </p:sp>
      <p:sp>
        <p:nvSpPr>
          <p:cNvPr id="17" name="Shape 15"/>
          <p:cNvSpPr/>
          <p:nvPr/>
        </p:nvSpPr>
        <p:spPr>
          <a:xfrm>
            <a:off x="4362602" y="2194560"/>
            <a:ext cx="3466490" cy="2606040"/>
          </a:xfrm>
          <a:prstGeom prst="roundRect">
            <a:avLst>
              <a:gd name="adj" fmla="val 2456"/>
            </a:avLst>
          </a:prstGeom>
          <a:solidFill>
            <a:srgbClr val="FFFFFF"/>
          </a:solidFill>
          <a:ln w="12700">
            <a:solidFill>
              <a:srgbClr val="DFEAE8"/>
            </a:solidFill>
            <a:prstDash val="solid"/>
          </a:ln>
          <a:effectLst>
            <a:outerShdw sx="100000" sy="100000" kx="0" ky="0" algn="bl" rotWithShape="0" blurRad="152400" dist="25400" dir="5400000">
              <a:srgbClr val="0B2B2E">
                <a:alpha val="9000"/>
              </a:srgbClr>
            </a:outerShdw>
          </a:effectLst>
        </p:spPr>
      </p:sp>
      <p:sp>
        <p:nvSpPr>
          <p:cNvPr id="18" name="Text 16"/>
          <p:cNvSpPr txBox="1"/>
          <p:nvPr/>
        </p:nvSpPr>
        <p:spPr>
          <a:xfrm>
            <a:off x="4673498" y="2395728"/>
            <a:ext cx="2844698" cy="237744"/>
          </a:xfrm>
          <a:prstGeom prst="rect">
            <a:avLst/>
          </a:prstGeom>
          <a:noFill/>
          <a:ln/>
        </p:spPr>
        <p:txBody>
          <a:bodyPr wrap="square" lIns="0" tIns="0" rIns="0" bIns="0" rtlCol="0" anchor="ctr"/>
          <a:lstStyle/>
          <a:p>
            <a:pPr indent="0" marL="0">
              <a:buNone/>
            </a:pPr>
            <a:r>
              <a:rPr lang="en-US" sz="950" b="1" spc="160" kern="0" dirty="0">
                <a:solidFill>
                  <a:srgbClr val="0E6E6B"/>
                </a:solidFill>
                <a:latin typeface="Calibri" pitchFamily="34" charset="0"/>
                <a:ea typeface="Calibri" pitchFamily="34" charset="-122"/>
                <a:cs typeface="Calibri" pitchFamily="34" charset="-120"/>
              </a:rPr>
              <a:t>GATE 2 · WEEK 8</a:t>
            </a:r>
            <a:endParaRPr lang="en-US" sz="950" dirty="0"/>
          </a:p>
        </p:txBody>
      </p:sp>
      <p:sp>
        <p:nvSpPr>
          <p:cNvPr id="19" name="Text 17"/>
          <p:cNvSpPr txBox="1"/>
          <p:nvPr/>
        </p:nvSpPr>
        <p:spPr>
          <a:xfrm>
            <a:off x="4673498" y="2670048"/>
            <a:ext cx="2844698" cy="658368"/>
          </a:xfrm>
          <a:prstGeom prst="rect">
            <a:avLst/>
          </a:prstGeom>
          <a:noFill/>
          <a:ln/>
        </p:spPr>
        <p:txBody>
          <a:bodyPr wrap="square" lIns="0" tIns="0" rIns="0" bIns="0" rtlCol="0" anchor="ctr"/>
          <a:lstStyle/>
          <a:p>
            <a:pPr indent="0" marL="0">
              <a:buNone/>
            </a:pPr>
            <a:r>
              <a:rPr lang="en-US" sz="3800" b="1" dirty="0">
                <a:solidFill>
                  <a:srgbClr val="0B2B2E"/>
                </a:solidFill>
                <a:latin typeface="Cambria" pitchFamily="34" charset="0"/>
                <a:ea typeface="Cambria" pitchFamily="34" charset="-122"/>
                <a:cs typeface="Cambria" pitchFamily="34" charset="-120"/>
              </a:rPr>
              <a:t>2 of 3</a:t>
            </a:r>
            <a:endParaRPr lang="en-US" sz="3800" dirty="0"/>
          </a:p>
        </p:txBody>
      </p:sp>
      <p:sp>
        <p:nvSpPr>
          <p:cNvPr id="20" name="Text 18"/>
          <p:cNvSpPr txBox="1"/>
          <p:nvPr/>
        </p:nvSpPr>
        <p:spPr>
          <a:xfrm>
            <a:off x="4673498" y="3401568"/>
            <a:ext cx="2844698" cy="749808"/>
          </a:xfrm>
          <a:prstGeom prst="rect">
            <a:avLst/>
          </a:prstGeom>
          <a:noFill/>
          <a:ln/>
        </p:spPr>
        <p:txBody>
          <a:bodyPr wrap="square" lIns="0" tIns="0" rIns="0" bIns="0" rtlCol="0" anchor="ctr"/>
          <a:lstStyle/>
          <a:p>
            <a:pPr indent="0" marL="0">
              <a:lnSpc>
                <a:spcPts val="1800"/>
              </a:lnSpc>
              <a:buNone/>
            </a:pPr>
            <a:r>
              <a:rPr lang="en-US" sz="1250" dirty="0">
                <a:solidFill>
                  <a:srgbClr val="56696A"/>
                </a:solidFill>
                <a:latin typeface="Calibri" pitchFamily="34" charset="0"/>
                <a:ea typeface="Calibri" pitchFamily="34" charset="-122"/>
                <a:cs typeface="Calibri" pitchFamily="34" charset="-120"/>
              </a:rPr>
              <a:t>pilot clinics still using the system unattended on day twenty-one</a:t>
            </a:r>
            <a:endParaRPr lang="en-US" sz="1250" dirty="0"/>
          </a:p>
        </p:txBody>
      </p:sp>
      <p:sp>
        <p:nvSpPr>
          <p:cNvPr id="21" name="Text 19"/>
          <p:cNvSpPr txBox="1"/>
          <p:nvPr/>
        </p:nvSpPr>
        <p:spPr>
          <a:xfrm>
            <a:off x="4673498" y="4224528"/>
            <a:ext cx="2844698" cy="438912"/>
          </a:xfrm>
          <a:prstGeom prst="rect">
            <a:avLst/>
          </a:prstGeom>
          <a:noFill/>
          <a:ln/>
        </p:spPr>
        <p:txBody>
          <a:bodyPr wrap="square" lIns="0" tIns="0" rIns="0" bIns="0" rtlCol="0" anchor="ctr"/>
          <a:lstStyle/>
          <a:p>
            <a:pPr indent="0" marL="0">
              <a:lnSpc>
                <a:spcPts val="1600"/>
              </a:lnSpc>
              <a:buNone/>
            </a:pPr>
            <a:r>
              <a:rPr lang="en-US" sz="1150" i="1" dirty="0">
                <a:solidFill>
                  <a:srgbClr val="A8453A"/>
                </a:solidFill>
                <a:latin typeface="Calibri" pitchFamily="34" charset="0"/>
                <a:ea typeface="Calibri" pitchFamily="34" charset="-122"/>
                <a:cs typeface="Calibri" pitchFamily="34" charset="-120"/>
              </a:rPr>
              <a:t>Below this, it is being endured, not adopted.</a:t>
            </a:r>
            <a:endParaRPr lang="en-US" sz="1150" dirty="0"/>
          </a:p>
        </p:txBody>
      </p:sp>
      <p:sp>
        <p:nvSpPr>
          <p:cNvPr id="22" name="Shape 20"/>
          <p:cNvSpPr/>
          <p:nvPr/>
        </p:nvSpPr>
        <p:spPr>
          <a:xfrm>
            <a:off x="8085125" y="2194560"/>
            <a:ext cx="3466490" cy="2606040"/>
          </a:xfrm>
          <a:prstGeom prst="roundRect">
            <a:avLst>
              <a:gd name="adj" fmla="val 2456"/>
            </a:avLst>
          </a:prstGeom>
          <a:solidFill>
            <a:srgbClr val="0B2B2E"/>
          </a:solidFill>
          <a:ln/>
          <a:effectLst>
            <a:outerShdw sx="100000" sy="100000" kx="0" ky="0" algn="bl" rotWithShape="0" blurRad="152400" dist="25400" dir="5400000">
              <a:srgbClr val="0B2B2E">
                <a:alpha val="9000"/>
              </a:srgbClr>
            </a:outerShdw>
          </a:effectLst>
        </p:spPr>
      </p:sp>
      <p:sp>
        <p:nvSpPr>
          <p:cNvPr id="23" name="Text 21"/>
          <p:cNvSpPr txBox="1"/>
          <p:nvPr/>
        </p:nvSpPr>
        <p:spPr>
          <a:xfrm>
            <a:off x="8396021" y="2395728"/>
            <a:ext cx="2844698" cy="237744"/>
          </a:xfrm>
          <a:prstGeom prst="rect">
            <a:avLst/>
          </a:prstGeom>
          <a:noFill/>
          <a:ln/>
        </p:spPr>
        <p:txBody>
          <a:bodyPr wrap="square" lIns="0" tIns="0" rIns="0" bIns="0" rtlCol="0" anchor="ctr"/>
          <a:lstStyle/>
          <a:p>
            <a:pPr indent="0" marL="0">
              <a:buNone/>
            </a:pPr>
            <a:r>
              <a:rPr lang="en-US" sz="950" b="1" spc="160" kern="0" dirty="0">
                <a:solidFill>
                  <a:srgbClr val="C9821F"/>
                </a:solidFill>
                <a:latin typeface="Calibri" pitchFamily="34" charset="0"/>
                <a:ea typeface="Calibri" pitchFamily="34" charset="-122"/>
                <a:cs typeface="Calibri" pitchFamily="34" charset="-120"/>
              </a:rPr>
              <a:t>GATE 3 · ONGOING</a:t>
            </a:r>
            <a:endParaRPr lang="en-US" sz="950" dirty="0"/>
          </a:p>
        </p:txBody>
      </p:sp>
      <p:sp>
        <p:nvSpPr>
          <p:cNvPr id="24" name="Text 22"/>
          <p:cNvSpPr txBox="1"/>
          <p:nvPr/>
        </p:nvSpPr>
        <p:spPr>
          <a:xfrm>
            <a:off x="8396021" y="2670048"/>
            <a:ext cx="2844698" cy="658368"/>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0</a:t>
            </a:r>
            <a:endParaRPr lang="en-US" sz="3800" dirty="0"/>
          </a:p>
        </p:txBody>
      </p:sp>
      <p:sp>
        <p:nvSpPr>
          <p:cNvPr id="25" name="Text 23"/>
          <p:cNvSpPr txBox="1"/>
          <p:nvPr/>
        </p:nvSpPr>
        <p:spPr>
          <a:xfrm>
            <a:off x="8396021" y="3401568"/>
            <a:ext cx="2844698" cy="749808"/>
          </a:xfrm>
          <a:prstGeom prst="rect">
            <a:avLst/>
          </a:prstGeom>
          <a:noFill/>
          <a:ln/>
        </p:spPr>
        <p:txBody>
          <a:bodyPr wrap="square" lIns="0" tIns="0" rIns="0" bIns="0" rtlCol="0" anchor="ctr"/>
          <a:lstStyle/>
          <a:p>
            <a:pPr indent="0" marL="0">
              <a:lnSpc>
                <a:spcPts val="1800"/>
              </a:lnSpc>
              <a:buNone/>
            </a:pPr>
            <a:r>
              <a:rPr lang="en-US" sz="1250" dirty="0">
                <a:solidFill>
                  <a:srgbClr val="C3D2D2"/>
                </a:solidFill>
                <a:latin typeface="Calibri" pitchFamily="34" charset="0"/>
                <a:ea typeface="Calibri" pitchFamily="34" charset="-122"/>
                <a:cs typeface="Calibri" pitchFamily="34" charset="-120"/>
              </a:rPr>
              <a:t>consultations lost to a crash, a power cut or a closed laptop</a:t>
            </a:r>
            <a:endParaRPr lang="en-US" sz="1250" dirty="0"/>
          </a:p>
        </p:txBody>
      </p:sp>
      <p:sp>
        <p:nvSpPr>
          <p:cNvPr id="26" name="Text 24"/>
          <p:cNvSpPr txBox="1"/>
          <p:nvPr/>
        </p:nvSpPr>
        <p:spPr>
          <a:xfrm>
            <a:off x="8396021" y="4224528"/>
            <a:ext cx="2844698" cy="438912"/>
          </a:xfrm>
          <a:prstGeom prst="rect">
            <a:avLst/>
          </a:prstGeom>
          <a:noFill/>
          <a:ln/>
        </p:spPr>
        <p:txBody>
          <a:bodyPr wrap="square" lIns="0" tIns="0" rIns="0" bIns="0" rtlCol="0" anchor="ctr"/>
          <a:lstStyle/>
          <a:p>
            <a:pPr indent="0" marL="0">
              <a:lnSpc>
                <a:spcPts val="1600"/>
              </a:lnSpc>
              <a:buNone/>
            </a:pPr>
            <a:r>
              <a:rPr lang="en-US" sz="1150" i="1" dirty="0">
                <a:solidFill>
                  <a:srgbClr val="5FB3AB"/>
                </a:solidFill>
                <a:latin typeface="Calibri" pitchFamily="34" charset="0"/>
                <a:ea typeface="Calibri" pitchFamily="34" charset="-122"/>
                <a:cs typeface="Calibri" pitchFamily="34" charset="-120"/>
              </a:rPr>
              <a:t>Above this, nothing else on this slide matters.</a:t>
            </a:r>
            <a:endParaRPr lang="en-US" sz="1150" dirty="0"/>
          </a:p>
        </p:txBody>
      </p:sp>
      <p:sp>
        <p:nvSpPr>
          <p:cNvPr id="27" name="Shape 25"/>
          <p:cNvSpPr/>
          <p:nvPr/>
        </p:nvSpPr>
        <p:spPr>
          <a:xfrm>
            <a:off x="640080" y="5047488"/>
            <a:ext cx="10911535" cy="969264"/>
          </a:xfrm>
          <a:prstGeom prst="roundRect">
            <a:avLst>
              <a:gd name="adj" fmla="val 6604"/>
            </a:avLst>
          </a:prstGeom>
          <a:solidFill>
            <a:srgbClr val="EFF4F3"/>
          </a:solidFill>
          <a:ln/>
        </p:spPr>
      </p:sp>
      <p:sp>
        <p:nvSpPr>
          <p:cNvPr id="28" name="Text 26"/>
          <p:cNvSpPr txBox="1"/>
          <p:nvPr/>
        </p:nvSpPr>
        <p:spPr>
          <a:xfrm>
            <a:off x="960120" y="5047488"/>
            <a:ext cx="10271455" cy="969264"/>
          </a:xfrm>
          <a:prstGeom prst="rect">
            <a:avLst/>
          </a:prstGeom>
          <a:noFill/>
          <a:ln/>
        </p:spPr>
        <p:txBody>
          <a:bodyPr wrap="square" lIns="0" tIns="0" rIns="0" bIns="0" rtlCol="0" anchor="ctr"/>
          <a:lstStyle/>
          <a:p>
            <a:pPr indent="0" marL="0">
              <a:lnSpc>
                <a:spcPts val="1900"/>
              </a:lnSpc>
              <a:buNone/>
            </a:pPr>
            <a:r>
              <a:rPr lang="en-US" sz="1250" dirty="0">
                <a:solidFill>
                  <a:srgbClr val="0B2B2E"/>
                </a:solidFill>
                <a:latin typeface="Calibri" pitchFamily="34" charset="0"/>
                <a:ea typeface="Calibri" pitchFamily="34" charset="-122"/>
                <a:cs typeface="Calibri" pitchFamily="34" charset="-120"/>
              </a:rPr>
              <a:t>Alongside the gates:   edits per generated note must trend downwards  ·  reported time per consultation must not get worse  ·  every deletion request honoured within the same day</a:t>
            </a:r>
            <a:endParaRPr lang="en-US" sz="1250" dirty="0"/>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p/>
        </p:txBody>
      </p:sp>
      <p:sp>
        <p:nvSpPr>
          <p:cNvPr id="3" name="Text 1"/>
          <p:cNvSpPr txBox="1"/>
          <p:nvPr/>
        </p:nvSpPr>
        <p:spPr>
          <a:xfrm>
            <a:off x="640080" y="475488"/>
            <a:ext cx="7315200" cy="256032"/>
          </a:xfrm>
          <a:prstGeom prst="rect">
            <a:avLst/>
          </a:prstGeom>
          <a:noFill/>
          <a:ln/>
        </p:spPr>
        <p:txBody>
          <a:bodyPr wrap="square" lIns="0" tIns="0" rIns="0" bIns="0" rtlCol="0" anchor="ctr"/>
          <a:lstStyle/>
          <a:p>
            <a:pPr indent="0" marL="0">
              <a:buNone/>
            </a:pPr>
            <a:r>
              <a:rPr lang="en-US" sz="1100" b="1" spc="240" kern="0" dirty="0">
                <a:solidFill>
                  <a:srgbClr val="0E6E6B"/>
                </a:solidFill>
                <a:latin typeface="Calibri" pitchFamily="34" charset="0"/>
                <a:ea typeface="Calibri" pitchFamily="34" charset="-122"/>
                <a:cs typeface="Calibri" pitchFamily="34" charset="-120"/>
              </a:rPr>
              <a:t>SCALE</a:t>
            </a:r>
            <a:endParaRPr lang="en-US" sz="1100" dirty="0"/>
          </a:p>
        </p:txBody>
      </p:sp>
      <p:sp>
        <p:nvSpPr>
          <p:cNvPr id="4" name="Text 2"/>
          <p:cNvSpPr txBox="1"/>
          <p:nvPr/>
        </p:nvSpPr>
        <p:spPr>
          <a:xfrm>
            <a:off x="640080" y="822960"/>
            <a:ext cx="9509760" cy="777240"/>
          </a:xfrm>
          <a:prstGeom prst="rect">
            <a:avLst/>
          </a:prstGeom>
          <a:noFill/>
          <a:ln/>
        </p:spPr>
        <p:txBody>
          <a:bodyPr wrap="square" lIns="0" tIns="0" rIns="0" bIns="0" rtlCol="0" anchor="ctr"/>
          <a:lstStyle/>
          <a:p>
            <a:pPr indent="0" marL="0">
              <a:buNone/>
            </a:pPr>
            <a:r>
              <a:rPr lang="en-US" sz="3400" b="1" dirty="0">
                <a:solidFill>
                  <a:srgbClr val="0B2B2E"/>
                </a:solidFill>
                <a:latin typeface="Cambria" pitchFamily="34" charset="0"/>
                <a:ea typeface="Cambria" pitchFamily="34" charset="-122"/>
                <a:cs typeface="Cambria" pitchFamily="34" charset="-120"/>
              </a:rPr>
              <a:t>One room first. Built for the country.</a:t>
            </a:r>
            <a:endParaRPr lang="en-US" sz="3400" dirty="0"/>
          </a:p>
        </p:txBody>
      </p:sp>
      <p:sp>
        <p:nvSpPr>
          <p:cNvPr id="5" name="Text 3"/>
          <p:cNvSpPr txBox="1"/>
          <p:nvPr/>
        </p:nvSpPr>
        <p:spPr>
          <a:xfrm>
            <a:off x="7423099" y="493776"/>
            <a:ext cx="2788920" cy="256032"/>
          </a:xfrm>
          <a:prstGeom prst="rect">
            <a:avLst/>
          </a:prstGeom>
          <a:noFill/>
          <a:ln/>
        </p:spPr>
        <p:txBody>
          <a:bodyPr wrap="square" lIns="0" tIns="0" rIns="0" bIns="0" rtlCol="0" anchor="ctr"/>
          <a:lstStyle/>
          <a:p>
            <a:pPr algn="r" indent="0" marL="0">
              <a:buNone/>
            </a:pPr>
            <a:r>
              <a:rPr lang="en-US" sz="1000" b="1" spc="180" kern="0" dirty="0">
                <a:solidFill>
                  <a:srgbClr val="8B9C9D"/>
                </a:solidFill>
                <a:latin typeface="Calibri" pitchFamily="34" charset="0"/>
                <a:ea typeface="Calibri" pitchFamily="34" charset="-122"/>
                <a:cs typeface="Calibri" pitchFamily="34" charset="-120"/>
              </a:rPr>
              <a:t>SCALE</a:t>
            </a:r>
            <a:endParaRPr lang="en-US" sz="1000" dirty="0"/>
          </a:p>
        </p:txBody>
      </p:sp>
      <p:sp>
        <p:nvSpPr>
          <p:cNvPr id="6" name="Shape 4"/>
          <p:cNvSpPr/>
          <p:nvPr/>
        </p:nvSpPr>
        <p:spPr>
          <a:xfrm>
            <a:off x="10349179" y="548640"/>
            <a:ext cx="141732" cy="141732"/>
          </a:xfrm>
          <a:prstGeom prst="ellipse">
            <a:avLst/>
          </a:prstGeom>
          <a:solidFill>
            <a:srgbClr val="DFEAE8"/>
          </a:solidFill>
          <a:ln/>
        </p:spPr>
        <p:txBody>
          <a:bodyPr/>
          <a:p/>
        </p:txBody>
      </p:sp>
      <p:sp>
        <p:nvSpPr>
          <p:cNvPr id="7" name="Shape 5"/>
          <p:cNvSpPr/>
          <p:nvPr/>
        </p:nvSpPr>
        <p:spPr>
          <a:xfrm>
            <a:off x="10614355" y="548640"/>
            <a:ext cx="141732" cy="141732"/>
          </a:xfrm>
          <a:prstGeom prst="ellipse">
            <a:avLst/>
          </a:prstGeom>
          <a:solidFill>
            <a:srgbClr val="C9821F"/>
          </a:solidFill>
          <a:ln/>
        </p:spPr>
        <p:txBody>
          <a:bodyPr/>
          <a:p/>
        </p:txBody>
      </p:sp>
      <p:sp>
        <p:nvSpPr>
          <p:cNvPr id="8" name="Shape 6"/>
          <p:cNvSpPr/>
          <p:nvPr/>
        </p:nvSpPr>
        <p:spPr>
          <a:xfrm>
            <a:off x="10879531" y="548640"/>
            <a:ext cx="141732" cy="141732"/>
          </a:xfrm>
          <a:prstGeom prst="ellipse">
            <a:avLst/>
          </a:prstGeom>
          <a:solidFill>
            <a:srgbClr val="DFEAE8"/>
          </a:solidFill>
          <a:ln/>
        </p:spPr>
        <p:txBody>
          <a:bodyPr/>
          <a:p/>
        </p:txBody>
      </p:sp>
      <p:sp>
        <p:nvSpPr>
          <p:cNvPr id="9" name="Shape 7"/>
          <p:cNvSpPr/>
          <p:nvPr/>
        </p:nvSpPr>
        <p:spPr>
          <a:xfrm>
            <a:off x="11144707" y="548640"/>
            <a:ext cx="141732" cy="141732"/>
          </a:xfrm>
          <a:prstGeom prst="ellipse">
            <a:avLst/>
          </a:prstGeom>
          <a:solidFill>
            <a:srgbClr val="DFEAE8"/>
          </a:solidFill>
          <a:ln/>
        </p:spPr>
        <p:txBody>
          <a:bodyPr/>
          <a:p/>
        </p:txBody>
      </p:sp>
      <p:sp>
        <p:nvSpPr>
          <p:cNvPr id="10" name="Shape 8"/>
          <p:cNvSpPr/>
          <p:nvPr/>
        </p:nvSpPr>
        <p:spPr>
          <a:xfrm>
            <a:off x="11409883" y="548640"/>
            <a:ext cx="141732" cy="141732"/>
          </a:xfrm>
          <a:prstGeom prst="ellipse">
            <a:avLst/>
          </a:prstGeom>
          <a:solidFill>
            <a:srgbClr val="DFEAE8"/>
          </a:solidFill>
          <a:ln/>
        </p:spPr>
        <p:txBody>
          <a:bodyPr/>
          <a:p/>
        </p:txBody>
      </p:sp>
      <p:sp>
        <p:nvSpPr>
          <p:cNvPr id="11" name="Text 9"/>
          <p:cNvSpPr txBox="1"/>
          <p:nvPr/>
        </p:nvSpPr>
        <p:spPr>
          <a:xfrm>
            <a:off x="640080" y="1664208"/>
            <a:ext cx="9601200" cy="329184"/>
          </a:xfrm>
          <a:prstGeom prst="rect">
            <a:avLst/>
          </a:prstGeom>
          <a:noFill/>
          <a:ln/>
        </p:spPr>
        <p:txBody>
          <a:bodyPr wrap="square" lIns="0" tIns="0" rIns="0" bIns="0" rtlCol="0" anchor="ctr"/>
          <a:lstStyle/>
          <a:p>
            <a:pPr indent="0" marL="0">
              <a:buNone/>
            </a:pPr>
            <a:r>
              <a:rPr lang="en-US" sz="1400" dirty="0">
                <a:solidFill>
                  <a:srgbClr val="56696A"/>
                </a:solidFill>
                <a:latin typeface="Calibri" pitchFamily="34" charset="0"/>
                <a:ea typeface="Calibri" pitchFamily="34" charset="-122"/>
                <a:cs typeface="Calibri" pitchFamily="34" charset="-120"/>
              </a:rPr>
              <a:t>This began in one rural clinic. ClinicOS is built by Varaxis to scale — nationally, then internationally.</a:t>
            </a:r>
            <a:endParaRPr lang="en-US" sz="1400" dirty="0"/>
          </a:p>
        </p:txBody>
      </p:sp>
      <p:sp>
        <p:nvSpPr>
          <p:cNvPr id="12" name="Shape 10"/>
          <p:cNvSpPr/>
          <p:nvPr/>
        </p:nvSpPr>
        <p:spPr>
          <a:xfrm>
            <a:off x="640080" y="2212848"/>
            <a:ext cx="5346040" cy="1664208"/>
          </a:xfrm>
          <a:prstGeom prst="roundRect">
            <a:avLst>
              <a:gd name="adj" fmla="val 3846"/>
            </a:avLst>
          </a:prstGeom>
          <a:solidFill>
            <a:srgbClr val="FFFFFF"/>
          </a:solidFill>
          <a:ln w="12700">
            <a:solidFill>
              <a:srgbClr val="DFEAE8"/>
            </a:solidFill>
            <a:prstDash val="solid"/>
          </a:ln>
          <a:effectLst>
            <a:outerShdw sx="100000" sy="100000" kx="0" ky="0" algn="bl" rotWithShape="0" blurRad="152400" dist="25400" dir="5400000">
              <a:srgbClr val="0B2B2E">
                <a:alpha val="9000"/>
              </a:srgbClr>
            </a:outerShdw>
          </a:effectLst>
        </p:spPr>
        <p:txBody>
          <a:bodyPr/>
          <a:p/>
        </p:txBody>
      </p:sp>
      <p:sp>
        <p:nvSpPr>
          <p:cNvPr id="13" name="Shape 11"/>
          <p:cNvSpPr/>
          <p:nvPr/>
        </p:nvSpPr>
        <p:spPr>
          <a:xfrm>
            <a:off x="932688" y="2487168"/>
            <a:ext cx="475488" cy="475488"/>
          </a:xfrm>
          <a:prstGeom prst="roundRect">
            <a:avLst>
              <a:gd name="adj" fmla="val 23077"/>
            </a:avLst>
          </a:prstGeom>
          <a:solidFill>
            <a:srgbClr val="0E6E6B"/>
          </a:solidFill>
          <a:ln/>
        </p:spPr>
        <p:txBody>
          <a:bodyPr/>
          <a:p/>
        </p:txBody>
      </p:sp>
      <p:sp>
        <p:nvSpPr>
          <p:cNvPr id="14" name="Text 12"/>
          <p:cNvSpPr txBox="1"/>
          <p:nvPr/>
        </p:nvSpPr>
        <p:spPr>
          <a:xfrm>
            <a:off x="932688" y="2487168"/>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15" name="Text 13"/>
          <p:cNvSpPr txBox="1"/>
          <p:nvPr/>
        </p:nvSpPr>
        <p:spPr>
          <a:xfrm>
            <a:off x="1572768" y="2505456"/>
            <a:ext cx="4111600" cy="310896"/>
          </a:xfrm>
          <a:prstGeom prst="rect">
            <a:avLst/>
          </a:prstGeom>
          <a:noFill/>
          <a:ln/>
        </p:spPr>
        <p:txBody>
          <a:bodyPr wrap="square" lIns="0" tIns="0" rIns="0" bIns="0" rtlCol="0" anchor="ctr"/>
          <a:lstStyle/>
          <a:p>
            <a:pPr indent="0" marL="0">
              <a:buNone/>
            </a:pPr>
            <a:r>
              <a:rPr lang="en-US" sz="1600" b="1" dirty="0">
                <a:solidFill>
                  <a:srgbClr val="0B2B2E"/>
                </a:solidFill>
                <a:latin typeface="Calibri" pitchFamily="34" charset="0"/>
                <a:ea typeface="Calibri" pitchFamily="34" charset="-122"/>
                <a:cs typeface="Calibri" pitchFamily="34" charset="-120"/>
              </a:rPr>
              <a:t>Accounts and roles</a:t>
            </a:r>
            <a:endParaRPr lang="en-US" sz="1600" dirty="0"/>
          </a:p>
        </p:txBody>
      </p:sp>
      <p:sp>
        <p:nvSpPr>
          <p:cNvPr id="16" name="Text 14"/>
          <p:cNvSpPr txBox="1"/>
          <p:nvPr/>
        </p:nvSpPr>
        <p:spPr>
          <a:xfrm>
            <a:off x="1572768" y="2889504"/>
            <a:ext cx="4111600" cy="777240"/>
          </a:xfrm>
          <a:prstGeom prst="rect">
            <a:avLst/>
          </a:prstGeom>
          <a:noFill/>
          <a:ln/>
        </p:spPr>
        <p:txBody>
          <a:bodyPr wrap="square" lIns="0" tIns="0" rIns="0" bIns="0" rtlCol="0" anchor="ctr"/>
          <a:lstStyle/>
          <a:p>
            <a:pPr indent="0" marL="0">
              <a:lnSpc>
                <a:spcPts val="1800"/>
              </a:lnSpc>
              <a:buNone/>
            </a:pPr>
            <a:r>
              <a:rPr lang="en-US" sz="1250" dirty="0">
                <a:solidFill>
                  <a:srgbClr val="56696A"/>
                </a:solidFill>
                <a:latin typeface="Calibri" pitchFamily="34" charset="0"/>
                <a:ea typeface="Calibri" pitchFamily="34" charset="-122"/>
                <a:cs typeface="Calibri" pitchFamily="34" charset="-120"/>
              </a:rPr>
              <a:t>Doctor, front desk and clinic admin — checked on every request, not just hidden behind a menu.</a:t>
            </a:r>
            <a:endParaRPr lang="en-US" sz="1250" dirty="0"/>
          </a:p>
        </p:txBody>
      </p:sp>
      <p:sp>
        <p:nvSpPr>
          <p:cNvPr id="17" name="Shape 15"/>
          <p:cNvSpPr/>
          <p:nvPr/>
        </p:nvSpPr>
        <p:spPr>
          <a:xfrm>
            <a:off x="6205576" y="2212848"/>
            <a:ext cx="5346040" cy="1664208"/>
          </a:xfrm>
          <a:prstGeom prst="roundRect">
            <a:avLst>
              <a:gd name="adj" fmla="val 3846"/>
            </a:avLst>
          </a:prstGeom>
          <a:solidFill>
            <a:srgbClr val="FFFFFF"/>
          </a:solidFill>
          <a:ln w="12700">
            <a:solidFill>
              <a:srgbClr val="DFEAE8"/>
            </a:solidFill>
            <a:prstDash val="solid"/>
          </a:ln>
          <a:effectLst>
            <a:outerShdw sx="100000" sy="100000" kx="0" ky="0" algn="bl" rotWithShape="0" blurRad="152400" dist="25400" dir="5400000">
              <a:srgbClr val="0B2B2E">
                <a:alpha val="9000"/>
              </a:srgbClr>
            </a:outerShdw>
          </a:effectLst>
        </p:spPr>
        <p:txBody>
          <a:bodyPr/>
          <a:p/>
        </p:txBody>
      </p:sp>
      <p:sp>
        <p:nvSpPr>
          <p:cNvPr id="18" name="Shape 16"/>
          <p:cNvSpPr/>
          <p:nvPr/>
        </p:nvSpPr>
        <p:spPr>
          <a:xfrm>
            <a:off x="6498184" y="2487168"/>
            <a:ext cx="475488" cy="475488"/>
          </a:xfrm>
          <a:prstGeom prst="roundRect">
            <a:avLst>
              <a:gd name="adj" fmla="val 23077"/>
            </a:avLst>
          </a:prstGeom>
          <a:solidFill>
            <a:srgbClr val="C9821F"/>
          </a:solidFill>
          <a:ln/>
        </p:spPr>
        <p:txBody>
          <a:bodyPr/>
          <a:p/>
        </p:txBody>
      </p:sp>
      <p:sp>
        <p:nvSpPr>
          <p:cNvPr id="19" name="Text 17"/>
          <p:cNvSpPr txBox="1"/>
          <p:nvPr/>
        </p:nvSpPr>
        <p:spPr>
          <a:xfrm>
            <a:off x="6498184" y="2487168"/>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20" name="Text 18"/>
          <p:cNvSpPr txBox="1"/>
          <p:nvPr/>
        </p:nvSpPr>
        <p:spPr>
          <a:xfrm>
            <a:off x="7138264" y="2505456"/>
            <a:ext cx="4111600" cy="310896"/>
          </a:xfrm>
          <a:prstGeom prst="rect">
            <a:avLst/>
          </a:prstGeom>
          <a:noFill/>
          <a:ln/>
        </p:spPr>
        <p:txBody>
          <a:bodyPr wrap="square" lIns="0" tIns="0" rIns="0" bIns="0" rtlCol="0" anchor="ctr"/>
          <a:lstStyle/>
          <a:p>
            <a:pPr indent="0" marL="0">
              <a:buNone/>
            </a:pPr>
            <a:r>
              <a:rPr lang="en-US" sz="1600" b="1" dirty="0">
                <a:solidFill>
                  <a:srgbClr val="0B2B2E"/>
                </a:solidFill>
                <a:latin typeface="Calibri" pitchFamily="34" charset="0"/>
                <a:ea typeface="Calibri" pitchFamily="34" charset="-122"/>
                <a:cs typeface="Calibri" pitchFamily="34" charset="-120"/>
              </a:rPr>
              <a:t>A front desk that runs the day</a:t>
            </a:r>
            <a:endParaRPr lang="en-US" sz="1600" dirty="0"/>
          </a:p>
        </p:txBody>
      </p:sp>
      <p:sp>
        <p:nvSpPr>
          <p:cNvPr id="21" name="Text 19"/>
          <p:cNvSpPr txBox="1"/>
          <p:nvPr/>
        </p:nvSpPr>
        <p:spPr>
          <a:xfrm>
            <a:off x="7138264" y="2889504"/>
            <a:ext cx="4111600" cy="777240"/>
          </a:xfrm>
          <a:prstGeom prst="rect">
            <a:avLst/>
          </a:prstGeom>
          <a:noFill/>
          <a:ln/>
        </p:spPr>
        <p:txBody>
          <a:bodyPr wrap="square" lIns="0" tIns="0" rIns="0" bIns="0" rtlCol="0" anchor="ctr"/>
          <a:lstStyle/>
          <a:p>
            <a:pPr indent="0" marL="0">
              <a:lnSpc>
                <a:spcPts val="1800"/>
              </a:lnSpc>
              <a:buNone/>
            </a:pPr>
            <a:r>
              <a:rPr lang="en-US" sz="1250" dirty="0">
                <a:solidFill>
                  <a:srgbClr val="56696A"/>
                </a:solidFill>
                <a:latin typeface="Calibri" pitchFamily="34" charset="0"/>
                <a:ea typeface="Calibri" pitchFamily="34" charset="-122"/>
                <a:cs typeface="Calibri" pitchFamily="34" charset="-120"/>
              </a:rPr>
              <a:t>A queue, a day's list and a doctor's worklist, so the clinic works as more than one person.</a:t>
            </a:r>
            <a:endParaRPr lang="en-US" sz="1250" dirty="0"/>
          </a:p>
        </p:txBody>
      </p:sp>
      <p:sp>
        <p:nvSpPr>
          <p:cNvPr id="22" name="Shape 20"/>
          <p:cNvSpPr/>
          <p:nvPr/>
        </p:nvSpPr>
        <p:spPr>
          <a:xfrm>
            <a:off x="640080" y="4087368"/>
            <a:ext cx="5346040" cy="1664208"/>
          </a:xfrm>
          <a:prstGeom prst="roundRect">
            <a:avLst>
              <a:gd name="adj" fmla="val 3846"/>
            </a:avLst>
          </a:prstGeom>
          <a:solidFill>
            <a:srgbClr val="FFFFFF"/>
          </a:solidFill>
          <a:ln w="12700">
            <a:solidFill>
              <a:srgbClr val="DFEAE8"/>
            </a:solidFill>
            <a:prstDash val="solid"/>
          </a:ln>
          <a:effectLst>
            <a:outerShdw sx="100000" sy="100000" kx="0" ky="0" algn="bl" rotWithShape="0" blurRad="152400" dist="25400" dir="5400000">
              <a:srgbClr val="0B2B2E">
                <a:alpha val="9000"/>
              </a:srgbClr>
            </a:outerShdw>
          </a:effectLst>
        </p:spPr>
        <p:txBody>
          <a:bodyPr/>
          <a:p/>
        </p:txBody>
      </p:sp>
      <p:sp>
        <p:nvSpPr>
          <p:cNvPr id="23" name="Shape 21"/>
          <p:cNvSpPr/>
          <p:nvPr/>
        </p:nvSpPr>
        <p:spPr>
          <a:xfrm>
            <a:off x="932688" y="4361688"/>
            <a:ext cx="475488" cy="475488"/>
          </a:xfrm>
          <a:prstGeom prst="roundRect">
            <a:avLst>
              <a:gd name="adj" fmla="val 23077"/>
            </a:avLst>
          </a:prstGeom>
          <a:solidFill>
            <a:srgbClr val="0E6E6B"/>
          </a:solidFill>
          <a:ln/>
        </p:spPr>
        <p:txBody>
          <a:bodyPr/>
          <a:p/>
        </p:txBody>
      </p:sp>
      <p:sp>
        <p:nvSpPr>
          <p:cNvPr id="24" name="Text 22"/>
          <p:cNvSpPr txBox="1"/>
          <p:nvPr/>
        </p:nvSpPr>
        <p:spPr>
          <a:xfrm>
            <a:off x="932688" y="4361688"/>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25" name="Text 23"/>
          <p:cNvSpPr txBox="1"/>
          <p:nvPr/>
        </p:nvSpPr>
        <p:spPr>
          <a:xfrm>
            <a:off x="1572768" y="4379976"/>
            <a:ext cx="4111600" cy="310896"/>
          </a:xfrm>
          <a:prstGeom prst="rect">
            <a:avLst/>
          </a:prstGeom>
          <a:noFill/>
          <a:ln/>
        </p:spPr>
        <p:txBody>
          <a:bodyPr wrap="square" lIns="0" tIns="0" rIns="0" bIns="0" rtlCol="0" anchor="ctr"/>
          <a:lstStyle/>
          <a:p>
            <a:pPr indent="0" marL="0">
              <a:buNone/>
            </a:pPr>
            <a:r>
              <a:rPr lang="en-US" sz="1600" b="1" dirty="0">
                <a:solidFill>
                  <a:srgbClr val="0B2B2E"/>
                </a:solidFill>
                <a:latin typeface="Calibri" pitchFamily="34" charset="0"/>
                <a:ea typeface="Calibri" pitchFamily="34" charset="-122"/>
                <a:cs typeface="Calibri" pitchFamily="34" charset="-120"/>
              </a:rPr>
              <a:t>An activity log</a:t>
            </a:r>
            <a:endParaRPr lang="en-US" sz="1600" dirty="0"/>
          </a:p>
        </p:txBody>
      </p:sp>
      <p:sp>
        <p:nvSpPr>
          <p:cNvPr id="26" name="Text 24"/>
          <p:cNvSpPr txBox="1"/>
          <p:nvPr/>
        </p:nvSpPr>
        <p:spPr>
          <a:xfrm>
            <a:off x="1572768" y="4764024"/>
            <a:ext cx="4111600" cy="777240"/>
          </a:xfrm>
          <a:prstGeom prst="rect">
            <a:avLst/>
          </a:prstGeom>
          <a:noFill/>
          <a:ln/>
        </p:spPr>
        <p:txBody>
          <a:bodyPr wrap="square" lIns="0" tIns="0" rIns="0" bIns="0" rtlCol="0" anchor="ctr"/>
          <a:lstStyle/>
          <a:p>
            <a:pPr indent="0" marL="0">
              <a:lnSpc>
                <a:spcPts val="1800"/>
              </a:lnSpc>
              <a:buNone/>
            </a:pPr>
            <a:r>
              <a:rPr lang="en-US" sz="1250" dirty="0">
                <a:solidFill>
                  <a:srgbClr val="56696A"/>
                </a:solidFill>
                <a:latin typeface="Calibri" pitchFamily="34" charset="0"/>
                <a:ea typeface="Calibri" pitchFamily="34" charset="-122"/>
                <a:cs typeface="Calibri" pitchFamily="34" charset="-120"/>
              </a:rPr>
              <a:t>Every account action is recorded, so who did what is always answerable.</a:t>
            </a:r>
            <a:endParaRPr lang="en-US" sz="1250" dirty="0"/>
          </a:p>
        </p:txBody>
      </p:sp>
      <p:sp>
        <p:nvSpPr>
          <p:cNvPr id="27" name="Shape 25"/>
          <p:cNvSpPr/>
          <p:nvPr/>
        </p:nvSpPr>
        <p:spPr>
          <a:xfrm>
            <a:off x="6205576" y="4087368"/>
            <a:ext cx="5346040" cy="1664208"/>
          </a:xfrm>
          <a:prstGeom prst="roundRect">
            <a:avLst>
              <a:gd name="adj" fmla="val 3846"/>
            </a:avLst>
          </a:prstGeom>
          <a:solidFill>
            <a:srgbClr val="FFFFFF"/>
          </a:solidFill>
          <a:ln w="12700">
            <a:solidFill>
              <a:srgbClr val="DFEAE8"/>
            </a:solidFill>
            <a:prstDash val="solid"/>
          </a:ln>
          <a:effectLst>
            <a:outerShdw sx="100000" sy="100000" kx="0" ky="0" algn="bl" rotWithShape="0" blurRad="152400" dist="25400" dir="5400000">
              <a:srgbClr val="0B2B2E">
                <a:alpha val="9000"/>
              </a:srgbClr>
            </a:outerShdw>
          </a:effectLst>
        </p:spPr>
        <p:txBody>
          <a:bodyPr/>
          <a:p/>
        </p:txBody>
      </p:sp>
      <p:sp>
        <p:nvSpPr>
          <p:cNvPr id="28" name="Shape 26"/>
          <p:cNvSpPr/>
          <p:nvPr/>
        </p:nvSpPr>
        <p:spPr>
          <a:xfrm>
            <a:off x="6498184" y="4361688"/>
            <a:ext cx="475488" cy="475488"/>
          </a:xfrm>
          <a:prstGeom prst="roundRect">
            <a:avLst>
              <a:gd name="adj" fmla="val 23077"/>
            </a:avLst>
          </a:prstGeom>
          <a:solidFill>
            <a:srgbClr val="0E6E6B"/>
          </a:solidFill>
          <a:ln/>
        </p:spPr>
        <p:txBody>
          <a:bodyPr/>
          <a:p/>
        </p:txBody>
      </p:sp>
      <p:sp>
        <p:nvSpPr>
          <p:cNvPr id="29" name="Text 27"/>
          <p:cNvSpPr txBox="1"/>
          <p:nvPr/>
        </p:nvSpPr>
        <p:spPr>
          <a:xfrm>
            <a:off x="6498184" y="4361688"/>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30" name="Text 28"/>
          <p:cNvSpPr txBox="1"/>
          <p:nvPr/>
        </p:nvSpPr>
        <p:spPr>
          <a:xfrm>
            <a:off x="7138264" y="4379976"/>
            <a:ext cx="4111600" cy="310896"/>
          </a:xfrm>
          <a:prstGeom prst="rect">
            <a:avLst/>
          </a:prstGeom>
          <a:noFill/>
          <a:ln/>
        </p:spPr>
        <p:txBody>
          <a:bodyPr wrap="square" lIns="0" tIns="0" rIns="0" bIns="0" rtlCol="0" anchor="ctr"/>
          <a:lstStyle/>
          <a:p>
            <a:pPr indent="0" marL="0">
              <a:buNone/>
            </a:pPr>
            <a:r>
              <a:rPr lang="en-US" sz="1600" b="1" dirty="0">
                <a:solidFill>
                  <a:srgbClr val="0B2B2E"/>
                </a:solidFill>
                <a:latin typeface="Calibri" pitchFamily="34" charset="0"/>
                <a:ea typeface="Calibri" pitchFamily="34" charset="-122"/>
                <a:cs typeface="Calibri" pitchFamily="34" charset="-120"/>
              </a:rPr>
              <a:t>A public site, live</a:t>
            </a:r>
            <a:endParaRPr lang="en-US" sz="1600" dirty="0"/>
          </a:p>
        </p:txBody>
      </p:sp>
      <p:sp>
        <p:nvSpPr>
          <p:cNvPr id="31" name="Text 29"/>
          <p:cNvSpPr txBox="1"/>
          <p:nvPr/>
        </p:nvSpPr>
        <p:spPr>
          <a:xfrm>
            <a:off x="7138264" y="4764024"/>
            <a:ext cx="4111600" cy="777240"/>
          </a:xfrm>
          <a:prstGeom prst="rect">
            <a:avLst/>
          </a:prstGeom>
          <a:noFill/>
          <a:ln/>
        </p:spPr>
        <p:txBody>
          <a:bodyPr wrap="square" lIns="0" tIns="0" rIns="0" bIns="0" rtlCol="0" anchor="ctr"/>
          <a:lstStyle/>
          <a:p>
            <a:pPr indent="0" marL="0">
              <a:lnSpc>
                <a:spcPts val="1800"/>
              </a:lnSpc>
              <a:buNone/>
            </a:pPr>
            <a:r>
              <a:rPr lang="en-US" sz="1250" dirty="0">
                <a:solidFill>
                  <a:srgbClr val="56696A"/>
                </a:solidFill>
                <a:latin typeface="Calibri" pitchFamily="34" charset="0"/>
                <a:ea typeface="Calibri" pitchFamily="34" charset="-122"/>
                <a:cs typeface="Calibri" pitchFamily="34" charset="-120"/>
              </a:rPr>
              <a:t>Describing the product to clinics of every size, and taking enquiries beyond the pilot.</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2B2E"/>
          </a:solidFill>
          <a:ln w="12700">
            <a:solidFill>
              <a:srgbClr val="0B2B2E"/>
            </a:solidFill>
            <a:prstDash val="solid"/>
          </a:ln>
        </p:spPr>
        <p:txBody>
          <a:bodyPr/>
          <a:p/>
        </p:txBody>
      </p:sp>
      <p:sp>
        <p:nvSpPr>
          <p:cNvPr id="3" name="Text 1"/>
          <p:cNvSpPr txBox="1"/>
          <p:nvPr/>
        </p:nvSpPr>
        <p:spPr>
          <a:xfrm>
            <a:off x="7423099" y="493776"/>
            <a:ext cx="2788920" cy="256032"/>
          </a:xfrm>
          <a:prstGeom prst="rect">
            <a:avLst/>
          </a:prstGeom>
          <a:noFill/>
          <a:ln/>
        </p:spPr>
        <p:txBody>
          <a:bodyPr wrap="square" lIns="0" tIns="0" rIns="0" bIns="0" rtlCol="0" anchor="ctr"/>
          <a:lstStyle/>
          <a:p>
            <a:pPr algn="r" indent="0" marL="0">
              <a:buNone/>
            </a:pPr>
            <a:r>
              <a:rPr lang="en-US" sz="1000" b="1" spc="180" kern="0" dirty="0">
                <a:solidFill>
                  <a:srgbClr val="5FB3AB"/>
                </a:solidFill>
                <a:latin typeface="Calibri" pitchFamily="34" charset="0"/>
                <a:ea typeface="Calibri" pitchFamily="34" charset="-122"/>
                <a:cs typeface="Calibri" pitchFamily="34" charset="-120"/>
              </a:rPr>
              <a:t>ALL FIVE STAGES</a:t>
            </a:r>
            <a:endParaRPr lang="en-US" sz="1000" dirty="0"/>
          </a:p>
        </p:txBody>
      </p:sp>
      <p:sp>
        <p:nvSpPr>
          <p:cNvPr id="4" name="Shape 2"/>
          <p:cNvSpPr/>
          <p:nvPr/>
        </p:nvSpPr>
        <p:spPr>
          <a:xfrm>
            <a:off x="10349179" y="548640"/>
            <a:ext cx="141732" cy="141732"/>
          </a:xfrm>
          <a:prstGeom prst="ellipse">
            <a:avLst/>
          </a:prstGeom>
          <a:solidFill>
            <a:srgbClr val="C9821F"/>
          </a:solidFill>
          <a:ln/>
        </p:spPr>
        <p:txBody>
          <a:bodyPr/>
          <a:p/>
        </p:txBody>
      </p:sp>
      <p:sp>
        <p:nvSpPr>
          <p:cNvPr id="5" name="Shape 3"/>
          <p:cNvSpPr/>
          <p:nvPr/>
        </p:nvSpPr>
        <p:spPr>
          <a:xfrm>
            <a:off x="10614355" y="548640"/>
            <a:ext cx="141732" cy="141732"/>
          </a:xfrm>
          <a:prstGeom prst="ellipse">
            <a:avLst/>
          </a:prstGeom>
          <a:solidFill>
            <a:srgbClr val="C9821F"/>
          </a:solidFill>
          <a:ln/>
        </p:spPr>
        <p:txBody>
          <a:bodyPr/>
          <a:p/>
        </p:txBody>
      </p:sp>
      <p:sp>
        <p:nvSpPr>
          <p:cNvPr id="6" name="Shape 4"/>
          <p:cNvSpPr/>
          <p:nvPr/>
        </p:nvSpPr>
        <p:spPr>
          <a:xfrm>
            <a:off x="10879531" y="548640"/>
            <a:ext cx="141732" cy="141732"/>
          </a:xfrm>
          <a:prstGeom prst="ellipse">
            <a:avLst/>
          </a:prstGeom>
          <a:solidFill>
            <a:srgbClr val="C9821F"/>
          </a:solidFill>
          <a:ln/>
        </p:spPr>
        <p:txBody>
          <a:bodyPr/>
          <a:p/>
        </p:txBody>
      </p:sp>
      <p:sp>
        <p:nvSpPr>
          <p:cNvPr id="7" name="Shape 5"/>
          <p:cNvSpPr/>
          <p:nvPr/>
        </p:nvSpPr>
        <p:spPr>
          <a:xfrm>
            <a:off x="11144707" y="548640"/>
            <a:ext cx="141732" cy="141732"/>
          </a:xfrm>
          <a:prstGeom prst="ellipse">
            <a:avLst/>
          </a:prstGeom>
          <a:solidFill>
            <a:srgbClr val="C9821F"/>
          </a:solidFill>
          <a:ln/>
        </p:spPr>
        <p:txBody>
          <a:bodyPr/>
          <a:p/>
        </p:txBody>
      </p:sp>
      <p:sp>
        <p:nvSpPr>
          <p:cNvPr id="8" name="Shape 6"/>
          <p:cNvSpPr/>
          <p:nvPr/>
        </p:nvSpPr>
        <p:spPr>
          <a:xfrm>
            <a:off x="11409883" y="548640"/>
            <a:ext cx="141732" cy="141732"/>
          </a:xfrm>
          <a:prstGeom prst="ellipse">
            <a:avLst/>
          </a:prstGeom>
          <a:solidFill>
            <a:srgbClr val="C9821F"/>
          </a:solidFill>
          <a:ln/>
        </p:spPr>
        <p:txBody>
          <a:bodyPr/>
          <a:p/>
        </p:txBody>
      </p:sp>
      <p:sp>
        <p:nvSpPr>
          <p:cNvPr id="9" name="Text 7"/>
          <p:cNvSpPr txBox="1"/>
          <p:nvPr/>
        </p:nvSpPr>
        <p:spPr>
          <a:xfrm>
            <a:off x="640080" y="868680"/>
            <a:ext cx="5486400" cy="274320"/>
          </a:xfrm>
          <a:prstGeom prst="rect">
            <a:avLst/>
          </a:prstGeom>
          <a:noFill/>
          <a:ln/>
        </p:spPr>
        <p:txBody>
          <a:bodyPr wrap="square" lIns="0" tIns="0" rIns="0" bIns="0" rtlCol="0" anchor="ctr"/>
          <a:lstStyle/>
          <a:p>
            <a:pPr indent="0" marL="0">
              <a:buNone/>
            </a:pPr>
            <a:r>
              <a:rPr lang="en-US" sz="1100" b="1" spc="240" kern="0" dirty="0">
                <a:solidFill>
                  <a:srgbClr val="C9821F"/>
                </a:solidFill>
                <a:latin typeface="Calibri" pitchFamily="34" charset="0"/>
                <a:ea typeface="Calibri" pitchFamily="34" charset="-122"/>
                <a:cs typeface="Calibri" pitchFamily="34" charset="-120"/>
              </a:rPr>
              <a:t>REFLECTION</a:t>
            </a:r>
            <a:endParaRPr lang="en-US" sz="1100" dirty="0"/>
          </a:p>
        </p:txBody>
      </p:sp>
      <p:sp>
        <p:nvSpPr>
          <p:cNvPr id="10" name="Text 8"/>
          <p:cNvSpPr txBox="1"/>
          <p:nvPr/>
        </p:nvSpPr>
        <p:spPr>
          <a:xfrm>
            <a:off x="640080" y="1207008"/>
            <a:ext cx="8229600"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What the process changed</a:t>
            </a:r>
            <a:endParaRPr lang="en-US" sz="3400" dirty="0"/>
          </a:p>
        </p:txBody>
      </p:sp>
      <p:sp>
        <p:nvSpPr>
          <p:cNvPr id="11" name="Text 9"/>
          <p:cNvSpPr txBox="1"/>
          <p:nvPr/>
        </p:nvSpPr>
        <p:spPr>
          <a:xfrm>
            <a:off x="640080" y="2212848"/>
            <a:ext cx="640080" cy="365760"/>
          </a:xfrm>
          <a:prstGeom prst="rect">
            <a:avLst/>
          </a:prstGeom>
          <a:noFill/>
          <a:ln/>
        </p:spPr>
        <p:txBody>
          <a:bodyPr wrap="square" lIns="0" tIns="0" rIns="0" bIns="0" rtlCol="0" anchor="ctr"/>
          <a:lstStyle/>
          <a:p>
            <a:pPr indent="0" marL="0">
              <a:buNone/>
            </a:pPr>
            <a:r>
              <a:rPr lang="en-US" sz="2000" b="1" dirty="0">
                <a:solidFill>
                  <a:srgbClr val="5FB3AB"/>
                </a:solidFill>
                <a:latin typeface="Cambria" pitchFamily="34" charset="0"/>
                <a:ea typeface="Cambria" pitchFamily="34" charset="-122"/>
                <a:cs typeface="Cambria" pitchFamily="34" charset="-120"/>
              </a:rPr>
              <a:t>01</a:t>
            </a:r>
            <a:endParaRPr lang="en-US" sz="2000" dirty="0"/>
          </a:p>
        </p:txBody>
      </p:sp>
      <p:sp>
        <p:nvSpPr>
          <p:cNvPr id="12" name="Text 10"/>
          <p:cNvSpPr txBox="1"/>
          <p:nvPr/>
        </p:nvSpPr>
        <p:spPr>
          <a:xfrm>
            <a:off x="1353312" y="2212848"/>
            <a:ext cx="10149840" cy="310896"/>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The first solution we imagined was the one the evidence rejected.</a:t>
            </a:r>
            <a:endParaRPr lang="en-US" sz="1550" dirty="0"/>
          </a:p>
        </p:txBody>
      </p:sp>
      <p:sp>
        <p:nvSpPr>
          <p:cNvPr id="13" name="Text 11"/>
          <p:cNvSpPr txBox="1"/>
          <p:nvPr/>
        </p:nvSpPr>
        <p:spPr>
          <a:xfrm>
            <a:off x="1353312" y="2578608"/>
            <a:ext cx="10149840" cy="566928"/>
          </a:xfrm>
          <a:prstGeom prst="rect">
            <a:avLst/>
          </a:prstGeom>
          <a:noFill/>
          <a:ln/>
        </p:spPr>
        <p:txBody>
          <a:bodyPr wrap="square" lIns="0" tIns="0" rIns="0" bIns="0" rtlCol="0" anchor="ctr"/>
          <a:lstStyle/>
          <a:p>
            <a:pPr indent="0" marL="0">
              <a:lnSpc>
                <a:spcPts val="1900"/>
              </a:lnSpc>
              <a:buNone/>
            </a:pPr>
            <a:r>
              <a:rPr lang="en-US" sz="1300" dirty="0">
                <a:solidFill>
                  <a:srgbClr val="9DB4B4"/>
                </a:solidFill>
                <a:latin typeface="Calibri" pitchFamily="34" charset="0"/>
                <a:ea typeface="Calibri" pitchFamily="34" charset="-122"/>
                <a:cs typeface="Calibri" pitchFamily="34" charset="-120"/>
              </a:rPr>
              <a:t>We began by assuming a clinic needed an electronic record. The measured effect of exactly that intervention is more documentation time, not less.</a:t>
            </a:r>
            <a:endParaRPr lang="en-US" sz="1300" dirty="0"/>
          </a:p>
        </p:txBody>
      </p:sp>
      <p:sp>
        <p:nvSpPr>
          <p:cNvPr id="14" name="Text 12"/>
          <p:cNvSpPr txBox="1"/>
          <p:nvPr/>
        </p:nvSpPr>
        <p:spPr>
          <a:xfrm>
            <a:off x="640080" y="3383280"/>
            <a:ext cx="640080" cy="365760"/>
          </a:xfrm>
          <a:prstGeom prst="rect">
            <a:avLst/>
          </a:prstGeom>
          <a:noFill/>
          <a:ln/>
        </p:spPr>
        <p:txBody>
          <a:bodyPr wrap="square" lIns="0" tIns="0" rIns="0" bIns="0" rtlCol="0" anchor="ctr"/>
          <a:lstStyle/>
          <a:p>
            <a:pPr indent="0" marL="0">
              <a:buNone/>
            </a:pPr>
            <a:r>
              <a:rPr lang="en-US" sz="2000" b="1" dirty="0">
                <a:solidFill>
                  <a:srgbClr val="5FB3AB"/>
                </a:solidFill>
                <a:latin typeface="Cambria" pitchFamily="34" charset="0"/>
                <a:ea typeface="Cambria" pitchFamily="34" charset="-122"/>
                <a:cs typeface="Cambria" pitchFamily="34" charset="-120"/>
              </a:rPr>
              <a:t>02</a:t>
            </a:r>
            <a:endParaRPr lang="en-US" sz="2000" dirty="0"/>
          </a:p>
        </p:txBody>
      </p:sp>
      <p:sp>
        <p:nvSpPr>
          <p:cNvPr id="15" name="Text 13"/>
          <p:cNvSpPr txBox="1"/>
          <p:nvPr/>
        </p:nvSpPr>
        <p:spPr>
          <a:xfrm>
            <a:off x="1353312" y="3383280"/>
            <a:ext cx="10149840" cy="310896"/>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The hardest constraint turned out to be legal, not technical.</a:t>
            </a:r>
            <a:endParaRPr lang="en-US" sz="1550" dirty="0"/>
          </a:p>
        </p:txBody>
      </p:sp>
      <p:sp>
        <p:nvSpPr>
          <p:cNvPr id="16" name="Text 14"/>
          <p:cNvSpPr txBox="1"/>
          <p:nvPr/>
        </p:nvSpPr>
        <p:spPr>
          <a:xfrm>
            <a:off x="1353312" y="3749040"/>
            <a:ext cx="10149840" cy="566928"/>
          </a:xfrm>
          <a:prstGeom prst="rect">
            <a:avLst/>
          </a:prstGeom>
          <a:noFill/>
          <a:ln/>
        </p:spPr>
        <p:txBody>
          <a:bodyPr wrap="square" lIns="0" tIns="0" rIns="0" bIns="0" rtlCol="0" anchor="ctr"/>
          <a:lstStyle/>
          <a:p>
            <a:pPr indent="0" marL="0">
              <a:lnSpc>
                <a:spcPts val="1900"/>
              </a:lnSpc>
              <a:buNone/>
            </a:pPr>
            <a:r>
              <a:rPr lang="en-US" sz="1300" dirty="0">
                <a:solidFill>
                  <a:srgbClr val="9DB4B4"/>
                </a:solidFill>
                <a:latin typeface="Calibri" pitchFamily="34" charset="0"/>
                <a:ea typeface="Calibri" pitchFamily="34" charset="-122"/>
                <a:cs typeface="Calibri" pitchFamily="34" charset="-120"/>
              </a:rPr>
              <a:t>Generating a diagnosis is easy. Deciding not to — and understanding why — took longer than building anything.</a:t>
            </a:r>
            <a:endParaRPr lang="en-US" sz="1300" dirty="0"/>
          </a:p>
        </p:txBody>
      </p:sp>
      <p:sp>
        <p:nvSpPr>
          <p:cNvPr id="17" name="Text 15"/>
          <p:cNvSpPr txBox="1"/>
          <p:nvPr/>
        </p:nvSpPr>
        <p:spPr>
          <a:xfrm>
            <a:off x="640080" y="4553712"/>
            <a:ext cx="640080" cy="365760"/>
          </a:xfrm>
          <a:prstGeom prst="rect">
            <a:avLst/>
          </a:prstGeom>
          <a:noFill/>
          <a:ln/>
        </p:spPr>
        <p:txBody>
          <a:bodyPr wrap="square" lIns="0" tIns="0" rIns="0" bIns="0" rtlCol="0" anchor="ctr"/>
          <a:lstStyle/>
          <a:p>
            <a:pPr indent="0" marL="0">
              <a:buNone/>
            </a:pPr>
            <a:r>
              <a:rPr lang="en-US" sz="2000" b="1" dirty="0">
                <a:solidFill>
                  <a:srgbClr val="5FB3AB"/>
                </a:solidFill>
                <a:latin typeface="Cambria" pitchFamily="34" charset="0"/>
                <a:ea typeface="Cambria" pitchFamily="34" charset="-122"/>
                <a:cs typeface="Cambria" pitchFamily="34" charset="-120"/>
              </a:rPr>
              <a:t>03</a:t>
            </a:r>
            <a:endParaRPr lang="en-US" sz="2000" dirty="0"/>
          </a:p>
        </p:txBody>
      </p:sp>
      <p:sp>
        <p:nvSpPr>
          <p:cNvPr id="18" name="Text 16"/>
          <p:cNvSpPr txBox="1"/>
          <p:nvPr/>
        </p:nvSpPr>
        <p:spPr>
          <a:xfrm>
            <a:off x="1353312" y="4553712"/>
            <a:ext cx="10149840" cy="310896"/>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The measure of success moved from features to survival.</a:t>
            </a:r>
            <a:endParaRPr lang="en-US" sz="1550" dirty="0"/>
          </a:p>
        </p:txBody>
      </p:sp>
      <p:sp>
        <p:nvSpPr>
          <p:cNvPr id="19" name="Text 17"/>
          <p:cNvSpPr txBox="1"/>
          <p:nvPr/>
        </p:nvSpPr>
        <p:spPr>
          <a:xfrm>
            <a:off x="1353312" y="4919472"/>
            <a:ext cx="10149840" cy="566928"/>
          </a:xfrm>
          <a:prstGeom prst="rect">
            <a:avLst/>
          </a:prstGeom>
          <a:noFill/>
          <a:ln/>
        </p:spPr>
        <p:txBody>
          <a:bodyPr wrap="square" lIns="0" tIns="0" rIns="0" bIns="0" rtlCol="0" anchor="ctr"/>
          <a:lstStyle/>
          <a:p>
            <a:pPr indent="0" marL="0">
              <a:lnSpc>
                <a:spcPts val="1900"/>
              </a:lnSpc>
              <a:buNone/>
            </a:pPr>
            <a:r>
              <a:rPr lang="en-US" sz="1300" dirty="0">
                <a:solidFill>
                  <a:srgbClr val="9DB4B4"/>
                </a:solidFill>
                <a:latin typeface="Calibri" pitchFamily="34" charset="0"/>
                <a:ea typeface="Calibri" pitchFamily="34" charset="-122"/>
                <a:cs typeface="Calibri" pitchFamily="34" charset="-120"/>
              </a:rPr>
              <a:t>Not what the system can do, but whether a busy doctor is still choosing to use it, unhelped, on day twenty-one.</a:t>
            </a:r>
            <a:endParaRPr lang="en-US" sz="1300" dirty="0"/>
          </a:p>
        </p:txBody>
      </p:sp>
      <p:sp>
        <p:nvSpPr>
          <p:cNvPr id="20" name="Shape 18"/>
          <p:cNvSpPr/>
          <p:nvPr/>
        </p:nvSpPr>
        <p:spPr>
          <a:xfrm>
            <a:off x="640080" y="5806440"/>
            <a:ext cx="2377440" cy="0"/>
          </a:xfrm>
          <a:prstGeom prst="line">
            <a:avLst/>
          </a:prstGeom>
          <a:noFill/>
          <a:ln w="31750">
            <a:solidFill>
              <a:srgbClr val="0E6E6B"/>
            </a:solidFill>
            <a:prstDash val="solid"/>
          </a:ln>
        </p:spPr>
        <p:txBody>
          <a:bodyPr/>
          <a:p/>
        </p:txBody>
      </p:sp>
      <p:sp>
        <p:nvSpPr>
          <p:cNvPr id="21" name="Text 19"/>
          <p:cNvSpPr txBox="1"/>
          <p:nvPr/>
        </p:nvSpPr>
        <p:spPr>
          <a:xfrm>
            <a:off x="640080" y="5989320"/>
            <a:ext cx="5486400"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Thank you  ·  Varaxis</a:t>
            </a:r>
            <a:endParaRPr lang="en-US" sz="1400" dirty="0"/>
          </a:p>
        </p:txBody>
      </p:sp>
      <p:sp>
        <p:nvSpPr>
          <p:cNvPr id="22" name="Text 20"/>
          <p:cNvSpPr txBox="1"/>
          <p:nvPr/>
        </p:nvSpPr>
        <p:spPr>
          <a:xfrm>
            <a:off x="5943600" y="5989320"/>
            <a:ext cx="5605272" cy="310896"/>
          </a:xfrm>
          <a:prstGeom prst="rect">
            <a:avLst/>
          </a:prstGeom>
          <a:noFill/>
          <a:ln/>
        </p:spPr>
        <p:txBody>
          <a:bodyPr wrap="square" lIns="0" tIns="0" rIns="0" bIns="0" rtlCol="0" anchor="ctr"/>
          <a:lstStyle/>
          <a:p>
            <a:pPr algn="r" indent="0" marL="0">
              <a:buNone/>
            </a:pPr>
            <a:r>
              <a:rPr lang="en-US" sz="1200" i="1" dirty="0">
                <a:solidFill>
                  <a:srgbClr val="8B9C9D"/>
                </a:solidFill>
                <a:latin typeface="Calibri" pitchFamily="34" charset="0"/>
                <a:ea typeface="Calibri" pitchFamily="34" charset="-122"/>
                <a:cs typeface="Calibri" pitchFamily="34" charset="-120"/>
              </a:rPr>
              <a:t>Questions welcome — particularly about what we have not tested yet.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ClinicOS — a design thinking case study</dc:title>
  <dc:subject>PptxGenJS Presentation</dc:subject>
  <dc:creator>Ishaan Seal</dc:creator>
  <cp:lastModifiedBy>Ishaan Seal</cp:lastModifiedBy>
  <cp:revision>1</cp:revision>
  <dcterms:created xsi:type="dcterms:W3CDTF">2026-09-03T04:49:20Z</dcterms:created>
  <dcterms:modified xsi:type="dcterms:W3CDTF">2026-09-03T04:49:20Z</dcterms:modified>
</cp:coreProperties>
</file>