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4" r:id="rId25"/>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txBody>
          <a:bodyPr/>
          <a:p/>
        </p:txBody>
      </p:sp>
      <p:sp>
        <p:nvSpPr>
          <p:cNvPr id="3" name="Shape 1"/>
          <p:cNvSpPr/>
          <p:nvPr/>
        </p:nvSpPr>
        <p:spPr>
          <a:xfrm>
            <a:off x="8595360" y="-1371600"/>
            <a:ext cx="5852160" cy="5852160"/>
          </a:xfrm>
          <a:prstGeom prst="ellipse">
            <a:avLst/>
          </a:prstGeom>
          <a:solidFill>
            <a:srgbClr val="0E6E6B">
              <a:alpha val="12000"/>
            </a:srgbClr>
          </a:solidFill>
          <a:ln/>
        </p:spPr>
        <p:txBody>
          <a:bodyPr/>
          <a:p/>
        </p:txBody>
      </p:sp>
      <p:sp>
        <p:nvSpPr>
          <p:cNvPr id="4" name="Shape 2"/>
          <p:cNvSpPr/>
          <p:nvPr/>
        </p:nvSpPr>
        <p:spPr>
          <a:xfrm>
            <a:off x="9966960" y="91440"/>
            <a:ext cx="3108960" cy="3108960"/>
          </a:xfrm>
          <a:prstGeom prst="ellipse">
            <a:avLst/>
          </a:prstGeom>
          <a:solidFill>
            <a:srgbClr val="5FB3AB">
              <a:alpha val="10000"/>
            </a:srgbClr>
          </a:solidFill>
          <a:ln/>
        </p:spPr>
        <p:txBody>
          <a:bodyPr/>
          <a:p/>
        </p:txBody>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B.TECH CSE (AI &amp; ML)  ·  SEMESTER I</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Built by Varaxis to work at the scale of the whole country, and in time, beyond it — this design-thinking case study traces the evidence back to where it started: single-doctor clinics in Krishnanagar, Nadia.</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Ishaan Seal · Varaxis</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Field site: Krishnanagar, Nadia · West Bengal</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txBody>
          <a:bodyPr/>
          <a:p/>
        </p:txBody>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txBody>
          <a:bodyPr/>
          <a:p/>
        </p:txBody>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txBody>
          <a:bodyPr/>
          <a:p/>
        </p:txBody>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txBody>
          <a:bodyPr/>
          <a:p/>
        </p:txBody>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txBody>
          <a:bodyPr/>
          <a:p/>
        </p:txBody>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txBody>
          <a:bodyPr/>
          <a:p/>
        </p:txBody>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one doctor, one register</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Indian rural primary care runs on very small units. Alongside the public network of health centres sits a far larger, largely uncounted layer of private single-doctor chambers: one room, one doctor, a paper register and a queue outside.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That chamber is the unit this project studies — it is where the largest number of Indian patients are seen, and almost no clinical software is built for it. It is also where Varaxis's national ambitions for this product begin.</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Field site: Krishnanagar, Nadia, West Bengal — the starting point, not the limit.</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txBody>
          <a:bodyPr/>
          <a:p/>
        </p:txBody>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rural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txBody>
          <a:bodyPr/>
          <a:p/>
        </p:txBody>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txBody>
          <a:bodyPr/>
          <a:p/>
        </p:txBody>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centre — the scale we design for</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2" name="Shape 10"/>
          <p:cNvSpPr/>
          <p:nvPr/>
        </p:nvSpPr>
        <p:spPr>
          <a:xfrm>
            <a:off x="1024128" y="2423160"/>
            <a:ext cx="658368" cy="658368"/>
          </a:xfrm>
          <a:prstGeom prst="ellipse">
            <a:avLst/>
          </a:prstGeom>
          <a:solidFill>
            <a:srgbClr val="0E6E6B"/>
          </a:solidFill>
          <a:ln/>
        </p:spPr>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4722266" y="2423160"/>
            <a:ext cx="658368" cy="658368"/>
          </a:xfrm>
          <a:prstGeom prst="ellipse">
            <a:avLst/>
          </a:prstGeom>
          <a:solidFill>
            <a:srgbClr val="0E6E6B"/>
          </a:solidFill>
          <a:ln/>
        </p:spPr>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4" name="Shape 20"/>
          <p:cNvSpPr/>
          <p:nvPr/>
        </p:nvSpPr>
        <p:spPr>
          <a:xfrm>
            <a:off x="8420405" y="2423160"/>
            <a:ext cx="658368" cy="658368"/>
          </a:xfrm>
          <a:prstGeom prst="ellipse">
            <a:avLst/>
          </a:prstGeom>
          <a:solidFill>
            <a:srgbClr val="0E6E6B"/>
          </a:solidFill>
          <a:ln/>
        </p:spPr>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5532120" cy="3703320"/>
          </a:xfrm>
          <a:prstGeom prst="roundRect">
            <a:avLst>
              <a:gd name="adj" fmla="val 1728"/>
            </a:avLst>
          </a:prstGeom>
          <a:solidFill>
            <a:srgbClr val="EFF4F3"/>
          </a:solidFill>
          <a:ln/>
        </p:spPr>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Rural 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83.3% of rural households have internet access, against 91.6% urban — a real gap, but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sp>
      <p:sp>
        <p:nvSpPr>
          <p:cNvPr id="12" name="Shape 10"/>
          <p:cNvSpPr/>
          <p:nvPr/>
        </p:nvSpPr>
        <p:spPr>
          <a:xfrm>
            <a:off x="1024128" y="2377440"/>
            <a:ext cx="960120" cy="960120"/>
          </a:xfrm>
          <a:prstGeom prst="ellipse">
            <a:avLst/>
          </a:prstGeom>
          <a:solidFill>
            <a:srgbClr val="0E6E6B"/>
          </a:solidFill>
          <a:ln/>
        </p:spPr>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Solo practitioner · Krishnanagar</a:t>
            </a:r>
            <a:endParaRPr lang="en-US" sz="1250" dirty="0"/>
          </a:p>
        </p:txBody>
      </p:sp>
      <p:sp>
        <p:nvSpPr>
          <p:cNvPr id="16" name="Shape 14"/>
          <p:cNvSpPr/>
          <p:nvPr/>
        </p:nvSpPr>
        <p:spPr>
          <a:xfrm>
            <a:off x="1042416" y="4434840"/>
            <a:ext cx="109728" cy="109728"/>
          </a:xfrm>
          <a:prstGeom prst="ellipse">
            <a:avLst/>
          </a:prstGeom>
          <a:solidFill>
            <a:srgbClr val="C9821F"/>
          </a:solidFill>
          <a:ln/>
        </p:spPr>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65960"/>
            <a:ext cx="1650949" cy="841248"/>
          </a:xfrm>
          <a:prstGeom prst="roundRect">
            <a:avLst>
              <a:gd name="adj" fmla="val 7609"/>
            </a:avLst>
          </a:prstGeom>
          <a:solidFill>
            <a:srgbClr val="EFF4F3"/>
          </a:solidFill>
          <a:ln/>
        </p:spPr>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sp>
      <p:sp>
        <p:nvSpPr>
          <p:cNvPr id="15" name="Shape 13"/>
          <p:cNvSpPr/>
          <p:nvPr/>
        </p:nvSpPr>
        <p:spPr>
          <a:xfrm>
            <a:off x="2492197" y="1965960"/>
            <a:ext cx="1650949" cy="841248"/>
          </a:xfrm>
          <a:prstGeom prst="roundRect">
            <a:avLst>
              <a:gd name="adj" fmla="val 7609"/>
            </a:avLst>
          </a:prstGeom>
          <a:solidFill>
            <a:srgbClr val="EFF4F3"/>
          </a:solidFill>
          <a:ln/>
        </p:spPr>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sp>
      <p:sp>
        <p:nvSpPr>
          <p:cNvPr id="19" name="Shape 17"/>
          <p:cNvSpPr/>
          <p:nvPr/>
        </p:nvSpPr>
        <p:spPr>
          <a:xfrm>
            <a:off x="4344314" y="1965960"/>
            <a:ext cx="1650949" cy="841248"/>
          </a:xfrm>
          <a:prstGeom prst="roundRect">
            <a:avLst>
              <a:gd name="adj" fmla="val 7609"/>
            </a:avLst>
          </a:prstGeom>
          <a:solidFill>
            <a:srgbClr val="EFF4F3"/>
          </a:solidFill>
          <a:ln/>
        </p:spPr>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sp>
      <p:sp>
        <p:nvSpPr>
          <p:cNvPr id="23" name="Shape 21"/>
          <p:cNvSpPr/>
          <p:nvPr/>
        </p:nvSpPr>
        <p:spPr>
          <a:xfrm>
            <a:off x="6196432" y="1965960"/>
            <a:ext cx="1650949" cy="841248"/>
          </a:xfrm>
          <a:prstGeom prst="roundRect">
            <a:avLst>
              <a:gd name="adj" fmla="val 7609"/>
            </a:avLst>
          </a:prstGeom>
          <a:solidFill>
            <a:srgbClr val="EFF4F3"/>
          </a:solidFill>
          <a:ln/>
        </p:spPr>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sp>
      <p:sp>
        <p:nvSpPr>
          <p:cNvPr id="27" name="Shape 25"/>
          <p:cNvSpPr/>
          <p:nvPr/>
        </p:nvSpPr>
        <p:spPr>
          <a:xfrm>
            <a:off x="8048549" y="1965960"/>
            <a:ext cx="1650949" cy="841248"/>
          </a:xfrm>
          <a:prstGeom prst="roundRect">
            <a:avLst>
              <a:gd name="adj" fmla="val 7609"/>
            </a:avLst>
          </a:prstGeom>
          <a:solidFill>
            <a:srgbClr val="EFF4F3"/>
          </a:solidFill>
          <a:ln/>
        </p:spPr>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sp>
      <p:sp>
        <p:nvSpPr>
          <p:cNvPr id="31" name="Shape 29"/>
          <p:cNvSpPr/>
          <p:nvPr/>
        </p:nvSpPr>
        <p:spPr>
          <a:xfrm>
            <a:off x="9900666" y="1965960"/>
            <a:ext cx="1650949" cy="841248"/>
          </a:xfrm>
          <a:prstGeom prst="roundRect">
            <a:avLst>
              <a:gd name="adj" fmla="val 7609"/>
            </a:avLst>
          </a:prstGeom>
          <a:solidFill>
            <a:srgbClr val="EFF4F3"/>
          </a:solidFill>
          <a:ln/>
        </p:spPr>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475488" cy="475488"/>
          </a:xfrm>
          <a:prstGeom prst="roundRect">
            <a:avLst>
              <a:gd name="adj" fmla="val 23077"/>
            </a:avLst>
          </a:prstGeom>
          <a:solidFill>
            <a:srgbClr val="0E6E6B"/>
          </a:solidFill>
          <a:ln/>
        </p:spPr>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6"/>
          <p:cNvSpPr/>
          <p:nvPr/>
        </p:nvSpPr>
        <p:spPr>
          <a:xfrm>
            <a:off x="6498184" y="2487168"/>
            <a:ext cx="475488" cy="475488"/>
          </a:xfrm>
          <a:prstGeom prst="roundRect">
            <a:avLst>
              <a:gd name="adj" fmla="val 23077"/>
            </a:avLst>
          </a:prstGeom>
          <a:solidFill>
            <a:srgbClr val="C9821F"/>
          </a:solidFill>
          <a:ln/>
        </p:spPr>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21"/>
          <p:cNvSpPr/>
          <p:nvPr/>
        </p:nvSpPr>
        <p:spPr>
          <a:xfrm>
            <a:off x="932688" y="4361688"/>
            <a:ext cx="475488" cy="475488"/>
          </a:xfrm>
          <a:prstGeom prst="roundRect">
            <a:avLst>
              <a:gd name="adj" fmla="val 23077"/>
            </a:avLst>
          </a:prstGeom>
          <a:solidFill>
            <a:srgbClr val="0E6E6B"/>
          </a:solidFill>
          <a:ln/>
        </p:spPr>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6"/>
          <p:cNvSpPr/>
          <p:nvPr/>
        </p:nvSpPr>
        <p:spPr>
          <a:xfrm>
            <a:off x="6498184" y="4361688"/>
            <a:ext cx="475488" cy="475488"/>
          </a:xfrm>
          <a:prstGeom prst="roundRect">
            <a:avLst>
              <a:gd name="adj" fmla="val 23077"/>
            </a:avLst>
          </a:prstGeom>
          <a:solidFill>
            <a:srgbClr val="0E6E6B"/>
          </a:solidFill>
          <a:ln/>
        </p:spPr>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2A4E4E"/>
          </a:solidFill>
          <a:ln/>
        </p:spPr>
      </p:sp>
      <p:sp>
        <p:nvSpPr>
          <p:cNvPr id="7" name="Shape 5"/>
          <p:cNvSpPr/>
          <p:nvPr/>
        </p:nvSpPr>
        <p:spPr>
          <a:xfrm>
            <a:off x="11144707" y="548640"/>
            <a:ext cx="141732" cy="141732"/>
          </a:xfrm>
          <a:prstGeom prst="ellipse">
            <a:avLst/>
          </a:prstGeom>
          <a:solidFill>
            <a:srgbClr val="2A4E4E"/>
          </a:solidFill>
          <a:ln/>
        </p:spPr>
      </p:sp>
      <p:sp>
        <p:nvSpPr>
          <p:cNvPr id="8" name="Shape 6"/>
          <p:cNvSpPr/>
          <p:nvPr/>
        </p:nvSpPr>
        <p:spPr>
          <a:xfrm>
            <a:off x="11409883" y="548640"/>
            <a:ext cx="141732" cy="141732"/>
          </a:xfrm>
          <a:prstGeom prst="ellipse">
            <a:avLst/>
          </a:prstGeom>
          <a:solidFill>
            <a:srgbClr val="2A4E4E"/>
          </a:solidFill>
          <a:ln/>
        </p:spPr>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single-doctor rural clinics, a consultation lasting roughly two minutes must produce both care and a record —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1371600"/>
          </a:xfrm>
          <a:prstGeom prst="roundRect">
            <a:avLst>
              <a:gd name="adj" fmla="val 4667"/>
            </a:avLst>
          </a:prstGeom>
          <a:solidFill>
            <a:srgbClr val="EFF4F3"/>
          </a:solidFill>
          <a:ln/>
        </p:spPr>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548640" cy="548640"/>
          </a:xfrm>
          <a:prstGeom prst="ellipse">
            <a:avLst/>
          </a:prstGeom>
          <a:solidFill>
            <a:srgbClr val="0B2B2E"/>
          </a:solidFill>
          <a:ln/>
        </p:spPr>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932688" y="4407408"/>
            <a:ext cx="548640" cy="548640"/>
          </a:xfrm>
          <a:prstGeom prst="ellipse">
            <a:avLst/>
          </a:prstGeom>
          <a:solidFill>
            <a:srgbClr val="0B2B2E"/>
          </a:solidFill>
          <a:ln/>
        </p:spPr>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 student prototype exactly as they apply to a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sp>
      <p:sp>
        <p:nvSpPr>
          <p:cNvPr id="12" name="Shape 10"/>
          <p:cNvSpPr/>
          <p:nvPr/>
        </p:nvSpPr>
        <p:spPr>
          <a:xfrm>
            <a:off x="950976" y="2194560"/>
            <a:ext cx="365760" cy="365760"/>
          </a:xfrm>
          <a:prstGeom prst="ellipse">
            <a:avLst/>
          </a:prstGeom>
          <a:solidFill>
            <a:srgbClr val="DFEAE8"/>
          </a:solidFill>
          <a:ln/>
        </p:spPr>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sp>
      <p:sp>
        <p:nvSpPr>
          <p:cNvPr id="17" name="Shape 15"/>
          <p:cNvSpPr/>
          <p:nvPr/>
        </p:nvSpPr>
        <p:spPr>
          <a:xfrm>
            <a:off x="950976" y="3246120"/>
            <a:ext cx="365760" cy="365760"/>
          </a:xfrm>
          <a:prstGeom prst="ellipse">
            <a:avLst/>
          </a:prstGeom>
          <a:solidFill>
            <a:srgbClr val="DFEAE8"/>
          </a:solidFill>
          <a:ln/>
        </p:spPr>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sp>
      <p:sp>
        <p:nvSpPr>
          <p:cNvPr id="22" name="Shape 20"/>
          <p:cNvSpPr/>
          <p:nvPr/>
        </p:nvSpPr>
        <p:spPr>
          <a:xfrm>
            <a:off x="950976" y="4297680"/>
            <a:ext cx="365760" cy="365760"/>
          </a:xfrm>
          <a:prstGeom prst="ellipse">
            <a:avLst/>
          </a:prstGeom>
          <a:solidFill>
            <a:srgbClr val="DFEAE8"/>
          </a:solidFill>
          <a:ln/>
        </p:spPr>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sp>
      <p:sp>
        <p:nvSpPr>
          <p:cNvPr id="27" name="Shape 25"/>
          <p:cNvSpPr/>
          <p:nvPr/>
        </p:nvSpPr>
        <p:spPr>
          <a:xfrm>
            <a:off x="950976" y="5349240"/>
            <a:ext cx="365760" cy="365760"/>
          </a:xfrm>
          <a:prstGeom prst="ellipse">
            <a:avLst/>
          </a:prstGeom>
          <a:solidFill>
            <a:srgbClr val="C9821F"/>
          </a:solidFill>
          <a:ln/>
        </p:spPr>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69264" y="2560320"/>
            <a:ext cx="621792" cy="621792"/>
          </a:xfrm>
          <a:prstGeom prst="ellipse">
            <a:avLst/>
          </a:prstGeom>
          <a:solidFill>
            <a:srgbClr val="0E6E6B"/>
          </a:solidFill>
          <a:ln/>
        </p:spPr>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sp>
      <p:sp>
        <p:nvSpPr>
          <p:cNvPr id="18" name="Shape 15"/>
          <p:cNvSpPr/>
          <p:nvPr/>
        </p:nvSpPr>
        <p:spPr>
          <a:xfrm>
            <a:off x="3756584" y="2560320"/>
            <a:ext cx="621792" cy="621792"/>
          </a:xfrm>
          <a:prstGeom prst="ellipse">
            <a:avLst/>
          </a:prstGeom>
          <a:solidFill>
            <a:srgbClr val="C9821F"/>
          </a:solidFill>
          <a:ln/>
        </p:spPr>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19"/>
          <p:cNvSpPr/>
          <p:nvPr/>
        </p:nvSpPr>
        <p:spPr>
          <a:xfrm>
            <a:off x="6543904" y="2560320"/>
            <a:ext cx="621792" cy="621792"/>
          </a:xfrm>
          <a:prstGeom prst="ellipse">
            <a:avLst/>
          </a:prstGeom>
          <a:solidFill>
            <a:srgbClr val="0E6E6B"/>
          </a:solidFill>
          <a:ln/>
        </p:spPr>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3"/>
          <p:cNvSpPr/>
          <p:nvPr/>
        </p:nvSpPr>
        <p:spPr>
          <a:xfrm>
            <a:off x="9331223" y="2560320"/>
            <a:ext cx="621792" cy="621792"/>
          </a:xfrm>
          <a:prstGeom prst="ellipse">
            <a:avLst/>
          </a:prstGeom>
          <a:solidFill>
            <a:srgbClr val="0E6E6B"/>
          </a:solidFill>
          <a:ln/>
        </p:spPr>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C9821F"/>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txBody>
          <a:bodyPr/>
          <a:p/>
        </p:txBody>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SCALE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first. Built for the country.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SCALE</a:t>
            </a:r>
            <a:endParaRPr lang="en-US" sz="1000" dirty="0"/>
          </a:p>
        </p:txBody>
      </p:sp>
      <p:sp>
        <p:nvSpPr>
          <p:cNvPr id="6" name="Shape 4"/>
          <p:cNvSpPr/>
          <p:nvPr/>
        </p:nvSpPr>
        <p:spPr>
          <a:xfrm>
            <a:off x="10349179" y="548640"/>
            <a:ext cx="141732" cy="141732"/>
          </a:xfrm>
          <a:prstGeom prst="ellipse">
            <a:avLst/>
          </a:prstGeom>
          <a:solidFill>
            <a:srgbClr val="DFEAE8"/>
          </a:solidFill>
          <a:ln/>
        </p:spPr>
        <p:txBody>
          <a:bodyPr/>
          <a:p/>
        </p:txBody>
      </p:sp>
      <p:sp>
        <p:nvSpPr>
          <p:cNvPr id="7" name="Shape 5"/>
          <p:cNvSpPr/>
          <p:nvPr/>
        </p:nvSpPr>
        <p:spPr>
          <a:xfrm>
            <a:off x="10614355" y="548640"/>
            <a:ext cx="141732" cy="141732"/>
          </a:xfrm>
          <a:prstGeom prst="ellipse">
            <a:avLst/>
          </a:prstGeom>
          <a:solidFill>
            <a:srgbClr val="C9821F"/>
          </a:solidFill>
          <a:ln/>
        </p:spPr>
        <p:txBody>
          <a:bodyPr/>
          <a:p/>
        </p:txBody>
      </p:sp>
      <p:sp>
        <p:nvSpPr>
          <p:cNvPr id="8" name="Shape 6"/>
          <p:cNvSpPr/>
          <p:nvPr/>
        </p:nvSpPr>
        <p:spPr>
          <a:xfrm>
            <a:off x="10879531" y="548640"/>
            <a:ext cx="141732" cy="141732"/>
          </a:xfrm>
          <a:prstGeom prst="ellipse">
            <a:avLst/>
          </a:prstGeom>
          <a:solidFill>
            <a:srgbClr val="DFEAE8"/>
          </a:solidFill>
          <a:ln/>
        </p:spPr>
        <p:txBody>
          <a:bodyPr/>
          <a:p/>
        </p:txBody>
      </p:sp>
      <p:sp>
        <p:nvSpPr>
          <p:cNvPr id="9" name="Shape 7"/>
          <p:cNvSpPr/>
          <p:nvPr/>
        </p:nvSpPr>
        <p:spPr>
          <a:xfrm>
            <a:off x="11144707" y="548640"/>
            <a:ext cx="141732" cy="141732"/>
          </a:xfrm>
          <a:prstGeom prst="ellipse">
            <a:avLst/>
          </a:prstGeom>
          <a:solidFill>
            <a:srgbClr val="DFEAE8"/>
          </a:solidFill>
          <a:ln/>
        </p:spPr>
        <p:txBody>
          <a:bodyPr/>
          <a:p/>
        </p:txBody>
      </p:sp>
      <p:sp>
        <p:nvSpPr>
          <p:cNvPr id="10" name="Shape 8"/>
          <p:cNvSpPr/>
          <p:nvPr/>
        </p:nvSpPr>
        <p:spPr>
          <a:xfrm>
            <a:off x="11409883" y="548640"/>
            <a:ext cx="141732" cy="141732"/>
          </a:xfrm>
          <a:prstGeom prst="ellipse">
            <a:avLst/>
          </a:prstGeom>
          <a:solidFill>
            <a:srgbClr val="DFEAE8"/>
          </a:solidFill>
          <a:ln/>
        </p:spPr>
        <p:txBody>
          <a:bodyPr/>
          <a:p/>
        </p:txBody>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Krishnanagar is the evidence. ClinicOS is built by Varaxis to scale — nationally, then internationally.</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3" name="Shape 11"/>
          <p:cNvSpPr/>
          <p:nvPr/>
        </p:nvSpPr>
        <p:spPr>
          <a:xfrm>
            <a:off x="932688" y="2487168"/>
            <a:ext cx="475488" cy="475488"/>
          </a:xfrm>
          <a:prstGeom prst="roundRect">
            <a:avLst>
              <a:gd name="adj" fmla="val 23077"/>
            </a:avLst>
          </a:prstGeom>
          <a:solidFill>
            <a:srgbClr val="0E6E6B"/>
          </a:solidFill>
          <a:ln/>
        </p:spPr>
        <p:txBody>
          <a:bodyPr/>
          <a:p/>
        </p:txBody>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Accounts and roles</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 front desk and clinic admin — checked on every request, not just hidden behind a menu.</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18" name="Shape 16"/>
          <p:cNvSpPr/>
          <p:nvPr/>
        </p:nvSpPr>
        <p:spPr>
          <a:xfrm>
            <a:off x="6498184" y="2487168"/>
            <a:ext cx="475488" cy="475488"/>
          </a:xfrm>
          <a:prstGeom prst="roundRect">
            <a:avLst>
              <a:gd name="adj" fmla="val 23077"/>
            </a:avLst>
          </a:prstGeom>
          <a:solidFill>
            <a:srgbClr val="C9821F"/>
          </a:solidFill>
          <a:ln/>
        </p:spPr>
        <p:txBody>
          <a:bodyPr/>
          <a:p/>
        </p:txBody>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front desk that runs the day</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queue, a day's list and a doctor's worklist, so the clinic works as more than one person.</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3" name="Shape 21"/>
          <p:cNvSpPr/>
          <p:nvPr/>
        </p:nvSpPr>
        <p:spPr>
          <a:xfrm>
            <a:off x="932688" y="4361688"/>
            <a:ext cx="475488" cy="475488"/>
          </a:xfrm>
          <a:prstGeom prst="roundRect">
            <a:avLst>
              <a:gd name="adj" fmla="val 23077"/>
            </a:avLst>
          </a:prstGeom>
          <a:solidFill>
            <a:srgbClr val="0E6E6B"/>
          </a:solidFill>
          <a:ln/>
        </p:spPr>
        <p:txBody>
          <a:bodyPr/>
          <a:p/>
        </p:txBody>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An activity log</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account action is recorded, so who did what is always answerable.</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txBody>
          <a:bodyPr/>
          <a:p/>
        </p:txBody>
      </p:sp>
      <p:sp>
        <p:nvSpPr>
          <p:cNvPr id="28" name="Shape 26"/>
          <p:cNvSpPr/>
          <p:nvPr/>
        </p:nvSpPr>
        <p:spPr>
          <a:xfrm>
            <a:off x="6498184" y="4361688"/>
            <a:ext cx="475488" cy="475488"/>
          </a:xfrm>
          <a:prstGeom prst="roundRect">
            <a:avLst>
              <a:gd name="adj" fmla="val 23077"/>
            </a:avLst>
          </a:prstGeom>
          <a:solidFill>
            <a:srgbClr val="0E6E6B"/>
          </a:solidFill>
          <a:ln/>
        </p:spPr>
        <p:txBody>
          <a:bodyPr/>
          <a:p/>
        </p:txBody>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A public site, live</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Describing the product to clinics of every size, and taking enquiries beyond the pilot.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C9821F"/>
          </a:solidFill>
          <a:ln/>
        </p:spPr>
      </p:sp>
      <p:sp>
        <p:nvSpPr>
          <p:cNvPr id="7" name="Shape 5"/>
          <p:cNvSpPr/>
          <p:nvPr/>
        </p:nvSpPr>
        <p:spPr>
          <a:xfrm>
            <a:off x="11144707" y="548640"/>
            <a:ext cx="141732" cy="141732"/>
          </a:xfrm>
          <a:prstGeom prst="ellipse">
            <a:avLst/>
          </a:prstGeom>
          <a:solidFill>
            <a:srgbClr val="C9821F"/>
          </a:solidFill>
          <a:ln/>
        </p:spPr>
      </p:sp>
      <p:sp>
        <p:nvSpPr>
          <p:cNvPr id="8" name="Shape 6"/>
          <p:cNvSpPr/>
          <p:nvPr/>
        </p:nvSpPr>
        <p:spPr>
          <a:xfrm>
            <a:off x="11409883" y="548640"/>
            <a:ext cx="141732" cy="141732"/>
          </a:xfrm>
          <a:prstGeom prst="ellipse">
            <a:avLst/>
          </a:prstGeom>
          <a:solidFill>
            <a:srgbClr val="C9821F"/>
          </a:solidFill>
          <a:ln/>
        </p:spPr>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Ishaan Seal</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