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5"/>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setting in one line: the outpatient consultation, starting with the single-doctor clinic and growing to hospitals and health systems. This deck walks the five design-thinking stages in order, and each stage changed something about what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scale: not hospitals, not chains — a single doctor, alone, with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we did not start from a solution. The prototype is stage four of five, and stage five has not passed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anti-leading-question design. This is the methodological point the course cares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right-hand column is not yet answered. Honesty here is the point — do not present unheard quotes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the process working. Our first framing was wrong, and the data — not an opinion — is what corrected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Composite persona built from the context of the field site. The third block is the one that killed most of our early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steps quickly, then land hard on the bar chart: the record is thinnest exactly where the clinical value is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 2 is the insight the project turns on: no one in the room is advocating for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aloud, slowly. It is the hinge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How-Might-We questions map one-to-one onto the four principles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 diagnosis feature: it is a regulatory line, not a technical limitation. Say so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third rejection is on privacy and reliability, not capability — the cloud option would have worked technically.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two is the one that generated the most engineering work and the least visible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app here if the room allows it. A running prototype is worth more than any slide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a direct answer to something observed, not a feature chosen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these numbers were written down before any testing began. That is what makes them a test rather than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third reflection. Invite challenge on the untested parts — that is the honest position and it reads as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txBody>
          <a:bodyPr/>
          <a:p/>
        </p:txBody>
      </p:sp>
      <p:sp>
        <p:nvSpPr>
          <p:cNvPr id="3" name="Shape 1"/>
          <p:cNvSpPr/>
          <p:nvPr/>
        </p:nvSpPr>
        <p:spPr>
          <a:xfrm>
            <a:off x="8595360" y="-1371600"/>
            <a:ext cx="5852160" cy="5852160"/>
          </a:xfrm>
          <a:prstGeom prst="ellipse">
            <a:avLst/>
          </a:prstGeom>
          <a:solidFill>
            <a:srgbClr val="0E6E6B">
              <a:alpha val="12000"/>
            </a:srgbClr>
          </a:solidFill>
          <a:ln/>
        </p:spPr>
        <p:txBody>
          <a:bodyPr/>
          <a:p/>
        </p:txBody>
      </p:sp>
      <p:sp>
        <p:nvSpPr>
          <p:cNvPr id="4" name="Shape 2"/>
          <p:cNvSpPr/>
          <p:nvPr/>
        </p:nvSpPr>
        <p:spPr>
          <a:xfrm>
            <a:off x="9966960" y="91440"/>
            <a:ext cx="3108960" cy="3108960"/>
          </a:xfrm>
          <a:prstGeom prst="ellipse">
            <a:avLst/>
          </a:prstGeom>
          <a:solidFill>
            <a:srgbClr val="5FB3AB">
              <a:alpha val="10000"/>
            </a:srgbClr>
          </a:solidFill>
          <a:ln/>
        </p:spPr>
        <p:txBody>
          <a:bodyPr/>
          <a:p/>
        </p:txBody>
      </p:sp>
      <p:sp>
        <p:nvSpPr>
          <p:cNvPr id="5" name="Text 3"/>
          <p:cNvSpPr txBox="1"/>
          <p:nvPr/>
        </p:nvSpPr>
        <p:spPr>
          <a:xfrm>
            <a:off x="640080" y="1078992"/>
            <a:ext cx="7863840" cy="274320"/>
          </a:xfrm>
          <a:prstGeom prst="rect">
            <a:avLst/>
          </a:prstGeom>
          <a:noFill/>
          <a:ln/>
        </p:spPr>
        <p:txBody>
          <a:bodyPr wrap="square" lIns="0" tIns="0" rIns="0" bIns="0" rtlCol="0" anchor="ctr"/>
          <a:lstStyle/>
          <a:p>
            <a:pPr indent="0" marL="0">
              <a:buNone/>
            </a:pPr>
            <a:r>
              <a:rPr lang="en-US" sz="1150" b="1" spc="260" kern="0" dirty="0">
                <a:solidFill>
                  <a:srgbClr val="C9821F"/>
                </a:solidFill>
                <a:latin typeface="Calibri" pitchFamily="34" charset="0"/>
                <a:ea typeface="Calibri" pitchFamily="34" charset="-122"/>
                <a:cs typeface="Calibri" pitchFamily="34" charset="-120"/>
              </a:rPr>
              <a:t>DESIGN THINKING  ·  PRODUCT CASE STUDY  ·  VARAXIS</a:t>
            </a:r>
            <a:endParaRPr lang="en-US" sz="1150" dirty="0"/>
          </a:p>
        </p:txBody>
      </p:sp>
      <p:sp>
        <p:nvSpPr>
          <p:cNvPr id="6" name="Text 4"/>
          <p:cNvSpPr txBox="1"/>
          <p:nvPr/>
        </p:nvSpPr>
        <p:spPr>
          <a:xfrm>
            <a:off x="640080" y="1481328"/>
            <a:ext cx="7863840" cy="96012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ClinicOS</a:t>
            </a:r>
            <a:endParaRPr lang="en-US" sz="5800" dirty="0"/>
          </a:p>
        </p:txBody>
      </p:sp>
      <p:sp>
        <p:nvSpPr>
          <p:cNvPr id="7" name="Text 5"/>
          <p:cNvSpPr txBox="1"/>
          <p:nvPr/>
        </p:nvSpPr>
        <p:spPr>
          <a:xfrm>
            <a:off x="640080" y="2487168"/>
            <a:ext cx="7498080" cy="457200"/>
          </a:xfrm>
          <a:prstGeom prst="rect">
            <a:avLst/>
          </a:prstGeom>
          <a:noFill/>
          <a:ln/>
        </p:spPr>
        <p:txBody>
          <a:bodyPr wrap="square" lIns="0" tIns="0" rIns="0" bIns="0" rtlCol="0" anchor="ctr"/>
          <a:lstStyle/>
          <a:p>
            <a:pPr indent="0" marL="0">
              <a:buNone/>
            </a:pPr>
            <a:r>
              <a:rPr lang="en-US" sz="2300" dirty="0">
                <a:solidFill>
                  <a:srgbClr val="5FB3AB"/>
                </a:solidFill>
                <a:latin typeface="Cambria" pitchFamily="34" charset="0"/>
                <a:ea typeface="Cambria" pitchFamily="34" charset="-122"/>
                <a:cs typeface="Cambria" pitchFamily="34" charset="-120"/>
              </a:rPr>
              <a:t>Designing documentation for the two-minute consultation</a:t>
            </a:r>
            <a:endParaRPr lang="en-US" sz="2300" dirty="0"/>
          </a:p>
        </p:txBody>
      </p:sp>
      <p:sp>
        <p:nvSpPr>
          <p:cNvPr id="8" name="Text 6"/>
          <p:cNvSpPr txBox="1"/>
          <p:nvPr/>
        </p:nvSpPr>
        <p:spPr>
          <a:xfrm>
            <a:off x="640080" y="3246120"/>
            <a:ext cx="6309360" cy="1005840"/>
          </a:xfrm>
          <a:prstGeom prst="rect">
            <a:avLst/>
          </a:prstGeom>
          <a:noFill/>
          <a:ln/>
        </p:spPr>
        <p:txBody>
          <a:bodyPr wrap="square" lIns="0" tIns="0" rIns="0" bIns="0" rtlCol="0" anchor="ctr"/>
          <a:lstStyle/>
          <a:p>
            <a:pPr indent="0" marL="0">
              <a:lnSpc>
                <a:spcPts val="2400"/>
              </a:lnSpc>
              <a:buNone/>
            </a:pPr>
            <a:r>
              <a:rPr lang="en-US" sz="1450" dirty="0">
                <a:solidFill>
                  <a:srgbClr val="AFC3C4"/>
                </a:solidFill>
                <a:latin typeface="Calibri" pitchFamily="34" charset="0"/>
                <a:ea typeface="Calibri" pitchFamily="34" charset="-122"/>
                <a:cs typeface="Calibri" pitchFamily="34" charset="-120"/>
              </a:rPr>
              <a:t>A design-thinking case study of one product built to grow: from the single-doctor clinic to multi-doctor clinics, hospitals and health systems, and then internationally.</a:t>
            </a:r>
            <a:endParaRPr lang="en-US" sz="1450" dirty="0"/>
          </a:p>
        </p:txBody>
      </p:sp>
      <p:sp>
        <p:nvSpPr>
          <p:cNvPr id="9" name="Text 7"/>
          <p:cNvSpPr txBox="1"/>
          <p:nvPr/>
        </p:nvSpPr>
        <p:spPr>
          <a:xfrm>
            <a:off x="640080" y="5394960"/>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Varaxis</a:t>
            </a:r>
            <a:endParaRPr lang="en-US" sz="1400" dirty="0"/>
          </a:p>
        </p:txBody>
      </p:sp>
      <p:sp>
        <p:nvSpPr>
          <p:cNvPr id="10" name="Text 8"/>
          <p:cNvSpPr txBox="1"/>
          <p:nvPr/>
        </p:nvSpPr>
        <p:spPr>
          <a:xfrm>
            <a:off x="640080" y="5687568"/>
            <a:ext cx="4572000" cy="274320"/>
          </a:xfrm>
          <a:prstGeom prst="rect">
            <a:avLst/>
          </a:prstGeom>
          <a:noFill/>
          <a:ln/>
        </p:spPr>
        <p:txBody>
          <a:bodyPr wrap="square" lIns="0" tIns="0" rIns="0" bIns="0" rtlCol="0" anchor="ctr"/>
          <a:lstStyle/>
          <a:p>
            <a:pPr indent="0" marL="0">
              <a:buNone/>
            </a:pPr>
            <a:r>
              <a:rPr lang="en-US" sz="1200" dirty="0">
                <a:solidFill>
                  <a:srgbClr val="8B9C9D"/>
                </a:solidFill>
                <a:latin typeface="Calibri" pitchFamily="34" charset="0"/>
                <a:ea typeface="Calibri" pitchFamily="34" charset="-122"/>
                <a:cs typeface="Calibri" pitchFamily="34" charset="-120"/>
              </a:rPr>
              <a:t>Healthcare Technology</a:t>
            </a:r>
            <a:endParaRPr lang="en-US" sz="1200" dirty="0"/>
          </a:p>
        </p:txBody>
      </p:sp>
      <p:sp>
        <p:nvSpPr>
          <p:cNvPr id="11" name="Shape 9"/>
          <p:cNvSpPr/>
          <p:nvPr/>
        </p:nvSpPr>
        <p:spPr>
          <a:xfrm>
            <a:off x="7818120" y="3063240"/>
            <a:ext cx="3730752" cy="2697480"/>
          </a:xfrm>
          <a:prstGeom prst="roundRect">
            <a:avLst>
              <a:gd name="adj" fmla="val 3051"/>
            </a:avLst>
          </a:prstGeom>
          <a:solidFill>
            <a:srgbClr val="16403F"/>
          </a:solidFill>
          <a:ln/>
        </p:spPr>
        <p:txBody>
          <a:bodyPr/>
          <a:p/>
        </p:txBody>
      </p:sp>
      <p:sp>
        <p:nvSpPr>
          <p:cNvPr id="12" name="Text 10"/>
          <p:cNvSpPr txBox="1"/>
          <p:nvPr/>
        </p:nvSpPr>
        <p:spPr>
          <a:xfrm>
            <a:off x="8183880" y="3310128"/>
            <a:ext cx="3017520" cy="256032"/>
          </a:xfrm>
          <a:prstGeom prst="rect">
            <a:avLst/>
          </a:prstGeom>
          <a:noFill/>
          <a:ln/>
        </p:spPr>
        <p:txBody>
          <a:bodyPr wrap="square" lIns="0" tIns="0" rIns="0" bIns="0" rtlCol="0" anchor="ctr"/>
          <a:lstStyle/>
          <a:p>
            <a:pPr indent="0" marL="0">
              <a:buNone/>
            </a:pPr>
            <a:r>
              <a:rPr lang="en-US" sz="950" b="1" spc="200" kern="0" dirty="0">
                <a:solidFill>
                  <a:srgbClr val="5FB3AB"/>
                </a:solidFill>
                <a:latin typeface="Calibri" pitchFamily="34" charset="0"/>
                <a:ea typeface="Calibri" pitchFamily="34" charset="-122"/>
                <a:cs typeface="Calibri" pitchFamily="34" charset="-120"/>
              </a:rPr>
              <a:t>THE PROCESS</a:t>
            </a:r>
            <a:endParaRPr lang="en-US" sz="950" dirty="0"/>
          </a:p>
        </p:txBody>
      </p:sp>
      <p:sp>
        <p:nvSpPr>
          <p:cNvPr id="13" name="Shape 11"/>
          <p:cNvSpPr/>
          <p:nvPr/>
        </p:nvSpPr>
        <p:spPr>
          <a:xfrm>
            <a:off x="8183880" y="3721608"/>
            <a:ext cx="155448" cy="155448"/>
          </a:xfrm>
          <a:prstGeom prst="ellipse">
            <a:avLst/>
          </a:prstGeom>
          <a:solidFill>
            <a:srgbClr val="C9821F"/>
          </a:solidFill>
          <a:ln/>
        </p:spPr>
        <p:txBody>
          <a:bodyPr/>
          <a:p/>
        </p:txBody>
      </p:sp>
      <p:sp>
        <p:nvSpPr>
          <p:cNvPr id="14" name="Text 12"/>
          <p:cNvSpPr txBox="1"/>
          <p:nvPr/>
        </p:nvSpPr>
        <p:spPr>
          <a:xfrm>
            <a:off x="8485632" y="3675888"/>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Empathize</a:t>
            </a:r>
            <a:endParaRPr lang="en-US" sz="1350" dirty="0"/>
          </a:p>
        </p:txBody>
      </p:sp>
      <p:sp>
        <p:nvSpPr>
          <p:cNvPr id="15" name="Shape 13"/>
          <p:cNvSpPr/>
          <p:nvPr/>
        </p:nvSpPr>
        <p:spPr>
          <a:xfrm>
            <a:off x="8183880" y="4123944"/>
            <a:ext cx="155448" cy="155448"/>
          </a:xfrm>
          <a:prstGeom prst="ellipse">
            <a:avLst/>
          </a:prstGeom>
          <a:solidFill>
            <a:srgbClr val="35605E"/>
          </a:solidFill>
          <a:ln/>
        </p:spPr>
        <p:txBody>
          <a:bodyPr/>
          <a:p/>
        </p:txBody>
      </p:sp>
      <p:sp>
        <p:nvSpPr>
          <p:cNvPr id="16" name="Text 14"/>
          <p:cNvSpPr txBox="1"/>
          <p:nvPr/>
        </p:nvSpPr>
        <p:spPr>
          <a:xfrm>
            <a:off x="8485632" y="4078224"/>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Define</a:t>
            </a:r>
            <a:endParaRPr lang="en-US" sz="1350" dirty="0"/>
          </a:p>
        </p:txBody>
      </p:sp>
      <p:sp>
        <p:nvSpPr>
          <p:cNvPr id="17" name="Shape 15"/>
          <p:cNvSpPr/>
          <p:nvPr/>
        </p:nvSpPr>
        <p:spPr>
          <a:xfrm>
            <a:off x="8183880" y="4526280"/>
            <a:ext cx="155448" cy="155448"/>
          </a:xfrm>
          <a:prstGeom prst="ellipse">
            <a:avLst/>
          </a:prstGeom>
          <a:solidFill>
            <a:srgbClr val="35605E"/>
          </a:solidFill>
          <a:ln/>
        </p:spPr>
        <p:txBody>
          <a:bodyPr/>
          <a:p/>
        </p:txBody>
      </p:sp>
      <p:sp>
        <p:nvSpPr>
          <p:cNvPr id="18" name="Text 16"/>
          <p:cNvSpPr txBox="1"/>
          <p:nvPr/>
        </p:nvSpPr>
        <p:spPr>
          <a:xfrm>
            <a:off x="8485632" y="4480560"/>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Ideate</a:t>
            </a:r>
            <a:endParaRPr lang="en-US" sz="1350" dirty="0"/>
          </a:p>
        </p:txBody>
      </p:sp>
      <p:sp>
        <p:nvSpPr>
          <p:cNvPr id="19" name="Shape 17"/>
          <p:cNvSpPr/>
          <p:nvPr/>
        </p:nvSpPr>
        <p:spPr>
          <a:xfrm>
            <a:off x="8183880" y="4928616"/>
            <a:ext cx="155448" cy="155448"/>
          </a:xfrm>
          <a:prstGeom prst="ellipse">
            <a:avLst/>
          </a:prstGeom>
          <a:solidFill>
            <a:srgbClr val="35605E"/>
          </a:solidFill>
          <a:ln/>
        </p:spPr>
        <p:txBody>
          <a:bodyPr/>
          <a:p/>
        </p:txBody>
      </p:sp>
      <p:sp>
        <p:nvSpPr>
          <p:cNvPr id="20" name="Text 18"/>
          <p:cNvSpPr txBox="1"/>
          <p:nvPr/>
        </p:nvSpPr>
        <p:spPr>
          <a:xfrm>
            <a:off x="8485632" y="4882896"/>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Prototype</a:t>
            </a:r>
            <a:endParaRPr lang="en-US" sz="1350" dirty="0"/>
          </a:p>
        </p:txBody>
      </p:sp>
      <p:sp>
        <p:nvSpPr>
          <p:cNvPr id="21" name="Shape 19"/>
          <p:cNvSpPr/>
          <p:nvPr/>
        </p:nvSpPr>
        <p:spPr>
          <a:xfrm>
            <a:off x="8183880" y="5330952"/>
            <a:ext cx="155448" cy="155448"/>
          </a:xfrm>
          <a:prstGeom prst="ellipse">
            <a:avLst/>
          </a:prstGeom>
          <a:solidFill>
            <a:srgbClr val="35605E"/>
          </a:solidFill>
          <a:ln/>
        </p:spPr>
        <p:txBody>
          <a:bodyPr/>
          <a:p/>
        </p:txBody>
      </p:sp>
      <p:sp>
        <p:nvSpPr>
          <p:cNvPr id="22" name="Text 20"/>
          <p:cNvSpPr txBox="1"/>
          <p:nvPr/>
        </p:nvSpPr>
        <p:spPr>
          <a:xfrm>
            <a:off x="8485632" y="5285232"/>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Test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CONTEXT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One consultation, every size of institution</a:t>
            </a:r>
            <a:endParaRPr lang="en-US" sz="3400" dirty="0"/>
          </a:p>
        </p:txBody>
      </p:sp>
      <p:sp>
        <p:nvSpPr>
          <p:cNvPr id="5" name="Text 3"/>
          <p:cNvSpPr txBox="1"/>
          <p:nvPr/>
        </p:nvSpPr>
        <p:spPr>
          <a:xfrm>
            <a:off x="640080" y="2121408"/>
            <a:ext cx="5577840" cy="1188720"/>
          </a:xfrm>
          <a:prstGeom prst="rect">
            <a:avLst/>
          </a:prstGeom>
          <a:noFill/>
          <a:ln/>
        </p:spPr>
        <p:txBody>
          <a:bodyPr wrap="square" lIns="0" tIns="0" rIns="0" bIns="0" rtlCol="0" anchor="ctr"/>
          <a:lstStyle/>
          <a:p>
            <a:pPr indent="0" marL="0">
              <a:lnSpc>
                <a:spcPts val="2600"/>
              </a:lnSpc>
              <a:buNone/>
            </a:pPr>
            <a:r>
              <a:rPr lang="en-US" sz="1500" dirty="0">
                <a:solidFill>
                  <a:srgbClr val="0B2B2E"/>
                </a:solidFill>
                <a:latin typeface="Calibri" pitchFamily="34" charset="0"/>
                <a:ea typeface="Calibri" pitchFamily="34" charset="-122"/>
                <a:cs typeface="Calibri" pitchFamily="34" charset="-120"/>
              </a:rPr>
              <a:t>Outpatient care runs under time pressure everywhere, and in India it is extreme. Patients are seen in public health centres, private solo chambers, multi-doctor clinics and hospital outpatient departments — the same short consultation in every one.</a:t>
            </a:r>
            <a:endParaRPr lang="en-US" sz="1500" dirty="0"/>
          </a:p>
        </p:txBody>
      </p:sp>
      <p:sp>
        <p:nvSpPr>
          <p:cNvPr id="6" name="Text 4"/>
          <p:cNvSpPr txBox="1"/>
          <p:nvPr/>
        </p:nvSpPr>
        <p:spPr>
          <a:xfrm>
            <a:off x="640080" y="3529584"/>
            <a:ext cx="5577840" cy="1005840"/>
          </a:xfrm>
          <a:prstGeom prst="rect">
            <a:avLst/>
          </a:prstGeom>
          <a:noFill/>
          <a:ln/>
        </p:spPr>
        <p:txBody>
          <a:bodyPr wrap="square" lIns="0" tIns="0" rIns="0" bIns="0" rtlCol="0" anchor="ctr"/>
          <a:lstStyle/>
          <a:p>
            <a:pPr indent="0" marL="0">
              <a:lnSpc>
                <a:spcPts val="2600"/>
              </a:lnSpc>
              <a:buNone/>
            </a:pPr>
            <a:r>
              <a:rPr lang="en-US" sz="1500" dirty="0">
                <a:solidFill>
                  <a:srgbClr val="56696A"/>
                </a:solidFill>
                <a:latin typeface="Calibri" pitchFamily="34" charset="0"/>
                <a:ea typeface="Calibri" pitchFamily="34" charset="-122"/>
                <a:cs typeface="Calibri" pitchFamily="34" charset="-120"/>
              </a:rPr>
              <a:t>The unit this project studies is the consultation itself. It starts with the single-doctor clinic, where the whole visit rests on one person, and grows into multi-doctor clinics, hospitals and health systems.</a:t>
            </a:r>
            <a:endParaRPr lang="en-US" sz="1500" dirty="0"/>
          </a:p>
        </p:txBody>
      </p:sp>
      <p:sp>
        <p:nvSpPr>
          <p:cNvPr id="7" name="Text 5"/>
          <p:cNvSpPr txBox="1"/>
          <p:nvPr/>
        </p:nvSpPr>
        <p:spPr>
          <a:xfrm>
            <a:off x="640080" y="4919472"/>
            <a:ext cx="5577840" cy="310896"/>
          </a:xfrm>
          <a:prstGeom prst="rect">
            <a:avLst/>
          </a:prstGeom>
          <a:noFill/>
          <a:ln/>
        </p:spPr>
        <p:txBody>
          <a:bodyPr wrap="square" lIns="0" tIns="0" rIns="0" bIns="0" rtlCol="0" anchor="ctr"/>
          <a:lstStyle/>
          <a:p>
            <a:pPr indent="0" marL="0">
              <a:buNone/>
            </a:pPr>
            <a:r>
              <a:rPr lang="en-US" sz="1250" b="1" dirty="0">
                <a:solidFill>
                  <a:srgbClr val="0E6E6B"/>
                </a:solidFill>
                <a:latin typeface="Calibri" pitchFamily="34" charset="0"/>
                <a:ea typeface="Calibri" pitchFamily="34" charset="-122"/>
                <a:cs typeface="Calibri" pitchFamily="34" charset="-120"/>
              </a:rPr>
              <a:t>First rung: the single-doctor clinic. Then larger institutions, then international.</a:t>
            </a:r>
            <a:endParaRPr lang="en-US" sz="1250" dirty="0"/>
          </a:p>
        </p:txBody>
      </p:sp>
      <p:sp>
        <p:nvSpPr>
          <p:cNvPr id="8" name="Shape 6"/>
          <p:cNvSpPr/>
          <p:nvPr/>
        </p:nvSpPr>
        <p:spPr>
          <a:xfrm>
            <a:off x="6720840" y="2084832"/>
            <a:ext cx="4828032" cy="1042416"/>
          </a:xfrm>
          <a:prstGeom prst="roundRect">
            <a:avLst>
              <a:gd name="adj" fmla="val 6140"/>
            </a:avLst>
          </a:prstGeom>
          <a:solidFill>
            <a:srgbClr val="EFF4F3"/>
          </a:solidFill>
          <a:ln/>
        </p:spPr>
        <p:txBody>
          <a:bodyPr/>
          <a:p/>
        </p:txBody>
      </p:sp>
      <p:sp>
        <p:nvSpPr>
          <p:cNvPr id="9" name="Text 7"/>
          <p:cNvSpPr txBox="1"/>
          <p:nvPr/>
        </p:nvSpPr>
        <p:spPr>
          <a:xfrm>
            <a:off x="7040880" y="2231136"/>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31,882</a:t>
            </a:r>
            <a:endParaRPr lang="en-US" sz="3200" dirty="0"/>
          </a:p>
        </p:txBody>
      </p:sp>
      <p:sp>
        <p:nvSpPr>
          <p:cNvPr id="10" name="Text 8"/>
          <p:cNvSpPr txBox="1"/>
          <p:nvPr/>
        </p:nvSpPr>
        <p:spPr>
          <a:xfrm>
            <a:off x="8778240" y="2231136"/>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Primary Health Centres across India</a:t>
            </a:r>
            <a:endParaRPr lang="en-US" sz="1250" dirty="0"/>
          </a:p>
        </p:txBody>
      </p:sp>
      <p:sp>
        <p:nvSpPr>
          <p:cNvPr id="11" name="Shape 9"/>
          <p:cNvSpPr/>
          <p:nvPr/>
        </p:nvSpPr>
        <p:spPr>
          <a:xfrm>
            <a:off x="6720840" y="3310128"/>
            <a:ext cx="4828032" cy="1042416"/>
          </a:xfrm>
          <a:prstGeom prst="roundRect">
            <a:avLst>
              <a:gd name="adj" fmla="val 6140"/>
            </a:avLst>
          </a:prstGeom>
          <a:solidFill>
            <a:srgbClr val="EFF4F3"/>
          </a:solidFill>
          <a:ln/>
        </p:spPr>
        <p:txBody>
          <a:bodyPr/>
          <a:p/>
        </p:txBody>
      </p:sp>
      <p:sp>
        <p:nvSpPr>
          <p:cNvPr id="12" name="Text 10"/>
          <p:cNvSpPr txBox="1"/>
          <p:nvPr/>
        </p:nvSpPr>
        <p:spPr>
          <a:xfrm>
            <a:off x="7040880" y="3456432"/>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40,583</a:t>
            </a:r>
            <a:endParaRPr lang="en-US" sz="3200" dirty="0"/>
          </a:p>
        </p:txBody>
      </p:sp>
      <p:sp>
        <p:nvSpPr>
          <p:cNvPr id="13" name="Text 11"/>
          <p:cNvSpPr txBox="1"/>
          <p:nvPr/>
        </p:nvSpPr>
        <p:spPr>
          <a:xfrm>
            <a:off x="8778240" y="3456432"/>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doctors posted across all of them</a:t>
            </a:r>
            <a:endParaRPr lang="en-US" sz="1250" dirty="0"/>
          </a:p>
        </p:txBody>
      </p:sp>
      <p:sp>
        <p:nvSpPr>
          <p:cNvPr id="14" name="Shape 12"/>
          <p:cNvSpPr/>
          <p:nvPr/>
        </p:nvSpPr>
        <p:spPr>
          <a:xfrm>
            <a:off x="6720840" y="4535424"/>
            <a:ext cx="4828032" cy="1042416"/>
          </a:xfrm>
          <a:prstGeom prst="roundRect">
            <a:avLst>
              <a:gd name="adj" fmla="val 6140"/>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5" name="Text 13"/>
          <p:cNvSpPr txBox="1"/>
          <p:nvPr/>
        </p:nvSpPr>
        <p:spPr>
          <a:xfrm>
            <a:off x="7040880" y="4681728"/>
            <a:ext cx="16916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 1.3</a:t>
            </a:r>
            <a:endParaRPr lang="en-US" sz="3200" dirty="0"/>
          </a:p>
        </p:txBody>
      </p:sp>
      <p:sp>
        <p:nvSpPr>
          <p:cNvPr id="16" name="Text 14"/>
          <p:cNvSpPr txBox="1"/>
          <p:nvPr/>
        </p:nvSpPr>
        <p:spPr>
          <a:xfrm>
            <a:off x="8778240" y="4681728"/>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AFC3C4"/>
                </a:solidFill>
                <a:latin typeface="Calibri" pitchFamily="34" charset="0"/>
                <a:ea typeface="Calibri" pitchFamily="34" charset="-122"/>
                <a:cs typeface="Calibri" pitchFamily="34" charset="-120"/>
              </a:rPr>
              <a:t>doctors per public health centre — time is scarce</a:t>
            </a:r>
            <a:endParaRPr lang="en-US" sz="1250" dirty="0"/>
          </a:p>
        </p:txBody>
      </p:sp>
      <p:sp>
        <p:nvSpPr>
          <p:cNvPr id="17" name="Text 1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Health Dynamics of India (Infrastructure &amp; Human Resources) 2022–23, Ministry of Health &amp; Family Welfare — figures as of 31 March 2023.</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METHOD</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the project was run</a:t>
            </a:r>
            <a:endParaRPr lang="en-US" sz="3400" dirty="0"/>
          </a:p>
        </p:txBody>
      </p:sp>
      <p:sp>
        <p:nvSpPr>
          <p:cNvPr id="5" name="Text 3"/>
          <p:cNvSpPr txBox="1"/>
          <p:nvPr/>
        </p:nvSpPr>
        <p:spPr>
          <a:xfrm>
            <a:off x="640080" y="1664208"/>
            <a:ext cx="8686800" cy="365760"/>
          </a:xfrm>
          <a:prstGeom prst="rect">
            <a:avLst/>
          </a:prstGeom>
          <a:noFill/>
          <a:ln/>
        </p:spPr>
        <p:txBody>
          <a:bodyPr wrap="square" lIns="0" tIns="0" rIns="0" bIns="0" rtlCol="0" anchor="ctr"/>
          <a:lstStyle/>
          <a:p>
            <a:pPr indent="0" marL="0">
              <a:buNone/>
            </a:pPr>
            <a:r>
              <a:rPr lang="en-US" sz="1450" dirty="0">
                <a:solidFill>
                  <a:srgbClr val="56696A"/>
                </a:solidFill>
                <a:latin typeface="Calibri" pitchFamily="34" charset="0"/>
                <a:ea typeface="Calibri" pitchFamily="34" charset="-122"/>
                <a:cs typeface="Calibri" pitchFamily="34" charset="-120"/>
              </a:rPr>
              <a:t>Each stage produced something the next one had to answer to. The order below is the order of this deck.</a:t>
            </a:r>
            <a:endParaRPr lang="en-US" sz="1450" dirty="0"/>
          </a:p>
        </p:txBody>
      </p:sp>
      <p:sp>
        <p:nvSpPr>
          <p:cNvPr id="6" name="Shape 4"/>
          <p:cNvSpPr/>
          <p:nvPr/>
        </p:nvSpPr>
        <p:spPr>
          <a:xfrm>
            <a:off x="1106424" y="3401568"/>
            <a:ext cx="9978847" cy="0"/>
          </a:xfrm>
          <a:prstGeom prst="line">
            <a:avLst/>
          </a:prstGeom>
          <a:noFill/>
          <a:ln w="25400">
            <a:solidFill>
              <a:srgbClr val="DFEAE8"/>
            </a:solidFill>
            <a:prstDash val="solid"/>
          </a:ln>
        </p:spPr>
        <p:txBody>
          <a:bodyPr/>
          <a:p/>
        </p:txBody>
      </p:sp>
      <p:sp>
        <p:nvSpPr>
          <p:cNvPr id="7" name="Shape 5"/>
          <p:cNvSpPr/>
          <p:nvPr/>
        </p:nvSpPr>
        <p:spPr>
          <a:xfrm>
            <a:off x="640080" y="2935224"/>
            <a:ext cx="932688" cy="932688"/>
          </a:xfrm>
          <a:prstGeom prst="ellipse">
            <a:avLst/>
          </a:prstGeom>
          <a:solidFill>
            <a:srgbClr val="0E6E6B"/>
          </a:solidFill>
          <a:ln w="25400">
            <a:solidFill>
              <a:srgbClr val="0E6E6B"/>
            </a:solidFill>
            <a:prstDash val="solid"/>
          </a:ln>
          <a:effectLst>
            <a:outerShdw sx="100000" sy="100000" kx="0" ky="0" algn="bl" rotWithShape="0" blurRad="101600" dist="25400" dir="5400000">
              <a:srgbClr val="0B2B2E">
                <a:alpha val="7000"/>
              </a:srgbClr>
            </a:outerShdw>
          </a:effectLst>
        </p:spPr>
        <p:txBody>
          <a:bodyPr/>
          <a:p/>
        </p:txBody>
      </p:sp>
      <p:sp>
        <p:nvSpPr>
          <p:cNvPr id="8" name="Text 6"/>
          <p:cNvSpPr txBox="1"/>
          <p:nvPr/>
        </p:nvSpPr>
        <p:spPr>
          <a:xfrm>
            <a:off x="640080" y="2935224"/>
            <a:ext cx="932688" cy="9326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01</a:t>
            </a:r>
            <a:endParaRPr lang="en-US" sz="2000" dirty="0"/>
          </a:p>
        </p:txBody>
      </p:sp>
      <p:sp>
        <p:nvSpPr>
          <p:cNvPr id="9" name="Text 7"/>
          <p:cNvSpPr txBox="1"/>
          <p:nvPr/>
        </p:nvSpPr>
        <p:spPr>
          <a:xfrm>
            <a:off x="73152"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Empathize</a:t>
            </a:r>
            <a:endParaRPr lang="en-US" sz="1450" dirty="0"/>
          </a:p>
        </p:txBody>
      </p:sp>
      <p:sp>
        <p:nvSpPr>
          <p:cNvPr id="10" name="Text 8"/>
          <p:cNvSpPr txBox="1"/>
          <p:nvPr/>
        </p:nvSpPr>
        <p:spPr>
          <a:xfrm>
            <a:off x="73152"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Interviews and</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observation in</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real clinics</a:t>
            </a:r>
            <a:endParaRPr lang="en-US" sz="1150" dirty="0"/>
          </a:p>
        </p:txBody>
      </p:sp>
      <p:sp>
        <p:nvSpPr>
          <p:cNvPr id="11" name="Shape 9"/>
          <p:cNvSpPr/>
          <p:nvPr/>
        </p:nvSpPr>
        <p:spPr>
          <a:xfrm>
            <a:off x="3134792"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txBody>
          <a:bodyPr/>
          <a:p/>
        </p:txBody>
      </p:sp>
      <p:sp>
        <p:nvSpPr>
          <p:cNvPr id="12" name="Text 10"/>
          <p:cNvSpPr txBox="1"/>
          <p:nvPr/>
        </p:nvSpPr>
        <p:spPr>
          <a:xfrm>
            <a:off x="3134792"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02</a:t>
            </a:r>
            <a:endParaRPr lang="en-US" sz="2000" dirty="0"/>
          </a:p>
        </p:txBody>
      </p:sp>
      <p:sp>
        <p:nvSpPr>
          <p:cNvPr id="13" name="Text 11"/>
          <p:cNvSpPr txBox="1"/>
          <p:nvPr/>
        </p:nvSpPr>
        <p:spPr>
          <a:xfrm>
            <a:off x="2567864"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Define</a:t>
            </a:r>
            <a:endParaRPr lang="en-US" sz="1450" dirty="0"/>
          </a:p>
        </p:txBody>
      </p:sp>
      <p:sp>
        <p:nvSpPr>
          <p:cNvPr id="14" name="Text 12"/>
          <p:cNvSpPr txBox="1"/>
          <p:nvPr/>
        </p:nvSpPr>
        <p:spPr>
          <a:xfrm>
            <a:off x="2567864"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One problem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statement the</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team agreed on</a:t>
            </a:r>
            <a:endParaRPr lang="en-US" sz="1150" dirty="0"/>
          </a:p>
        </p:txBody>
      </p:sp>
      <p:sp>
        <p:nvSpPr>
          <p:cNvPr id="15" name="Shape 13"/>
          <p:cNvSpPr/>
          <p:nvPr/>
        </p:nvSpPr>
        <p:spPr>
          <a:xfrm>
            <a:off x="5629504"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txBody>
          <a:bodyPr/>
          <a:p/>
        </p:txBody>
      </p:sp>
      <p:sp>
        <p:nvSpPr>
          <p:cNvPr id="16" name="Text 14"/>
          <p:cNvSpPr txBox="1"/>
          <p:nvPr/>
        </p:nvSpPr>
        <p:spPr>
          <a:xfrm>
            <a:off x="5629504"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03</a:t>
            </a:r>
            <a:endParaRPr lang="en-US" sz="2000" dirty="0"/>
          </a:p>
        </p:txBody>
      </p:sp>
      <p:sp>
        <p:nvSpPr>
          <p:cNvPr id="17" name="Text 15"/>
          <p:cNvSpPr txBox="1"/>
          <p:nvPr/>
        </p:nvSpPr>
        <p:spPr>
          <a:xfrm>
            <a:off x="5062576"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Ideate</a:t>
            </a:r>
            <a:endParaRPr lang="en-US" sz="1450" dirty="0"/>
          </a:p>
        </p:txBody>
      </p:sp>
      <p:sp>
        <p:nvSpPr>
          <p:cNvPr id="18" name="Text 16"/>
          <p:cNvSpPr txBox="1"/>
          <p:nvPr/>
        </p:nvSpPr>
        <p:spPr>
          <a:xfrm>
            <a:off x="5062576"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Four options,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three of them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rejected</a:t>
            </a:r>
            <a:endParaRPr lang="en-US" sz="1150" dirty="0"/>
          </a:p>
        </p:txBody>
      </p:sp>
      <p:sp>
        <p:nvSpPr>
          <p:cNvPr id="19" name="Shape 17"/>
          <p:cNvSpPr/>
          <p:nvPr/>
        </p:nvSpPr>
        <p:spPr>
          <a:xfrm>
            <a:off x="8124215"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txBody>
          <a:bodyPr/>
          <a:p/>
        </p:txBody>
      </p:sp>
      <p:sp>
        <p:nvSpPr>
          <p:cNvPr id="20" name="Text 18"/>
          <p:cNvSpPr txBox="1"/>
          <p:nvPr/>
        </p:nvSpPr>
        <p:spPr>
          <a:xfrm>
            <a:off x="8124215"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04</a:t>
            </a:r>
            <a:endParaRPr lang="en-US" sz="2000" dirty="0"/>
          </a:p>
        </p:txBody>
      </p:sp>
      <p:sp>
        <p:nvSpPr>
          <p:cNvPr id="21" name="Text 19"/>
          <p:cNvSpPr txBox="1"/>
          <p:nvPr/>
        </p:nvSpPr>
        <p:spPr>
          <a:xfrm>
            <a:off x="7557287"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Prototype</a:t>
            </a:r>
            <a:endParaRPr lang="en-US" sz="1450" dirty="0"/>
          </a:p>
        </p:txBody>
      </p:sp>
      <p:sp>
        <p:nvSpPr>
          <p:cNvPr id="22" name="Text 20"/>
          <p:cNvSpPr txBox="1"/>
          <p:nvPr/>
        </p:nvSpPr>
        <p:spPr>
          <a:xfrm>
            <a:off x="7557287"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A working app,</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not a mockup</a:t>
            </a:r>
            <a:endParaRPr lang="en-US" sz="1150" dirty="0"/>
          </a:p>
        </p:txBody>
      </p:sp>
      <p:sp>
        <p:nvSpPr>
          <p:cNvPr id="23" name="Shape 21"/>
          <p:cNvSpPr/>
          <p:nvPr/>
        </p:nvSpPr>
        <p:spPr>
          <a:xfrm>
            <a:off x="10618927"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txBody>
          <a:bodyPr/>
          <a:p/>
        </p:txBody>
      </p:sp>
      <p:sp>
        <p:nvSpPr>
          <p:cNvPr id="24" name="Text 22"/>
          <p:cNvSpPr txBox="1"/>
          <p:nvPr/>
        </p:nvSpPr>
        <p:spPr>
          <a:xfrm>
            <a:off x="10618927"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05</a:t>
            </a:r>
            <a:endParaRPr lang="en-US" sz="2000" dirty="0"/>
          </a:p>
        </p:txBody>
      </p:sp>
      <p:sp>
        <p:nvSpPr>
          <p:cNvPr id="25" name="Text 23"/>
          <p:cNvSpPr txBox="1"/>
          <p:nvPr/>
        </p:nvSpPr>
        <p:spPr>
          <a:xfrm>
            <a:off x="10051999"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Test</a:t>
            </a:r>
            <a:endParaRPr lang="en-US" sz="1450" dirty="0"/>
          </a:p>
        </p:txBody>
      </p:sp>
      <p:sp>
        <p:nvSpPr>
          <p:cNvPr id="26" name="Text 24"/>
          <p:cNvSpPr txBox="1"/>
          <p:nvPr/>
        </p:nvSpPr>
        <p:spPr>
          <a:xfrm>
            <a:off x="10051999"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Falsifiable gates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with numbers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set in advance</a:t>
            </a:r>
            <a:endParaRPr lang="en-US" sz="1150" dirty="0"/>
          </a:p>
        </p:txBody>
      </p:sp>
      <p:sp>
        <p:nvSpPr>
          <p:cNvPr id="27" name="Text 2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Stanford d.school five-stage model, applied to a single field problem rather than a hypothetical brief.</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set out to listen</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2" name="Shape 10"/>
          <p:cNvSpPr/>
          <p:nvPr/>
        </p:nvSpPr>
        <p:spPr>
          <a:xfrm>
            <a:off x="1024128" y="2423160"/>
            <a:ext cx="658368" cy="658368"/>
          </a:xfrm>
          <a:prstGeom prst="ellipse">
            <a:avLst/>
          </a:prstGeom>
          <a:solidFill>
            <a:srgbClr val="0E6E6B"/>
          </a:solidFill>
          <a:ln/>
        </p:spPr>
        <p:txBody>
          <a:bodyPr/>
          <a:p/>
        </p:txBody>
      </p:sp>
      <p:pic>
        <p:nvPicPr>
          <p:cNvPr id="13" name="Image 0" descr="preencoded.png">    </p:cNvPr>
          <p:cNvPicPr>
            <a:picLocks noChangeAspect="1"/>
          </p:cNvPicPr>
          <p:nvPr/>
        </p:nvPicPr>
        <p:blipFill>
          <a:blip r:embed="rId1"/>
          <a:stretch>
            <a:fillRect/>
          </a:stretch>
        </p:blipFill>
        <p:spPr>
          <a:xfrm>
            <a:off x="1188720" y="2587752"/>
            <a:ext cx="329184" cy="329184"/>
          </a:xfrm>
          <a:prstGeom prst="rect">
            <a:avLst/>
          </a:prstGeom>
        </p:spPr>
      </p:pic>
      <p:sp>
        <p:nvSpPr>
          <p:cNvPr id="14" name="Text 11"/>
          <p:cNvSpPr txBox="1"/>
          <p:nvPr/>
        </p:nvSpPr>
        <p:spPr>
          <a:xfrm>
            <a:off x="1024128"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Discovery interviews</a:t>
            </a:r>
            <a:endParaRPr lang="en-US" sz="1650" dirty="0"/>
          </a:p>
        </p:txBody>
      </p:sp>
      <p:sp>
        <p:nvSpPr>
          <p:cNvPr id="15" name="Text 12"/>
          <p:cNvSpPr txBox="1"/>
          <p:nvPr/>
        </p:nvSpPr>
        <p:spPr>
          <a:xfrm>
            <a:off x="1024128"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Twenty conversations with practising doctors, using a script that never mentions software — only what their day actually contains.</a:t>
            </a:r>
            <a:endParaRPr lang="en-US" sz="1250" dirty="0"/>
          </a:p>
        </p:txBody>
      </p:sp>
      <p:sp>
        <p:nvSpPr>
          <p:cNvPr id="16" name="Text 13"/>
          <p:cNvSpPr txBox="1"/>
          <p:nvPr/>
        </p:nvSpPr>
        <p:spPr>
          <a:xfrm>
            <a:off x="1024128"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20 doctors · 30 minutes each</a:t>
            </a:r>
            <a:endParaRPr lang="en-US" sz="1100" dirty="0"/>
          </a:p>
        </p:txBody>
      </p:sp>
      <p:sp>
        <p:nvSpPr>
          <p:cNvPr id="17" name="Shape 14"/>
          <p:cNvSpPr/>
          <p:nvPr/>
        </p:nvSpPr>
        <p:spPr>
          <a:xfrm>
            <a:off x="4338218"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5"/>
          <p:cNvSpPr/>
          <p:nvPr/>
        </p:nvSpPr>
        <p:spPr>
          <a:xfrm>
            <a:off x="4722266" y="2423160"/>
            <a:ext cx="658368" cy="658368"/>
          </a:xfrm>
          <a:prstGeom prst="ellipse">
            <a:avLst/>
          </a:prstGeom>
          <a:solidFill>
            <a:srgbClr val="0E6E6B"/>
          </a:solidFill>
          <a:ln/>
        </p:spPr>
        <p:txBody>
          <a:bodyPr/>
          <a:p/>
        </p:txBody>
      </p:sp>
      <p:pic>
        <p:nvPicPr>
          <p:cNvPr id="19" name="Image 1" descr="preencoded.png">    </p:cNvPr>
          <p:cNvPicPr>
            <a:picLocks noChangeAspect="1"/>
          </p:cNvPicPr>
          <p:nvPr/>
        </p:nvPicPr>
        <p:blipFill>
          <a:blip r:embed="rId2"/>
          <a:stretch>
            <a:fillRect/>
          </a:stretch>
        </p:blipFill>
        <p:spPr>
          <a:xfrm>
            <a:off x="4886858" y="2587752"/>
            <a:ext cx="329184" cy="329184"/>
          </a:xfrm>
          <a:prstGeom prst="rect">
            <a:avLst/>
          </a:prstGeom>
        </p:spPr>
      </p:pic>
      <p:sp>
        <p:nvSpPr>
          <p:cNvPr id="20" name="Text 16"/>
          <p:cNvSpPr txBox="1"/>
          <p:nvPr/>
        </p:nvSpPr>
        <p:spPr>
          <a:xfrm>
            <a:off x="4722266"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Sitting in the room</a:t>
            </a:r>
            <a:endParaRPr lang="en-US" sz="1650" dirty="0"/>
          </a:p>
        </p:txBody>
      </p:sp>
      <p:sp>
        <p:nvSpPr>
          <p:cNvPr id="21" name="Text 17"/>
          <p:cNvSpPr txBox="1"/>
          <p:nvPr/>
        </p:nvSpPr>
        <p:spPr>
          <a:xfrm>
            <a:off x="4722266"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Watching consultations end to end and timing what really happens, rather than asking a doctor to recall it afterwards.</a:t>
            </a:r>
            <a:endParaRPr lang="en-US" sz="1250" dirty="0"/>
          </a:p>
        </p:txBody>
      </p:sp>
      <p:sp>
        <p:nvSpPr>
          <p:cNvPr id="22" name="Text 18"/>
          <p:cNvSpPr txBox="1"/>
          <p:nvPr/>
        </p:nvSpPr>
        <p:spPr>
          <a:xfrm>
            <a:off x="4722266"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Observation, not recall</a:t>
            </a:r>
            <a:endParaRPr lang="en-US" sz="1100" dirty="0"/>
          </a:p>
        </p:txBody>
      </p:sp>
      <p:sp>
        <p:nvSpPr>
          <p:cNvPr id="23" name="Shape 19"/>
          <p:cNvSpPr/>
          <p:nvPr/>
        </p:nvSpPr>
        <p:spPr>
          <a:xfrm>
            <a:off x="8036357"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4" name="Shape 20"/>
          <p:cNvSpPr/>
          <p:nvPr/>
        </p:nvSpPr>
        <p:spPr>
          <a:xfrm>
            <a:off x="8420405" y="2423160"/>
            <a:ext cx="658368" cy="658368"/>
          </a:xfrm>
          <a:prstGeom prst="ellipse">
            <a:avLst/>
          </a:prstGeom>
          <a:solidFill>
            <a:srgbClr val="0E6E6B"/>
          </a:solidFill>
          <a:ln/>
        </p:spPr>
        <p:txBody>
          <a:bodyPr/>
          <a:p/>
        </p:txBody>
      </p:sp>
      <p:pic>
        <p:nvPicPr>
          <p:cNvPr id="25" name="Image 2" descr="preencoded.png">    </p:cNvPr>
          <p:cNvPicPr>
            <a:picLocks noChangeAspect="1"/>
          </p:cNvPicPr>
          <p:nvPr/>
        </p:nvPicPr>
        <p:blipFill>
          <a:blip r:embed="rId3"/>
          <a:stretch>
            <a:fillRect/>
          </a:stretch>
        </p:blipFill>
        <p:spPr>
          <a:xfrm>
            <a:off x="8584997" y="2587752"/>
            <a:ext cx="329184" cy="329184"/>
          </a:xfrm>
          <a:prstGeom prst="rect">
            <a:avLst/>
          </a:prstGeom>
        </p:spPr>
      </p:pic>
      <p:sp>
        <p:nvSpPr>
          <p:cNvPr id="26" name="Text 21"/>
          <p:cNvSpPr txBox="1"/>
          <p:nvPr/>
        </p:nvSpPr>
        <p:spPr>
          <a:xfrm>
            <a:off x="8420405"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Consent, co-designed</a:t>
            </a:r>
            <a:endParaRPr lang="en-US" sz="1650" dirty="0"/>
          </a:p>
        </p:txBody>
      </p:sp>
      <p:sp>
        <p:nvSpPr>
          <p:cNvPr id="27" name="Text 22"/>
          <p:cNvSpPr txBox="1"/>
          <p:nvPr/>
        </p:nvSpPr>
        <p:spPr>
          <a:xfrm>
            <a:off x="8420405"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Writing the spoken consent line in Bengali together with the people who will have to say yes to it, out loud, in front of a queue.</a:t>
            </a:r>
            <a:endParaRPr lang="en-US" sz="1250" dirty="0"/>
          </a:p>
        </p:txBody>
      </p:sp>
      <p:sp>
        <p:nvSpPr>
          <p:cNvPr id="28" name="Text 23"/>
          <p:cNvSpPr txBox="1"/>
          <p:nvPr/>
        </p:nvSpPr>
        <p:spPr>
          <a:xfrm>
            <a:off x="8420405"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Bengali and English</a:t>
            </a:r>
            <a:endParaRPr lang="en-US" sz="1100" dirty="0"/>
          </a:p>
        </p:txBody>
      </p:sp>
      <p:sp>
        <p:nvSpPr>
          <p:cNvPr id="29" name="Shape 24"/>
          <p:cNvSpPr/>
          <p:nvPr/>
        </p:nvSpPr>
        <p:spPr>
          <a:xfrm>
            <a:off x="640080" y="5230368"/>
            <a:ext cx="10911535" cy="786384"/>
          </a:xfrm>
          <a:prstGeom prst="roundRect">
            <a:avLst>
              <a:gd name="adj" fmla="val 8140"/>
            </a:avLst>
          </a:prstGeom>
          <a:solidFill>
            <a:srgbClr val="EFF4F3"/>
          </a:solidFill>
          <a:ln/>
        </p:spPr>
        <p:txBody>
          <a:bodyPr/>
          <a:p/>
        </p:txBody>
      </p:sp>
      <p:sp>
        <p:nvSpPr>
          <p:cNvPr id="30" name="Text 25"/>
          <p:cNvSpPr txBox="1"/>
          <p:nvPr/>
        </p:nvSpPr>
        <p:spPr>
          <a:xfrm>
            <a:off x="960120" y="5230368"/>
            <a:ext cx="10271455" cy="786384"/>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Why the script matters:  a doctor asked “would you use an AI scribe?” will say yes. A doctor asked “what took the longest yesterday?” will tell you the truth. Every leading question we removed made the finding harder to fake.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know, and what we must still hear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2011680"/>
            <a:ext cx="5532120" cy="3703320"/>
          </a:xfrm>
          <a:prstGeom prst="roundRect">
            <a:avLst>
              <a:gd name="adj" fmla="val 1728"/>
            </a:avLst>
          </a:prstGeom>
          <a:solidFill>
            <a:srgbClr val="EFF4F3"/>
          </a:solidFill>
          <a:ln/>
        </p:spPr>
        <p:txBody>
          <a:bodyPr/>
          <a:p/>
        </p:txBody>
      </p:sp>
      <p:sp>
        <p:nvSpPr>
          <p:cNvPr id="12" name="Text 10"/>
          <p:cNvSpPr txBox="1"/>
          <p:nvPr/>
        </p:nvSpPr>
        <p:spPr>
          <a:xfrm>
            <a:off x="987552" y="2286000"/>
            <a:ext cx="4846320" cy="256032"/>
          </a:xfrm>
          <a:prstGeom prst="rect">
            <a:avLst/>
          </a:prstGeom>
          <a:noFill/>
          <a:ln/>
        </p:spPr>
        <p:txBody>
          <a:bodyPr wrap="square" lIns="0" tIns="0" rIns="0" bIns="0" rtlCol="0" anchor="ctr"/>
          <a:lstStyle/>
          <a:p>
            <a:pPr indent="0" marL="0">
              <a:buNone/>
            </a:pPr>
            <a:r>
              <a:rPr lang="en-US" sz="1050" b="1" spc="200" kern="0" dirty="0">
                <a:solidFill>
                  <a:srgbClr val="0E6E6B"/>
                </a:solidFill>
                <a:latin typeface="Calibri" pitchFamily="34" charset="0"/>
                <a:ea typeface="Calibri" pitchFamily="34" charset="-122"/>
                <a:cs typeface="Calibri" pitchFamily="34" charset="-120"/>
              </a:rPr>
              <a:t>ALREADY DOCUMENTED</a:t>
            </a:r>
            <a:endParaRPr lang="en-US" sz="1050" dirty="0"/>
          </a:p>
        </p:txBody>
      </p:sp>
      <p:sp>
        <p:nvSpPr>
          <p:cNvPr id="13" name="Text 11"/>
          <p:cNvSpPr txBox="1"/>
          <p:nvPr/>
        </p:nvSpPr>
        <p:spPr>
          <a:xfrm>
            <a:off x="987552" y="2697480"/>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 2 min</a:t>
            </a:r>
            <a:endParaRPr lang="en-US" sz="2100" dirty="0"/>
          </a:p>
        </p:txBody>
      </p:sp>
      <p:sp>
        <p:nvSpPr>
          <p:cNvPr id="14" name="Text 12"/>
          <p:cNvSpPr txBox="1"/>
          <p:nvPr/>
        </p:nvSpPr>
        <p:spPr>
          <a:xfrm>
            <a:off x="2286000" y="2670048"/>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the average primary-care consultation in India — against 22.5 minutes in Sweden</a:t>
            </a:r>
            <a:endParaRPr lang="en-US" sz="1200" dirty="0"/>
          </a:p>
        </p:txBody>
      </p:sp>
      <p:sp>
        <p:nvSpPr>
          <p:cNvPr id="15" name="Text 13"/>
          <p:cNvSpPr txBox="1"/>
          <p:nvPr/>
        </p:nvSpPr>
        <p:spPr>
          <a:xfrm>
            <a:off x="987552" y="3666744"/>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49.2%</a:t>
            </a:r>
            <a:endParaRPr lang="en-US" sz="2100" dirty="0"/>
          </a:p>
        </p:txBody>
      </p:sp>
      <p:sp>
        <p:nvSpPr>
          <p:cNvPr id="16" name="Text 14"/>
          <p:cNvSpPr txBox="1"/>
          <p:nvPr/>
        </p:nvSpPr>
        <p:spPr>
          <a:xfrm>
            <a:off x="2286000" y="3639312"/>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of a physician's office time goes to records and desk work; 27.0% to the patient in front of them</a:t>
            </a:r>
            <a:endParaRPr lang="en-US" sz="1200" dirty="0"/>
          </a:p>
        </p:txBody>
      </p:sp>
      <p:sp>
        <p:nvSpPr>
          <p:cNvPr id="17" name="Text 15"/>
          <p:cNvSpPr txBox="1"/>
          <p:nvPr/>
        </p:nvSpPr>
        <p:spPr>
          <a:xfrm>
            <a:off x="987552" y="4636008"/>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18</a:t>
            </a:r>
            <a:endParaRPr lang="en-US" sz="2100" dirty="0"/>
          </a:p>
        </p:txBody>
      </p:sp>
      <p:sp>
        <p:nvSpPr>
          <p:cNvPr id="18" name="Text 16"/>
          <p:cNvSpPr txBox="1"/>
          <p:nvPr/>
        </p:nvSpPr>
        <p:spPr>
          <a:xfrm>
            <a:off x="2286000" y="4608576"/>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countries, about half the world's population, get five minutes or less</a:t>
            </a:r>
            <a:endParaRPr lang="en-US" sz="1200" dirty="0"/>
          </a:p>
        </p:txBody>
      </p:sp>
      <p:sp>
        <p:nvSpPr>
          <p:cNvPr id="19" name="Shape 17"/>
          <p:cNvSpPr/>
          <p:nvPr/>
        </p:nvSpPr>
        <p:spPr>
          <a:xfrm>
            <a:off x="6656832" y="2011680"/>
            <a:ext cx="4892040" cy="3703320"/>
          </a:xfrm>
          <a:prstGeom prst="roundRect">
            <a:avLst>
              <a:gd name="adj" fmla="val 2222"/>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20" name="Text 18"/>
          <p:cNvSpPr txBox="1"/>
          <p:nvPr/>
        </p:nvSpPr>
        <p:spPr>
          <a:xfrm>
            <a:off x="7004304" y="2286000"/>
            <a:ext cx="420624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WHAT WE STILL HAVE TO HEAR OURSELVES</a:t>
            </a:r>
            <a:endParaRPr lang="en-US" sz="1050" dirty="0"/>
          </a:p>
        </p:txBody>
      </p:sp>
      <p:sp>
        <p:nvSpPr>
          <p:cNvPr id="21" name="Shape 19"/>
          <p:cNvSpPr/>
          <p:nvPr/>
        </p:nvSpPr>
        <p:spPr>
          <a:xfrm>
            <a:off x="7004304" y="2898648"/>
            <a:ext cx="137160" cy="137160"/>
          </a:xfrm>
          <a:prstGeom prst="ellipse">
            <a:avLst/>
          </a:prstGeom>
          <a:solidFill>
            <a:srgbClr val="5FB3AB"/>
          </a:solidFill>
          <a:ln/>
        </p:spPr>
        <p:txBody>
          <a:bodyPr/>
          <a:p/>
        </p:txBody>
      </p:sp>
      <p:sp>
        <p:nvSpPr>
          <p:cNvPr id="22" name="Text 20"/>
          <p:cNvSpPr txBox="1"/>
          <p:nvPr/>
        </p:nvSpPr>
        <p:spPr>
          <a:xfrm>
            <a:off x="7296912" y="2724912"/>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actually took the longest in your clinic yesterday?</a:t>
            </a:r>
            <a:endParaRPr lang="en-US" sz="1250" dirty="0"/>
          </a:p>
        </p:txBody>
      </p:sp>
      <p:sp>
        <p:nvSpPr>
          <p:cNvPr id="23" name="Shape 21"/>
          <p:cNvSpPr/>
          <p:nvPr/>
        </p:nvSpPr>
        <p:spPr>
          <a:xfrm>
            <a:off x="7004304" y="3611880"/>
            <a:ext cx="137160" cy="137160"/>
          </a:xfrm>
          <a:prstGeom prst="ellipse">
            <a:avLst/>
          </a:prstGeom>
          <a:solidFill>
            <a:srgbClr val="5FB3AB"/>
          </a:solidFill>
          <a:ln/>
        </p:spPr>
        <p:txBody>
          <a:bodyPr/>
          <a:p/>
        </p:txBody>
      </p:sp>
      <p:sp>
        <p:nvSpPr>
          <p:cNvPr id="24" name="Text 22"/>
          <p:cNvSpPr txBox="1"/>
          <p:nvPr/>
        </p:nvSpPr>
        <p:spPr>
          <a:xfrm>
            <a:off x="7296912" y="3438144"/>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Show me how you would find this patient's last visit.</a:t>
            </a:r>
            <a:endParaRPr lang="en-US" sz="1250" dirty="0"/>
          </a:p>
        </p:txBody>
      </p:sp>
      <p:sp>
        <p:nvSpPr>
          <p:cNvPr id="25" name="Shape 23"/>
          <p:cNvSpPr/>
          <p:nvPr/>
        </p:nvSpPr>
        <p:spPr>
          <a:xfrm>
            <a:off x="7004304" y="4325112"/>
            <a:ext cx="137160" cy="137160"/>
          </a:xfrm>
          <a:prstGeom prst="ellipse">
            <a:avLst/>
          </a:prstGeom>
          <a:solidFill>
            <a:srgbClr val="5FB3AB"/>
          </a:solidFill>
          <a:ln/>
        </p:spPr>
        <p:txBody>
          <a:bodyPr/>
          <a:p/>
        </p:txBody>
      </p:sp>
      <p:sp>
        <p:nvSpPr>
          <p:cNvPr id="26" name="Text 24"/>
          <p:cNvSpPr txBox="1"/>
          <p:nvPr/>
        </p:nvSpPr>
        <p:spPr>
          <a:xfrm>
            <a:off x="7296912" y="4151376"/>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happens to the register when it is full?</a:t>
            </a:r>
            <a:endParaRPr lang="en-US" sz="1250" dirty="0"/>
          </a:p>
        </p:txBody>
      </p:sp>
      <p:sp>
        <p:nvSpPr>
          <p:cNvPr id="27" name="Shape 25"/>
          <p:cNvSpPr/>
          <p:nvPr/>
        </p:nvSpPr>
        <p:spPr>
          <a:xfrm>
            <a:off x="7004304" y="5038344"/>
            <a:ext cx="137160" cy="137160"/>
          </a:xfrm>
          <a:prstGeom prst="ellipse">
            <a:avLst/>
          </a:prstGeom>
          <a:solidFill>
            <a:srgbClr val="5FB3AB"/>
          </a:solidFill>
          <a:ln/>
        </p:spPr>
        <p:txBody>
          <a:bodyPr/>
          <a:p/>
        </p:txBody>
      </p:sp>
      <p:sp>
        <p:nvSpPr>
          <p:cNvPr id="28" name="Text 26"/>
          <p:cNvSpPr txBox="1"/>
          <p:nvPr/>
        </p:nvSpPr>
        <p:spPr>
          <a:xfrm>
            <a:off x="7296912" y="4864608"/>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would make you stop using something on day three?</a:t>
            </a:r>
            <a:endParaRPr lang="en-US" sz="1250" dirty="0"/>
          </a:p>
        </p:txBody>
      </p:sp>
      <p:sp>
        <p:nvSpPr>
          <p:cNvPr id="29" name="Text 27"/>
          <p:cNvSpPr txBox="1"/>
          <p:nvPr/>
        </p:nvSpPr>
        <p:spPr>
          <a:xfrm>
            <a:off x="640080" y="5870448"/>
            <a:ext cx="10911535" cy="38404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Published evidence tells us the shape of the problem. It cannot tell us this clinic's version of it — that is what the interviews are for, and the deck marks clearly which is which.</a:t>
            </a:r>
            <a:endParaRPr lang="en-US" sz="1200" dirty="0"/>
          </a:p>
        </p:txBody>
      </p:sp>
      <p:sp>
        <p:nvSpPr>
          <p:cNvPr id="30" name="Text 28"/>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Irving et al., BMJ Open 7(10), 2017 · Sinsky et al., Annals of Internal Medicine, 2016.</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assumption that broke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1993392"/>
            <a:ext cx="3401568" cy="1755648"/>
          </a:xfrm>
          <a:prstGeom prst="roundRect">
            <a:avLst>
              <a:gd name="adj" fmla="val 3646"/>
            </a:avLst>
          </a:prstGeom>
          <a:solidFill>
            <a:srgbClr val="FFFFFF"/>
          </a:solidFill>
          <a:ln w="12700">
            <a:solidFill>
              <a:srgbClr val="DFEAE8"/>
            </a:solidFill>
            <a:prstDash val="solid"/>
          </a:ln>
        </p:spPr>
        <p:txBody>
          <a:bodyPr/>
          <a:p/>
        </p:txBody>
      </p:sp>
      <p:sp>
        <p:nvSpPr>
          <p:cNvPr id="12" name="Text 10"/>
          <p:cNvSpPr txBox="1"/>
          <p:nvPr/>
        </p:nvSpPr>
        <p:spPr>
          <a:xfrm>
            <a:off x="896112" y="2176272"/>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13" name="Text 11"/>
          <p:cNvSpPr txBox="1"/>
          <p:nvPr/>
        </p:nvSpPr>
        <p:spPr>
          <a:xfrm>
            <a:off x="89611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Clinics are offline. Connectivity is the binding constraint.</a:t>
            </a:r>
            <a:endParaRPr lang="en-US" sz="1250" dirty="0"/>
          </a:p>
        </p:txBody>
      </p:sp>
      <p:sp>
        <p:nvSpPr>
          <p:cNvPr id="14" name="Shape 12"/>
          <p:cNvSpPr/>
          <p:nvPr/>
        </p:nvSpPr>
        <p:spPr>
          <a:xfrm>
            <a:off x="4389120" y="1993392"/>
            <a:ext cx="3401568" cy="1755648"/>
          </a:xfrm>
          <a:prstGeom prst="roundRect">
            <a:avLst>
              <a:gd name="adj" fmla="val 3646"/>
            </a:avLst>
          </a:prstGeom>
          <a:solidFill>
            <a:srgbClr val="EFF4F3"/>
          </a:solidFill>
          <a:ln/>
        </p:spPr>
        <p:txBody>
          <a:bodyPr/>
          <a:p/>
        </p:txBody>
      </p:sp>
      <p:sp>
        <p:nvSpPr>
          <p:cNvPr id="15" name="Text 13"/>
          <p:cNvSpPr txBox="1"/>
          <p:nvPr/>
        </p:nvSpPr>
        <p:spPr>
          <a:xfrm>
            <a:off x="4645152" y="2176272"/>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16" name="Text 14"/>
          <p:cNvSpPr txBox="1"/>
          <p:nvPr/>
        </p:nvSpPr>
        <p:spPr>
          <a:xfrm>
            <a:off x="464515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Internet access now reaches a large majority of Indian households — the gap is far smaller than we assumed.</a:t>
            </a:r>
            <a:endParaRPr lang="en-US" sz="1250" dirty="0"/>
          </a:p>
        </p:txBody>
      </p:sp>
      <p:sp>
        <p:nvSpPr>
          <p:cNvPr id="17" name="Shape 15"/>
          <p:cNvSpPr/>
          <p:nvPr/>
        </p:nvSpPr>
        <p:spPr>
          <a:xfrm>
            <a:off x="8138160" y="1993392"/>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8" name="Text 16"/>
          <p:cNvSpPr txBox="1"/>
          <p:nvPr/>
        </p:nvSpPr>
        <p:spPr>
          <a:xfrm>
            <a:off x="8394192" y="2176272"/>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19" name="Text 17"/>
          <p:cNvSpPr txBox="1"/>
          <p:nvPr/>
        </p:nvSpPr>
        <p:spPr>
          <a:xfrm>
            <a:off x="839419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The constraint is not the absence of a connection. It is what a dropped one costs mid-consultation.</a:t>
            </a:r>
            <a:endParaRPr lang="en-US" sz="1250" dirty="0"/>
          </a:p>
        </p:txBody>
      </p:sp>
      <p:sp>
        <p:nvSpPr>
          <p:cNvPr id="20" name="Text 18"/>
          <p:cNvSpPr txBox="1"/>
          <p:nvPr/>
        </p:nvSpPr>
        <p:spPr>
          <a:xfrm>
            <a:off x="412394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1" name="Text 19"/>
          <p:cNvSpPr txBox="1"/>
          <p:nvPr/>
        </p:nvSpPr>
        <p:spPr>
          <a:xfrm>
            <a:off x="787298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640080" y="3986784"/>
            <a:ext cx="3401568" cy="1755648"/>
          </a:xfrm>
          <a:prstGeom prst="roundRect">
            <a:avLst>
              <a:gd name="adj" fmla="val 3646"/>
            </a:avLst>
          </a:prstGeom>
          <a:solidFill>
            <a:srgbClr val="FFFFFF"/>
          </a:solidFill>
          <a:ln w="12700">
            <a:solidFill>
              <a:srgbClr val="DFEAE8"/>
            </a:solidFill>
            <a:prstDash val="solid"/>
          </a:ln>
        </p:spPr>
        <p:txBody>
          <a:bodyPr/>
          <a:p/>
        </p:txBody>
      </p:sp>
      <p:sp>
        <p:nvSpPr>
          <p:cNvPr id="23" name="Text 21"/>
          <p:cNvSpPr txBox="1"/>
          <p:nvPr/>
        </p:nvSpPr>
        <p:spPr>
          <a:xfrm>
            <a:off x="896112" y="4169664"/>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24" name="Text 22"/>
          <p:cNvSpPr txBox="1"/>
          <p:nvPr/>
        </p:nvSpPr>
        <p:spPr>
          <a:xfrm>
            <a:off x="89611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Give the clinic an electronic record and the paperwork problem goes away.</a:t>
            </a:r>
            <a:endParaRPr lang="en-US" sz="1250" dirty="0"/>
          </a:p>
        </p:txBody>
      </p:sp>
      <p:sp>
        <p:nvSpPr>
          <p:cNvPr id="25" name="Shape 23"/>
          <p:cNvSpPr/>
          <p:nvPr/>
        </p:nvSpPr>
        <p:spPr>
          <a:xfrm>
            <a:off x="4389120" y="3986784"/>
            <a:ext cx="3401568" cy="1755648"/>
          </a:xfrm>
          <a:prstGeom prst="roundRect">
            <a:avLst>
              <a:gd name="adj" fmla="val 3646"/>
            </a:avLst>
          </a:prstGeom>
          <a:solidFill>
            <a:srgbClr val="EFF4F3"/>
          </a:solidFill>
          <a:ln/>
        </p:spPr>
        <p:txBody>
          <a:bodyPr/>
          <a:p/>
        </p:txBody>
      </p:sp>
      <p:sp>
        <p:nvSpPr>
          <p:cNvPr id="26" name="Text 24"/>
          <p:cNvSpPr txBox="1"/>
          <p:nvPr/>
        </p:nvSpPr>
        <p:spPr>
          <a:xfrm>
            <a:off x="4645152" y="4169664"/>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27" name="Text 25"/>
          <p:cNvSpPr txBox="1"/>
          <p:nvPr/>
        </p:nvSpPr>
        <p:spPr>
          <a:xfrm>
            <a:off x="464515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Physicians spend 49.2% of office time on records and desk work against 27.0% on direct patient care.</a:t>
            </a:r>
            <a:endParaRPr lang="en-US" sz="1250" dirty="0"/>
          </a:p>
        </p:txBody>
      </p:sp>
      <p:sp>
        <p:nvSpPr>
          <p:cNvPr id="28" name="Shape 26"/>
          <p:cNvSpPr/>
          <p:nvPr/>
        </p:nvSpPr>
        <p:spPr>
          <a:xfrm>
            <a:off x="8138160" y="3986784"/>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29" name="Text 27"/>
          <p:cNvSpPr txBox="1"/>
          <p:nvPr/>
        </p:nvSpPr>
        <p:spPr>
          <a:xfrm>
            <a:off x="8394192" y="4169664"/>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30" name="Text 28"/>
          <p:cNvSpPr txBox="1"/>
          <p:nvPr/>
        </p:nvSpPr>
        <p:spPr>
          <a:xfrm>
            <a:off x="839419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Software that asks a doctor to type during a two-minute visit does not return time. It takes it.</a:t>
            </a:r>
            <a:endParaRPr lang="en-US" sz="1250" dirty="0"/>
          </a:p>
        </p:txBody>
      </p:sp>
      <p:sp>
        <p:nvSpPr>
          <p:cNvPr id="31" name="Text 29"/>
          <p:cNvSpPr txBox="1"/>
          <p:nvPr/>
        </p:nvSpPr>
        <p:spPr>
          <a:xfrm>
            <a:off x="412394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2" name="Text 30"/>
          <p:cNvSpPr txBox="1"/>
          <p:nvPr/>
        </p:nvSpPr>
        <p:spPr>
          <a:xfrm>
            <a:off x="787298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3" name="Text 31"/>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NSSO Comprehensive Modular Survey: Telecom, 80th Round (Jan–Mar 2025), MoSPI · Sinsky et al., Annals of Internal Medicine, 2016.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Who we are designing for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2011680"/>
            <a:ext cx="3977640" cy="3913632"/>
          </a:xfrm>
          <a:prstGeom prst="roundRect">
            <a:avLst>
              <a:gd name="adj" fmla="val 2103"/>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2" name="Shape 10"/>
          <p:cNvSpPr/>
          <p:nvPr/>
        </p:nvSpPr>
        <p:spPr>
          <a:xfrm>
            <a:off x="1024128" y="2377440"/>
            <a:ext cx="960120" cy="960120"/>
          </a:xfrm>
          <a:prstGeom prst="ellipse">
            <a:avLst/>
          </a:prstGeom>
          <a:solidFill>
            <a:srgbClr val="0E6E6B"/>
          </a:solidFill>
          <a:ln/>
        </p:spPr>
        <p:txBody>
          <a:bodyPr/>
          <a:p/>
        </p:txBody>
      </p:sp>
      <p:sp>
        <p:nvSpPr>
          <p:cNvPr id="13" name="Text 11"/>
          <p:cNvSpPr txBox="1"/>
          <p:nvPr/>
        </p:nvSpPr>
        <p:spPr>
          <a:xfrm>
            <a:off x="1024128" y="2377440"/>
            <a:ext cx="960120" cy="9601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AR</a:t>
            </a:r>
            <a:endParaRPr lang="en-US" sz="2400" dirty="0"/>
          </a:p>
        </p:txBody>
      </p:sp>
      <p:sp>
        <p:nvSpPr>
          <p:cNvPr id="14" name="Text 12"/>
          <p:cNvSpPr txBox="1"/>
          <p:nvPr/>
        </p:nvSpPr>
        <p:spPr>
          <a:xfrm>
            <a:off x="1024128" y="3520440"/>
            <a:ext cx="3200400" cy="3657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Dr. A. Roy, 46</a:t>
            </a:r>
            <a:endParaRPr lang="en-US" sz="2200" dirty="0"/>
          </a:p>
        </p:txBody>
      </p:sp>
      <p:sp>
        <p:nvSpPr>
          <p:cNvPr id="15" name="Text 13"/>
          <p:cNvSpPr txBox="1"/>
          <p:nvPr/>
        </p:nvSpPr>
        <p:spPr>
          <a:xfrm>
            <a:off x="1024128" y="3886200"/>
            <a:ext cx="3200400" cy="274320"/>
          </a:xfrm>
          <a:prstGeom prst="rect">
            <a:avLst/>
          </a:prstGeom>
          <a:noFill/>
          <a:ln/>
        </p:spPr>
        <p:txBody>
          <a:bodyPr wrap="square" lIns="0" tIns="0" rIns="0" bIns="0" rtlCol="0" anchor="ctr"/>
          <a:lstStyle/>
          <a:p>
            <a:pPr indent="0" marL="0">
              <a:buNone/>
            </a:pPr>
            <a:r>
              <a:rPr lang="en-US" sz="1250" dirty="0">
                <a:solidFill>
                  <a:srgbClr val="5FB3AB"/>
                </a:solidFill>
                <a:latin typeface="Calibri" pitchFamily="34" charset="0"/>
                <a:ea typeface="Calibri" pitchFamily="34" charset="-122"/>
                <a:cs typeface="Calibri" pitchFamily="34" charset="-120"/>
              </a:rPr>
              <a:t>Practitioner running his own clinic</a:t>
            </a:r>
            <a:endParaRPr lang="en-US" sz="1250" dirty="0"/>
          </a:p>
        </p:txBody>
      </p:sp>
      <p:sp>
        <p:nvSpPr>
          <p:cNvPr id="16" name="Shape 14"/>
          <p:cNvSpPr/>
          <p:nvPr/>
        </p:nvSpPr>
        <p:spPr>
          <a:xfrm>
            <a:off x="1042416" y="4434840"/>
            <a:ext cx="109728" cy="109728"/>
          </a:xfrm>
          <a:prstGeom prst="ellipse">
            <a:avLst/>
          </a:prstGeom>
          <a:solidFill>
            <a:srgbClr val="C9821F"/>
          </a:solidFill>
          <a:ln/>
        </p:spPr>
        <p:txBody>
          <a:bodyPr/>
          <a:p/>
        </p:txBody>
      </p:sp>
      <p:sp>
        <p:nvSpPr>
          <p:cNvPr id="17" name="Text 15"/>
          <p:cNvSpPr txBox="1"/>
          <p:nvPr/>
        </p:nvSpPr>
        <p:spPr>
          <a:xfrm>
            <a:off x="1298448" y="434340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40–60 patients on a working day</a:t>
            </a:r>
            <a:endParaRPr lang="en-US" sz="1200" dirty="0"/>
          </a:p>
        </p:txBody>
      </p:sp>
      <p:sp>
        <p:nvSpPr>
          <p:cNvPr id="18" name="Shape 16"/>
          <p:cNvSpPr/>
          <p:nvPr/>
        </p:nvSpPr>
        <p:spPr>
          <a:xfrm>
            <a:off x="1042416" y="4800600"/>
            <a:ext cx="109728" cy="109728"/>
          </a:xfrm>
          <a:prstGeom prst="ellipse">
            <a:avLst/>
          </a:prstGeom>
          <a:solidFill>
            <a:srgbClr val="C9821F"/>
          </a:solidFill>
          <a:ln/>
        </p:spPr>
        <p:txBody>
          <a:bodyPr/>
          <a:p/>
        </p:txBody>
      </p:sp>
      <p:sp>
        <p:nvSpPr>
          <p:cNvPr id="19" name="Text 17"/>
          <p:cNvSpPr txBox="1"/>
          <p:nvPr/>
        </p:nvSpPr>
        <p:spPr>
          <a:xfrm>
            <a:off x="1298448" y="470916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No receptionist, no assistant</a:t>
            </a:r>
            <a:endParaRPr lang="en-US" sz="1200" dirty="0"/>
          </a:p>
        </p:txBody>
      </p:sp>
      <p:sp>
        <p:nvSpPr>
          <p:cNvPr id="20" name="Shape 18"/>
          <p:cNvSpPr/>
          <p:nvPr/>
        </p:nvSpPr>
        <p:spPr>
          <a:xfrm>
            <a:off x="1042416" y="5166360"/>
            <a:ext cx="109728" cy="109728"/>
          </a:xfrm>
          <a:prstGeom prst="ellipse">
            <a:avLst/>
          </a:prstGeom>
          <a:solidFill>
            <a:srgbClr val="C9821F"/>
          </a:solidFill>
          <a:ln/>
        </p:spPr>
        <p:txBody>
          <a:bodyPr/>
          <a:p/>
        </p:txBody>
      </p:sp>
      <p:sp>
        <p:nvSpPr>
          <p:cNvPr id="21" name="Text 19"/>
          <p:cNvSpPr txBox="1"/>
          <p:nvPr/>
        </p:nvSpPr>
        <p:spPr>
          <a:xfrm>
            <a:off x="1298448" y="507492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One laptop, one paper register</a:t>
            </a:r>
            <a:endParaRPr lang="en-US" sz="1200" dirty="0"/>
          </a:p>
        </p:txBody>
      </p:sp>
      <p:sp>
        <p:nvSpPr>
          <p:cNvPr id="22" name="Shape 20"/>
          <p:cNvSpPr/>
          <p:nvPr/>
        </p:nvSpPr>
        <p:spPr>
          <a:xfrm>
            <a:off x="1042416" y="5532120"/>
            <a:ext cx="109728" cy="109728"/>
          </a:xfrm>
          <a:prstGeom prst="ellipse">
            <a:avLst/>
          </a:prstGeom>
          <a:solidFill>
            <a:srgbClr val="C9821F"/>
          </a:solidFill>
          <a:ln/>
        </p:spPr>
        <p:txBody>
          <a:bodyPr/>
          <a:p/>
        </p:txBody>
      </p:sp>
      <p:sp>
        <p:nvSpPr>
          <p:cNvPr id="23" name="Text 21"/>
          <p:cNvSpPr txBox="1"/>
          <p:nvPr/>
        </p:nvSpPr>
        <p:spPr>
          <a:xfrm>
            <a:off x="1298448" y="544068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Fluent in Bengali; writes in English</a:t>
            </a:r>
            <a:endParaRPr lang="en-US" sz="1200" dirty="0"/>
          </a:p>
        </p:txBody>
      </p:sp>
      <p:sp>
        <p:nvSpPr>
          <p:cNvPr id="24" name="Shape 22"/>
          <p:cNvSpPr/>
          <p:nvPr/>
        </p:nvSpPr>
        <p:spPr>
          <a:xfrm>
            <a:off x="4983480" y="2011680"/>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5" name="Text 23"/>
          <p:cNvSpPr txBox="1"/>
          <p:nvPr/>
        </p:nvSpPr>
        <p:spPr>
          <a:xfrm>
            <a:off x="5285232" y="2185416"/>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he needs</a:t>
            </a:r>
            <a:endParaRPr lang="en-US" sz="1400" dirty="0"/>
          </a:p>
        </p:txBody>
      </p:sp>
      <p:sp>
        <p:nvSpPr>
          <p:cNvPr id="26" name="Text 24"/>
          <p:cNvSpPr txBox="1"/>
          <p:nvPr/>
        </p:nvSpPr>
        <p:spPr>
          <a:xfrm>
            <a:off x="5285232" y="2514600"/>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To finish each visit with a usable written record without spending the visit producing it.</a:t>
            </a:r>
            <a:endParaRPr lang="en-US" sz="1300" dirty="0"/>
          </a:p>
        </p:txBody>
      </p:sp>
      <p:sp>
        <p:nvSpPr>
          <p:cNvPr id="27" name="Shape 25"/>
          <p:cNvSpPr/>
          <p:nvPr/>
        </p:nvSpPr>
        <p:spPr>
          <a:xfrm>
            <a:off x="4983480" y="3355848"/>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Text 26"/>
          <p:cNvSpPr txBox="1"/>
          <p:nvPr/>
        </p:nvSpPr>
        <p:spPr>
          <a:xfrm>
            <a:off x="5285232" y="3529584"/>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frustrates him</a:t>
            </a:r>
            <a:endParaRPr lang="en-US" sz="1400" dirty="0"/>
          </a:p>
        </p:txBody>
      </p:sp>
      <p:sp>
        <p:nvSpPr>
          <p:cNvPr id="29" name="Text 27"/>
          <p:cNvSpPr txBox="1"/>
          <p:nvPr/>
        </p:nvSpPr>
        <p:spPr>
          <a:xfrm>
            <a:off x="5285232" y="3858768"/>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Recalling a patient he last saw eight months ago from a line in a register — or not recalling them at all.</a:t>
            </a:r>
            <a:endParaRPr lang="en-US" sz="1300" dirty="0"/>
          </a:p>
        </p:txBody>
      </p:sp>
      <p:sp>
        <p:nvSpPr>
          <p:cNvPr id="30" name="Shape 28"/>
          <p:cNvSpPr/>
          <p:nvPr/>
        </p:nvSpPr>
        <p:spPr>
          <a:xfrm>
            <a:off x="4983480" y="4700016"/>
            <a:ext cx="6565392" cy="1225296"/>
          </a:xfrm>
          <a:prstGeom prst="roundRect">
            <a:avLst>
              <a:gd name="adj" fmla="val 5224"/>
            </a:avLst>
          </a:prstGeom>
          <a:solidFill>
            <a:srgbClr val="EFF4F3"/>
          </a:solidFill>
          <a:ln/>
        </p:spPr>
        <p:txBody>
          <a:bodyPr/>
          <a:p/>
        </p:txBody>
      </p:sp>
      <p:sp>
        <p:nvSpPr>
          <p:cNvPr id="31" name="Text 29"/>
          <p:cNvSpPr txBox="1"/>
          <p:nvPr/>
        </p:nvSpPr>
        <p:spPr>
          <a:xfrm>
            <a:off x="5285232" y="4873752"/>
            <a:ext cx="5943600" cy="274320"/>
          </a:xfrm>
          <a:prstGeom prst="rect">
            <a:avLst/>
          </a:prstGeom>
          <a:noFill/>
          <a:ln/>
        </p:spPr>
        <p:txBody>
          <a:bodyPr wrap="square" lIns="0" tIns="0" rIns="0" bIns="0" rtlCol="0" anchor="ctr"/>
          <a:lstStyle/>
          <a:p>
            <a:pPr indent="0" marL="0">
              <a:buNone/>
            </a:pPr>
            <a:r>
              <a:rPr lang="en-US" sz="1400" b="1" dirty="0">
                <a:solidFill>
                  <a:srgbClr val="A8453A"/>
                </a:solidFill>
                <a:latin typeface="Calibri" pitchFamily="34" charset="0"/>
                <a:ea typeface="Calibri" pitchFamily="34" charset="-122"/>
                <a:cs typeface="Calibri" pitchFamily="34" charset="-120"/>
              </a:rPr>
              <a:t>What he will not tolerate</a:t>
            </a:r>
            <a:endParaRPr lang="en-US" sz="1400" dirty="0"/>
          </a:p>
        </p:txBody>
      </p:sp>
      <p:sp>
        <p:nvSpPr>
          <p:cNvPr id="32" name="Text 30"/>
          <p:cNvSpPr txBox="1"/>
          <p:nvPr/>
        </p:nvSpPr>
        <p:spPr>
          <a:xfrm>
            <a:off x="5285232" y="5202936"/>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Anything that adds a step in front of a waiting patient, or that loses a consultation once.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consultation as it happens today</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1965960"/>
            <a:ext cx="1650949" cy="841248"/>
          </a:xfrm>
          <a:prstGeom prst="roundRect">
            <a:avLst>
              <a:gd name="adj" fmla="val 7609"/>
            </a:avLst>
          </a:prstGeom>
          <a:solidFill>
            <a:srgbClr val="EFF4F3"/>
          </a:solidFill>
          <a:ln/>
        </p:spPr>
        <p:txBody>
          <a:bodyPr/>
          <a:p/>
        </p:txBody>
      </p:sp>
      <p:sp>
        <p:nvSpPr>
          <p:cNvPr id="12" name="Text 10"/>
          <p:cNvSpPr txBox="1"/>
          <p:nvPr/>
        </p:nvSpPr>
        <p:spPr>
          <a:xfrm>
            <a:off x="786384"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1</a:t>
            </a:r>
            <a:endParaRPr lang="en-US" sz="1050" dirty="0"/>
          </a:p>
        </p:txBody>
      </p:sp>
      <p:sp>
        <p:nvSpPr>
          <p:cNvPr id="13" name="Text 11"/>
          <p:cNvSpPr txBox="1"/>
          <p:nvPr/>
        </p:nvSpPr>
        <p:spPr>
          <a:xfrm>
            <a:off x="786384"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arrives</a:t>
            </a:r>
            <a:endParaRPr lang="en-US" sz="1250" dirty="0"/>
          </a:p>
        </p:txBody>
      </p:sp>
      <p:sp>
        <p:nvSpPr>
          <p:cNvPr id="14" name="Shape 12"/>
          <p:cNvSpPr/>
          <p:nvPr/>
        </p:nvSpPr>
        <p:spPr>
          <a:xfrm>
            <a:off x="786384" y="4005072"/>
            <a:ext cx="1358341" cy="219456"/>
          </a:xfrm>
          <a:prstGeom prst="rect">
            <a:avLst/>
          </a:prstGeom>
          <a:solidFill>
            <a:srgbClr val="B9CCCB"/>
          </a:solidFill>
          <a:ln/>
        </p:spPr>
        <p:txBody>
          <a:bodyPr/>
          <a:p/>
        </p:txBody>
      </p:sp>
      <p:sp>
        <p:nvSpPr>
          <p:cNvPr id="15" name="Shape 13"/>
          <p:cNvSpPr/>
          <p:nvPr/>
        </p:nvSpPr>
        <p:spPr>
          <a:xfrm>
            <a:off x="2492197" y="1965960"/>
            <a:ext cx="1650949" cy="841248"/>
          </a:xfrm>
          <a:prstGeom prst="roundRect">
            <a:avLst>
              <a:gd name="adj" fmla="val 7609"/>
            </a:avLst>
          </a:prstGeom>
          <a:solidFill>
            <a:srgbClr val="EFF4F3"/>
          </a:solidFill>
          <a:ln/>
        </p:spPr>
        <p:txBody>
          <a:bodyPr/>
          <a:p/>
        </p:txBody>
      </p:sp>
      <p:sp>
        <p:nvSpPr>
          <p:cNvPr id="16" name="Text 14"/>
          <p:cNvSpPr txBox="1"/>
          <p:nvPr/>
        </p:nvSpPr>
        <p:spPr>
          <a:xfrm>
            <a:off x="2638501"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2</a:t>
            </a:r>
            <a:endParaRPr lang="en-US" sz="1050" dirty="0"/>
          </a:p>
        </p:txBody>
      </p:sp>
      <p:sp>
        <p:nvSpPr>
          <p:cNvPr id="17" name="Text 15"/>
          <p:cNvSpPr txBox="1"/>
          <p:nvPr/>
        </p:nvSpPr>
        <p:spPr>
          <a:xfrm>
            <a:off x="2638501"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History</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taken</a:t>
            </a:r>
            <a:endParaRPr lang="en-US" sz="1250" dirty="0"/>
          </a:p>
        </p:txBody>
      </p:sp>
      <p:sp>
        <p:nvSpPr>
          <p:cNvPr id="18" name="Shape 16"/>
          <p:cNvSpPr/>
          <p:nvPr/>
        </p:nvSpPr>
        <p:spPr>
          <a:xfrm>
            <a:off x="2638501" y="3840480"/>
            <a:ext cx="1358341" cy="384048"/>
          </a:xfrm>
          <a:prstGeom prst="rect">
            <a:avLst/>
          </a:prstGeom>
          <a:solidFill>
            <a:srgbClr val="B9CCCB"/>
          </a:solidFill>
          <a:ln/>
        </p:spPr>
        <p:txBody>
          <a:bodyPr/>
          <a:p/>
        </p:txBody>
      </p:sp>
      <p:sp>
        <p:nvSpPr>
          <p:cNvPr id="19" name="Shape 17"/>
          <p:cNvSpPr/>
          <p:nvPr/>
        </p:nvSpPr>
        <p:spPr>
          <a:xfrm>
            <a:off x="4344314" y="1965960"/>
            <a:ext cx="1650949" cy="841248"/>
          </a:xfrm>
          <a:prstGeom prst="roundRect">
            <a:avLst>
              <a:gd name="adj" fmla="val 7609"/>
            </a:avLst>
          </a:prstGeom>
          <a:solidFill>
            <a:srgbClr val="EFF4F3"/>
          </a:solidFill>
          <a:ln/>
        </p:spPr>
        <p:txBody>
          <a:bodyPr/>
          <a:p/>
        </p:txBody>
      </p:sp>
      <p:sp>
        <p:nvSpPr>
          <p:cNvPr id="20" name="Text 18"/>
          <p:cNvSpPr txBox="1"/>
          <p:nvPr/>
        </p:nvSpPr>
        <p:spPr>
          <a:xfrm>
            <a:off x="4490618"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3</a:t>
            </a:r>
            <a:endParaRPr lang="en-US" sz="1050" dirty="0"/>
          </a:p>
        </p:txBody>
      </p:sp>
      <p:sp>
        <p:nvSpPr>
          <p:cNvPr id="21" name="Text 19"/>
          <p:cNvSpPr txBox="1"/>
          <p:nvPr/>
        </p:nvSpPr>
        <p:spPr>
          <a:xfrm>
            <a:off x="4490618"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Examination</a:t>
            </a:r>
            <a:endParaRPr lang="en-US" sz="1250" dirty="0"/>
          </a:p>
        </p:txBody>
      </p:sp>
      <p:sp>
        <p:nvSpPr>
          <p:cNvPr id="22" name="Shape 20"/>
          <p:cNvSpPr/>
          <p:nvPr/>
        </p:nvSpPr>
        <p:spPr>
          <a:xfrm>
            <a:off x="4490618" y="3922776"/>
            <a:ext cx="1358341" cy="301752"/>
          </a:xfrm>
          <a:prstGeom prst="rect">
            <a:avLst/>
          </a:prstGeom>
          <a:solidFill>
            <a:srgbClr val="B9CCCB"/>
          </a:solidFill>
          <a:ln/>
        </p:spPr>
        <p:txBody>
          <a:bodyPr/>
          <a:p/>
        </p:txBody>
      </p:sp>
      <p:sp>
        <p:nvSpPr>
          <p:cNvPr id="23" name="Shape 21"/>
          <p:cNvSpPr/>
          <p:nvPr/>
        </p:nvSpPr>
        <p:spPr>
          <a:xfrm>
            <a:off x="6196432" y="1965960"/>
            <a:ext cx="1650949" cy="841248"/>
          </a:xfrm>
          <a:prstGeom prst="roundRect">
            <a:avLst>
              <a:gd name="adj" fmla="val 7609"/>
            </a:avLst>
          </a:prstGeom>
          <a:solidFill>
            <a:srgbClr val="EFF4F3"/>
          </a:solidFill>
          <a:ln/>
        </p:spPr>
        <p:txBody>
          <a:bodyPr/>
          <a:p/>
        </p:txBody>
      </p:sp>
      <p:sp>
        <p:nvSpPr>
          <p:cNvPr id="24" name="Text 22"/>
          <p:cNvSpPr txBox="1"/>
          <p:nvPr/>
        </p:nvSpPr>
        <p:spPr>
          <a:xfrm>
            <a:off x="6342736"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4</a:t>
            </a:r>
            <a:endParaRPr lang="en-US" sz="1050" dirty="0"/>
          </a:p>
        </p:txBody>
      </p:sp>
      <p:sp>
        <p:nvSpPr>
          <p:cNvPr id="25" name="Text 23"/>
          <p:cNvSpPr txBox="1"/>
          <p:nvPr/>
        </p:nvSpPr>
        <p:spPr>
          <a:xfrm>
            <a:off x="6342736"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Explanation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given</a:t>
            </a:r>
            <a:endParaRPr lang="en-US" sz="1250" dirty="0"/>
          </a:p>
        </p:txBody>
      </p:sp>
      <p:sp>
        <p:nvSpPr>
          <p:cNvPr id="26" name="Shape 24"/>
          <p:cNvSpPr/>
          <p:nvPr/>
        </p:nvSpPr>
        <p:spPr>
          <a:xfrm>
            <a:off x="6342736" y="4069080"/>
            <a:ext cx="1358341" cy="155448"/>
          </a:xfrm>
          <a:prstGeom prst="rect">
            <a:avLst/>
          </a:prstGeom>
          <a:solidFill>
            <a:srgbClr val="B9CCCB"/>
          </a:solidFill>
          <a:ln/>
        </p:spPr>
        <p:txBody>
          <a:bodyPr/>
          <a:p/>
        </p:txBody>
      </p:sp>
      <p:sp>
        <p:nvSpPr>
          <p:cNvPr id="27" name="Shape 25"/>
          <p:cNvSpPr/>
          <p:nvPr/>
        </p:nvSpPr>
        <p:spPr>
          <a:xfrm>
            <a:off x="8048549" y="1965960"/>
            <a:ext cx="1650949" cy="841248"/>
          </a:xfrm>
          <a:prstGeom prst="roundRect">
            <a:avLst>
              <a:gd name="adj" fmla="val 7609"/>
            </a:avLst>
          </a:prstGeom>
          <a:solidFill>
            <a:srgbClr val="EFF4F3"/>
          </a:solidFill>
          <a:ln/>
        </p:spPr>
        <p:txBody>
          <a:bodyPr/>
          <a:p/>
        </p:txBody>
      </p:sp>
      <p:sp>
        <p:nvSpPr>
          <p:cNvPr id="28" name="Text 26"/>
          <p:cNvSpPr txBox="1"/>
          <p:nvPr/>
        </p:nvSpPr>
        <p:spPr>
          <a:xfrm>
            <a:off x="8194853"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5</a:t>
            </a:r>
            <a:endParaRPr lang="en-US" sz="1050" dirty="0"/>
          </a:p>
        </p:txBody>
      </p:sp>
      <p:sp>
        <p:nvSpPr>
          <p:cNvPr id="29" name="Text 27"/>
          <p:cNvSpPr txBox="1"/>
          <p:nvPr/>
        </p:nvSpPr>
        <p:spPr>
          <a:xfrm>
            <a:off x="8194853"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Prescription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written</a:t>
            </a:r>
            <a:endParaRPr lang="en-US" sz="1250" dirty="0"/>
          </a:p>
        </p:txBody>
      </p:sp>
      <p:sp>
        <p:nvSpPr>
          <p:cNvPr id="30" name="Shape 28"/>
          <p:cNvSpPr/>
          <p:nvPr/>
        </p:nvSpPr>
        <p:spPr>
          <a:xfrm>
            <a:off x="8194853" y="3374136"/>
            <a:ext cx="1358341" cy="850392"/>
          </a:xfrm>
          <a:prstGeom prst="rect">
            <a:avLst/>
          </a:prstGeom>
          <a:solidFill>
            <a:srgbClr val="0E6E6B"/>
          </a:solidFill>
          <a:ln/>
        </p:spPr>
        <p:txBody>
          <a:bodyPr/>
          <a:p/>
        </p:txBody>
      </p:sp>
      <p:sp>
        <p:nvSpPr>
          <p:cNvPr id="31" name="Shape 29"/>
          <p:cNvSpPr/>
          <p:nvPr/>
        </p:nvSpPr>
        <p:spPr>
          <a:xfrm>
            <a:off x="9900666" y="1965960"/>
            <a:ext cx="1650949" cy="841248"/>
          </a:xfrm>
          <a:prstGeom prst="roundRect">
            <a:avLst>
              <a:gd name="adj" fmla="val 7609"/>
            </a:avLst>
          </a:prstGeom>
          <a:solidFill>
            <a:srgbClr val="EFF4F3"/>
          </a:solidFill>
          <a:ln/>
        </p:spPr>
        <p:txBody>
          <a:bodyPr/>
          <a:p/>
        </p:txBody>
      </p:sp>
      <p:sp>
        <p:nvSpPr>
          <p:cNvPr id="32" name="Text 30"/>
          <p:cNvSpPr txBox="1"/>
          <p:nvPr/>
        </p:nvSpPr>
        <p:spPr>
          <a:xfrm>
            <a:off x="10046970"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6</a:t>
            </a:r>
            <a:endParaRPr lang="en-US" sz="1050" dirty="0"/>
          </a:p>
        </p:txBody>
      </p:sp>
      <p:sp>
        <p:nvSpPr>
          <p:cNvPr id="33" name="Text 31"/>
          <p:cNvSpPr txBox="1"/>
          <p:nvPr/>
        </p:nvSpPr>
        <p:spPr>
          <a:xfrm>
            <a:off x="10046970"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leaves</a:t>
            </a:r>
            <a:endParaRPr lang="en-US" sz="1250" dirty="0"/>
          </a:p>
        </p:txBody>
      </p:sp>
      <p:sp>
        <p:nvSpPr>
          <p:cNvPr id="34" name="Shape 32"/>
          <p:cNvSpPr/>
          <p:nvPr/>
        </p:nvSpPr>
        <p:spPr>
          <a:xfrm>
            <a:off x="10046970" y="4069080"/>
            <a:ext cx="1358341" cy="155448"/>
          </a:xfrm>
          <a:prstGeom prst="rect">
            <a:avLst/>
          </a:prstGeom>
          <a:solidFill>
            <a:srgbClr val="B9CCCB"/>
          </a:solidFill>
          <a:ln/>
        </p:spPr>
        <p:txBody>
          <a:bodyPr/>
          <a:p/>
        </p:txBody>
      </p:sp>
      <p:sp>
        <p:nvSpPr>
          <p:cNvPr id="35" name="Text 33"/>
          <p:cNvSpPr txBox="1"/>
          <p:nvPr/>
        </p:nvSpPr>
        <p:spPr>
          <a:xfrm>
            <a:off x="640080" y="2971800"/>
            <a:ext cx="4572000" cy="256032"/>
          </a:xfrm>
          <a:prstGeom prst="rect">
            <a:avLst/>
          </a:prstGeom>
          <a:noFill/>
          <a:ln/>
        </p:spPr>
        <p:txBody>
          <a:bodyPr wrap="square" lIns="0" tIns="0" rIns="0" bIns="0" rtlCol="0" anchor="ctr"/>
          <a:lstStyle/>
          <a:p>
            <a:pPr indent="0" marL="0">
              <a:buNone/>
            </a:pPr>
            <a:r>
              <a:rPr lang="en-US" sz="1000" b="1" spc="160" kern="0" dirty="0">
                <a:solidFill>
                  <a:srgbClr val="8B9C9D"/>
                </a:solidFill>
                <a:latin typeface="Calibri" pitchFamily="34" charset="0"/>
                <a:ea typeface="Calibri" pitchFamily="34" charset="-122"/>
                <a:cs typeface="Calibri" pitchFamily="34" charset="-120"/>
              </a:rPr>
              <a:t>WHAT SURVIVES IN WRITING</a:t>
            </a:r>
            <a:endParaRPr lang="en-US" sz="1000" dirty="0"/>
          </a:p>
        </p:txBody>
      </p:sp>
      <p:sp>
        <p:nvSpPr>
          <p:cNvPr id="36" name="Shape 34"/>
          <p:cNvSpPr/>
          <p:nvPr/>
        </p:nvSpPr>
        <p:spPr>
          <a:xfrm>
            <a:off x="640080" y="4224528"/>
            <a:ext cx="10911535" cy="0"/>
          </a:xfrm>
          <a:prstGeom prst="line">
            <a:avLst/>
          </a:prstGeom>
          <a:noFill/>
          <a:ln w="19050">
            <a:solidFill>
              <a:srgbClr val="DFEAE8"/>
            </a:solidFill>
            <a:prstDash val="solid"/>
          </a:ln>
        </p:spPr>
        <p:txBody>
          <a:bodyPr/>
          <a:p/>
        </p:txBody>
      </p:sp>
      <p:sp>
        <p:nvSpPr>
          <p:cNvPr id="37" name="Text 35"/>
          <p:cNvSpPr txBox="1"/>
          <p:nvPr/>
        </p:nvSpPr>
        <p:spPr>
          <a:xfrm>
            <a:off x="640080" y="4315968"/>
            <a:ext cx="10911535" cy="29260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Only the prescription reliably becomes a record — and it is written for the pharmacist, not for the next visit.</a:t>
            </a:r>
            <a:endParaRPr lang="en-US" sz="1200" dirty="0"/>
          </a:p>
        </p:txBody>
      </p:sp>
      <p:sp>
        <p:nvSpPr>
          <p:cNvPr id="38" name="Shape 36"/>
          <p:cNvSpPr/>
          <p:nvPr/>
        </p:nvSpPr>
        <p:spPr>
          <a:xfrm>
            <a:off x="640080" y="4846320"/>
            <a:ext cx="10911535" cy="1051560"/>
          </a:xfrm>
          <a:prstGeom prst="roundRect">
            <a:avLst>
              <a:gd name="adj" fmla="val 7826"/>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39" name="Text 37"/>
          <p:cNvSpPr txBox="1"/>
          <p:nvPr/>
        </p:nvSpPr>
        <p:spPr>
          <a:xfrm>
            <a:off x="1005840" y="5010912"/>
            <a:ext cx="2743200" cy="274320"/>
          </a:xfrm>
          <a:prstGeom prst="rect">
            <a:avLst/>
          </a:prstGeom>
          <a:noFill/>
          <a:ln/>
        </p:spPr>
        <p:txBody>
          <a:bodyPr wrap="square" lIns="0" tIns="0" rIns="0" bIns="0" rtlCol="0" anchor="ctr"/>
          <a:lstStyle/>
          <a:p>
            <a:pPr indent="0" marL="0">
              <a:buNone/>
            </a:pPr>
            <a:r>
              <a:rPr lang="en-US" sz="1250" b="1" dirty="0">
                <a:solidFill>
                  <a:srgbClr val="C9821F"/>
                </a:solidFill>
                <a:latin typeface="Calibri" pitchFamily="34" charset="0"/>
                <a:ea typeface="Calibri" pitchFamily="34" charset="-122"/>
                <a:cs typeface="Calibri" pitchFamily="34" charset="-120"/>
              </a:rPr>
              <a:t>The breakdown point</a:t>
            </a:r>
            <a:endParaRPr lang="en-US" sz="1250" dirty="0"/>
          </a:p>
        </p:txBody>
      </p:sp>
      <p:sp>
        <p:nvSpPr>
          <p:cNvPr id="40" name="Text 38"/>
          <p:cNvSpPr txBox="1"/>
          <p:nvPr/>
        </p:nvSpPr>
        <p:spPr>
          <a:xfrm>
            <a:off x="1005840" y="5303520"/>
            <a:ext cx="10180015" cy="457200"/>
          </a:xfrm>
          <a:prstGeom prst="rect">
            <a:avLst/>
          </a:prstGeom>
          <a:noFill/>
          <a:ln/>
        </p:spPr>
        <p:txBody>
          <a:bodyPr wrap="square" lIns="0" tIns="0" rIns="0" bIns="0" rtlCol="0" anchor="ctr"/>
          <a:lstStyle/>
          <a:p>
            <a:pPr indent="0" marL="0">
              <a:lnSpc>
                <a:spcPts val="1900"/>
              </a:lnSpc>
              <a:buNone/>
            </a:pPr>
            <a:r>
              <a:rPr lang="en-US" sz="1350" dirty="0">
                <a:solidFill>
                  <a:srgbClr val="D3E0E0"/>
                </a:solidFill>
                <a:latin typeface="Calibri" pitchFamily="34" charset="0"/>
                <a:ea typeface="Calibri" pitchFamily="34" charset="-122"/>
                <a:cs typeface="Calibri" pitchFamily="34" charset="-120"/>
              </a:rPr>
              <a:t>Everything the doctor learns between steps 2 and 4 exists only in his head and in the two minutes he has. By step 6 it is gone, and the patient's next visit starts from nothing.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problems, not one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Clustering what we found produced four distinct problems. Solving only the first one is how most clinical software fails.</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32688" y="2487168"/>
            <a:ext cx="475488" cy="475488"/>
          </a:xfrm>
          <a:prstGeom prst="roundRect">
            <a:avLst>
              <a:gd name="adj" fmla="val 23077"/>
            </a:avLst>
          </a:prstGeom>
          <a:solidFill>
            <a:srgbClr val="0E6E6B"/>
          </a:solidFill>
          <a:ln/>
        </p:spPr>
        <p:txBody>
          <a:bodyPr/>
          <a:p/>
        </p:txBody>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Time is the scarce resource</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Two minutes must hold the greeting, the history, the examination, the explanation and the record.</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6"/>
          <p:cNvSpPr/>
          <p:nvPr/>
        </p:nvSpPr>
        <p:spPr>
          <a:xfrm>
            <a:off x="6498184" y="2487168"/>
            <a:ext cx="475488" cy="475488"/>
          </a:xfrm>
          <a:prstGeom prst="roundRect">
            <a:avLst>
              <a:gd name="adj" fmla="val 23077"/>
            </a:avLst>
          </a:prstGeom>
          <a:solidFill>
            <a:srgbClr val="C9821F"/>
          </a:solidFill>
          <a:ln/>
        </p:spPr>
        <p:txBody>
          <a:bodyPr/>
          <a:p/>
        </p:txBody>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The record is sacrificed first</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It is the only part of the visit with no one in the room advocating for it.</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3" name="Shape 21"/>
          <p:cNvSpPr/>
          <p:nvPr/>
        </p:nvSpPr>
        <p:spPr>
          <a:xfrm>
            <a:off x="932688" y="4361688"/>
            <a:ext cx="475488" cy="475488"/>
          </a:xfrm>
          <a:prstGeom prst="roundRect">
            <a:avLst>
              <a:gd name="adj" fmla="val 23077"/>
            </a:avLst>
          </a:prstGeom>
          <a:solidFill>
            <a:srgbClr val="0E6E6B"/>
          </a:solidFill>
          <a:ln/>
        </p:spPr>
        <p:txBody>
          <a:bodyPr/>
          <a:p/>
        </p:txBody>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Continuity dies with the register</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patient's history is only as durable as one notebook and one laptop.</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Shape 26"/>
          <p:cNvSpPr/>
          <p:nvPr/>
        </p:nvSpPr>
        <p:spPr>
          <a:xfrm>
            <a:off x="6498184" y="4361688"/>
            <a:ext cx="475488" cy="475488"/>
          </a:xfrm>
          <a:prstGeom prst="roundRect">
            <a:avLst>
              <a:gd name="adj" fmla="val 23077"/>
            </a:avLst>
          </a:prstGeom>
          <a:solidFill>
            <a:srgbClr val="0E6E6B"/>
          </a:solidFill>
          <a:ln/>
        </p:spPr>
        <p:txBody>
          <a:bodyPr/>
          <a:p/>
        </p:txBody>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Consent is unwritten</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Nobody in this workflow has ever been asked to record permission, and the law now requires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txBody>
          <a:bodyPr/>
          <a:p/>
        </p:txBody>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DEFINE</a:t>
            </a:r>
            <a:endParaRPr lang="en-US" sz="1000" dirty="0"/>
          </a:p>
        </p:txBody>
      </p:sp>
      <p:sp>
        <p:nvSpPr>
          <p:cNvPr id="4" name="Shape 2"/>
          <p:cNvSpPr/>
          <p:nvPr/>
        </p:nvSpPr>
        <p:spPr>
          <a:xfrm>
            <a:off x="10349179" y="548640"/>
            <a:ext cx="141732" cy="141732"/>
          </a:xfrm>
          <a:prstGeom prst="ellipse">
            <a:avLst/>
          </a:prstGeom>
          <a:solidFill>
            <a:srgbClr val="2A4E4E"/>
          </a:solidFill>
          <a:ln/>
        </p:spPr>
        <p:txBody>
          <a:bodyPr/>
          <a:p/>
        </p:txBody>
      </p:sp>
      <p:sp>
        <p:nvSpPr>
          <p:cNvPr id="5" name="Shape 3"/>
          <p:cNvSpPr/>
          <p:nvPr/>
        </p:nvSpPr>
        <p:spPr>
          <a:xfrm>
            <a:off x="10614355" y="548640"/>
            <a:ext cx="141732" cy="141732"/>
          </a:xfrm>
          <a:prstGeom prst="ellipse">
            <a:avLst/>
          </a:prstGeom>
          <a:solidFill>
            <a:srgbClr val="C9821F"/>
          </a:solidFill>
          <a:ln/>
        </p:spPr>
        <p:txBody>
          <a:bodyPr/>
          <a:p/>
        </p:txBody>
      </p:sp>
      <p:sp>
        <p:nvSpPr>
          <p:cNvPr id="6" name="Shape 4"/>
          <p:cNvSpPr/>
          <p:nvPr/>
        </p:nvSpPr>
        <p:spPr>
          <a:xfrm>
            <a:off x="10879531" y="548640"/>
            <a:ext cx="141732" cy="141732"/>
          </a:xfrm>
          <a:prstGeom prst="ellipse">
            <a:avLst/>
          </a:prstGeom>
          <a:solidFill>
            <a:srgbClr val="2A4E4E"/>
          </a:solidFill>
          <a:ln/>
        </p:spPr>
        <p:txBody>
          <a:bodyPr/>
          <a:p/>
        </p:txBody>
      </p:sp>
      <p:sp>
        <p:nvSpPr>
          <p:cNvPr id="7" name="Shape 5"/>
          <p:cNvSpPr/>
          <p:nvPr/>
        </p:nvSpPr>
        <p:spPr>
          <a:xfrm>
            <a:off x="11144707" y="548640"/>
            <a:ext cx="141732" cy="141732"/>
          </a:xfrm>
          <a:prstGeom prst="ellipse">
            <a:avLst/>
          </a:prstGeom>
          <a:solidFill>
            <a:srgbClr val="2A4E4E"/>
          </a:solidFill>
          <a:ln/>
        </p:spPr>
        <p:txBody>
          <a:bodyPr/>
          <a:p/>
        </p:txBody>
      </p:sp>
      <p:sp>
        <p:nvSpPr>
          <p:cNvPr id="8" name="Shape 6"/>
          <p:cNvSpPr/>
          <p:nvPr/>
        </p:nvSpPr>
        <p:spPr>
          <a:xfrm>
            <a:off x="11409883" y="548640"/>
            <a:ext cx="141732" cy="141732"/>
          </a:xfrm>
          <a:prstGeom prst="ellipse">
            <a:avLst/>
          </a:prstGeom>
          <a:solidFill>
            <a:srgbClr val="2A4E4E"/>
          </a:solidFill>
          <a:ln/>
        </p:spPr>
        <p:txBody>
          <a:bodyPr/>
          <a:p/>
        </p:txBody>
      </p:sp>
      <p:sp>
        <p:nvSpPr>
          <p:cNvPr id="9" name="Text 7"/>
          <p:cNvSpPr txBox="1"/>
          <p:nvPr/>
        </p:nvSpPr>
        <p:spPr>
          <a:xfrm>
            <a:off x="640080" y="868680"/>
            <a:ext cx="73152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DEFINE  ·  THE PROBLEM STATEMENT</a:t>
            </a:r>
            <a:endParaRPr lang="en-US" sz="1100" dirty="0"/>
          </a:p>
        </p:txBody>
      </p:sp>
      <p:sp>
        <p:nvSpPr>
          <p:cNvPr id="10" name="Text 8"/>
          <p:cNvSpPr txBox="1"/>
          <p:nvPr/>
        </p:nvSpPr>
        <p:spPr>
          <a:xfrm>
            <a:off x="640080" y="1572768"/>
            <a:ext cx="10607040" cy="3200400"/>
          </a:xfrm>
          <a:prstGeom prst="rect">
            <a:avLst/>
          </a:prstGeom>
          <a:noFill/>
          <a:ln/>
        </p:spPr>
        <p:txBody>
          <a:bodyPr wrap="square" lIns="0" tIns="0" rIns="0" bIns="0" rtlCol="0" anchor="ctr"/>
          <a:lstStyle/>
          <a:p>
            <a:pPr indent="0" marL="0">
              <a:lnSpc>
                <a:spcPts val="4100"/>
              </a:lnSpc>
              <a:buNone/>
            </a:pPr>
            <a:r>
              <a:rPr lang="en-US" sz="2500" dirty="0">
                <a:solidFill>
                  <a:srgbClr val="FFFFFF"/>
                </a:solidFill>
                <a:latin typeface="Cambria" pitchFamily="34" charset="0"/>
                <a:ea typeface="Cambria" pitchFamily="34" charset="-122"/>
                <a:cs typeface="Cambria" pitchFamily="34" charset="-120"/>
              </a:rPr>
              <a:t>In busy outpatient practice — starting with the single-doctor clinic — a consultation lasting roughly two minutes must produce both care and a record, and the record is routinely the part sacrificed. Existing software answers this by asking the doctor to type during the visit, which measurably consumes more clinical attention than paper does, and is abandoned. Clinics are left with no usable history, unsystematic follow-up, and years of records resting on a single register or a single laptop.</a:t>
            </a:r>
            <a:endParaRPr lang="en-US" sz="2500" dirty="0"/>
          </a:p>
        </p:txBody>
      </p:sp>
      <p:sp>
        <p:nvSpPr>
          <p:cNvPr id="11" name="Shape 9"/>
          <p:cNvSpPr/>
          <p:nvPr/>
        </p:nvSpPr>
        <p:spPr>
          <a:xfrm>
            <a:off x="640080" y="4956048"/>
            <a:ext cx="2926080" cy="0"/>
          </a:xfrm>
          <a:prstGeom prst="line">
            <a:avLst/>
          </a:prstGeom>
          <a:noFill/>
          <a:ln w="31750">
            <a:solidFill>
              <a:srgbClr val="0E6E6B"/>
            </a:solidFill>
            <a:prstDash val="solid"/>
          </a:ln>
        </p:spPr>
        <p:txBody>
          <a:bodyPr/>
          <a:p/>
        </p:txBody>
      </p:sp>
      <p:sp>
        <p:nvSpPr>
          <p:cNvPr id="12" name="Text 10"/>
          <p:cNvSpPr txBox="1"/>
          <p:nvPr/>
        </p:nvSpPr>
        <p:spPr>
          <a:xfrm>
            <a:off x="640080" y="5193792"/>
            <a:ext cx="7680960" cy="777240"/>
          </a:xfrm>
          <a:prstGeom prst="rect">
            <a:avLst/>
          </a:prstGeom>
          <a:noFill/>
          <a:ln/>
        </p:spPr>
        <p:txBody>
          <a:bodyPr wrap="square" lIns="0" tIns="0" rIns="0" bIns="0" rtlCol="0" anchor="ctr"/>
          <a:lstStyle/>
          <a:p>
            <a:pPr indent="0" marL="0">
              <a:lnSpc>
                <a:spcPts val="2200"/>
              </a:lnSpc>
              <a:buNone/>
            </a:pPr>
            <a:r>
              <a:rPr lang="en-US" sz="1400" dirty="0">
                <a:solidFill>
                  <a:srgbClr val="9DB4B4"/>
                </a:solidFill>
                <a:latin typeface="Calibri" pitchFamily="34" charset="0"/>
                <a:ea typeface="Calibri" pitchFamily="34" charset="-122"/>
                <a:cs typeface="Calibri" pitchFamily="34" charset="-120"/>
              </a:rPr>
              <a:t>Any acceptable remedy must additionally stop short of clinical judgements it is not permitted to make, and must protect consultation content that is legally sensitive personal data.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Point of view, and the questions it opens</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1920240"/>
            <a:ext cx="10911535" cy="1371600"/>
          </a:xfrm>
          <a:prstGeom prst="roundRect">
            <a:avLst>
              <a:gd name="adj" fmla="val 4667"/>
            </a:avLst>
          </a:prstGeom>
          <a:solidFill>
            <a:srgbClr val="EFF4F3"/>
          </a:solidFill>
          <a:ln/>
        </p:spPr>
        <p:txBody>
          <a:bodyPr/>
          <a:p/>
        </p:txBody>
      </p:sp>
      <p:sp>
        <p:nvSpPr>
          <p:cNvPr id="12" name="Text 10"/>
          <p:cNvSpPr txBox="1"/>
          <p:nvPr/>
        </p:nvSpPr>
        <p:spPr>
          <a:xfrm>
            <a:off x="1024128" y="2121408"/>
            <a:ext cx="2743200" cy="237744"/>
          </a:xfrm>
          <a:prstGeom prst="rect">
            <a:avLst/>
          </a:prstGeom>
          <a:noFill/>
          <a:ln/>
        </p:spPr>
        <p:txBody>
          <a:bodyPr wrap="square" lIns="0" tIns="0" rIns="0" bIns="0" rtlCol="0" anchor="ctr"/>
          <a:lstStyle/>
          <a:p>
            <a:pPr indent="0" marL="0">
              <a:buNone/>
            </a:pPr>
            <a:r>
              <a:rPr lang="en-US" sz="1000" b="1" spc="200" kern="0" dirty="0">
                <a:solidFill>
                  <a:srgbClr val="0E6E6B"/>
                </a:solidFill>
                <a:latin typeface="Calibri" pitchFamily="34" charset="0"/>
                <a:ea typeface="Calibri" pitchFamily="34" charset="-122"/>
                <a:cs typeface="Calibri" pitchFamily="34" charset="-120"/>
              </a:rPr>
              <a:t>POINT OF VIEW</a:t>
            </a:r>
            <a:endParaRPr lang="en-US" sz="1000" dirty="0"/>
          </a:p>
        </p:txBody>
      </p:sp>
      <p:sp>
        <p:nvSpPr>
          <p:cNvPr id="13" name="Text 11"/>
          <p:cNvSpPr txBox="1"/>
          <p:nvPr/>
        </p:nvSpPr>
        <p:spPr>
          <a:xfrm>
            <a:off x="1024128" y="2432304"/>
            <a:ext cx="10143439" cy="749808"/>
          </a:xfrm>
          <a:prstGeom prst="rect">
            <a:avLst/>
          </a:prstGeom>
          <a:noFill/>
          <a:ln/>
        </p:spPr>
        <p:txBody>
          <a:bodyPr wrap="square" lIns="0" tIns="0" rIns="0" bIns="0" rtlCol="0" anchor="ctr"/>
          <a:lstStyle/>
          <a:p>
            <a:pPr indent="0" marL="0">
              <a:lnSpc>
                <a:spcPts val="2600"/>
              </a:lnSpc>
              <a:buNone/>
            </a:pPr>
            <a:r>
              <a:rPr lang="en-US" sz="1700" dirty="0">
                <a:solidFill>
                  <a:srgbClr val="0B2B2E"/>
                </a:solidFill>
                <a:latin typeface="Cambria" pitchFamily="34" charset="0"/>
                <a:ea typeface="Cambria" pitchFamily="34" charset="-122"/>
                <a:cs typeface="Cambria" pitchFamily="34" charset="-120"/>
              </a:rPr>
              <a:t>Dr. Roy needs to end each consultation with a usable record without spending consultation time producing it — because the two minutes he has belong to the patient, and every second the record takes is taken from care.</a:t>
            </a:r>
            <a:endParaRPr lang="en-US" sz="1700" dirty="0"/>
          </a:p>
        </p:txBody>
      </p:sp>
      <p:sp>
        <p:nvSpPr>
          <p:cNvPr id="14" name="Text 12"/>
          <p:cNvSpPr txBox="1"/>
          <p:nvPr/>
        </p:nvSpPr>
        <p:spPr>
          <a:xfrm>
            <a:off x="640080" y="3547872"/>
            <a:ext cx="3657600" cy="274320"/>
          </a:xfrm>
          <a:prstGeom prst="rect">
            <a:avLst/>
          </a:prstGeom>
          <a:noFill/>
          <a:ln/>
        </p:spPr>
        <p:txBody>
          <a:bodyPr wrap="square" lIns="0" tIns="0" rIns="0" bIns="0" rtlCol="0" anchor="ctr"/>
          <a:lstStyle/>
          <a:p>
            <a:pPr indent="0" marL="0">
              <a:buNone/>
            </a:pPr>
            <a:r>
              <a:rPr lang="en-US" sz="1050" b="1" spc="200" kern="0" dirty="0">
                <a:solidFill>
                  <a:srgbClr val="C9821F"/>
                </a:solidFill>
                <a:latin typeface="Calibri" pitchFamily="34" charset="0"/>
                <a:ea typeface="Calibri" pitchFamily="34" charset="-122"/>
                <a:cs typeface="Calibri" pitchFamily="34" charset="-120"/>
              </a:rPr>
              <a:t>HOW MIGHT WE…</a:t>
            </a:r>
            <a:endParaRPr lang="en-US" sz="1050" dirty="0"/>
          </a:p>
        </p:txBody>
      </p:sp>
      <p:sp>
        <p:nvSpPr>
          <p:cNvPr id="15" name="Shape 13"/>
          <p:cNvSpPr/>
          <p:nvPr/>
        </p:nvSpPr>
        <p:spPr>
          <a:xfrm>
            <a:off x="640080"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6" name="Text 14"/>
          <p:cNvSpPr txBox="1"/>
          <p:nvPr/>
        </p:nvSpPr>
        <p:spPr>
          <a:xfrm>
            <a:off x="914400"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01</a:t>
            </a:r>
            <a:endParaRPr lang="en-US" sz="1600" dirty="0"/>
          </a:p>
        </p:txBody>
      </p:sp>
      <p:sp>
        <p:nvSpPr>
          <p:cNvPr id="17" name="Text 15"/>
          <p:cNvSpPr txBox="1"/>
          <p:nvPr/>
        </p:nvSpPr>
        <p:spPr>
          <a:xfrm>
            <a:off x="914400"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…let a record write itself from what is already being said in the room?</a:t>
            </a:r>
            <a:endParaRPr lang="en-US" sz="1300" dirty="0"/>
          </a:p>
        </p:txBody>
      </p:sp>
      <p:sp>
        <p:nvSpPr>
          <p:cNvPr id="18" name="Shape 16"/>
          <p:cNvSpPr/>
          <p:nvPr/>
        </p:nvSpPr>
        <p:spPr>
          <a:xfrm>
            <a:off x="3422828"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9" name="Text 17"/>
          <p:cNvSpPr txBox="1"/>
          <p:nvPr/>
        </p:nvSpPr>
        <p:spPr>
          <a:xfrm>
            <a:off x="3697148"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02</a:t>
            </a:r>
            <a:endParaRPr lang="en-US" sz="1600" dirty="0"/>
          </a:p>
        </p:txBody>
      </p:sp>
      <p:sp>
        <p:nvSpPr>
          <p:cNvPr id="20" name="Text 18"/>
          <p:cNvSpPr txBox="1"/>
          <p:nvPr/>
        </p:nvSpPr>
        <p:spPr>
          <a:xfrm>
            <a:off x="3697148"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…make recording feel like less work than the paper it replaces?</a:t>
            </a:r>
            <a:endParaRPr lang="en-US" sz="1300" dirty="0"/>
          </a:p>
        </p:txBody>
      </p:sp>
      <p:sp>
        <p:nvSpPr>
          <p:cNvPr id="21" name="Shape 19"/>
          <p:cNvSpPr/>
          <p:nvPr/>
        </p:nvSpPr>
        <p:spPr>
          <a:xfrm>
            <a:off x="6205576"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2" name="Text 20"/>
          <p:cNvSpPr txBox="1"/>
          <p:nvPr/>
        </p:nvSpPr>
        <p:spPr>
          <a:xfrm>
            <a:off x="6479896"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03</a:t>
            </a:r>
            <a:endParaRPr lang="en-US" sz="1600" dirty="0"/>
          </a:p>
        </p:txBody>
      </p:sp>
      <p:sp>
        <p:nvSpPr>
          <p:cNvPr id="23" name="Text 21"/>
          <p:cNvSpPr txBox="1"/>
          <p:nvPr/>
        </p:nvSpPr>
        <p:spPr>
          <a:xfrm>
            <a:off x="6479896"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…guarantee no consultation is ever lost, whatever fails?</a:t>
            </a:r>
            <a:endParaRPr lang="en-US" sz="1300" dirty="0"/>
          </a:p>
        </p:txBody>
      </p:sp>
      <p:sp>
        <p:nvSpPr>
          <p:cNvPr id="24" name="Shape 22"/>
          <p:cNvSpPr/>
          <p:nvPr/>
        </p:nvSpPr>
        <p:spPr>
          <a:xfrm>
            <a:off x="8988323"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5" name="Text 23"/>
          <p:cNvSpPr txBox="1"/>
          <p:nvPr/>
        </p:nvSpPr>
        <p:spPr>
          <a:xfrm>
            <a:off x="9262643"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04</a:t>
            </a:r>
            <a:endParaRPr lang="en-US" sz="1600" dirty="0"/>
          </a:p>
        </p:txBody>
      </p:sp>
      <p:sp>
        <p:nvSpPr>
          <p:cNvPr id="26" name="Text 24"/>
          <p:cNvSpPr txBox="1"/>
          <p:nvPr/>
        </p:nvSpPr>
        <p:spPr>
          <a:xfrm>
            <a:off x="9262643"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…stop short of clinical judgement while still being useful?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boundaries we designed inside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847088"/>
            <a:ext cx="4572000" cy="256032"/>
          </a:xfrm>
          <a:prstGeom prst="rect">
            <a:avLst/>
          </a:prstGeom>
          <a:noFill/>
          <a:ln/>
        </p:spPr>
        <p:txBody>
          <a:bodyPr wrap="square" lIns="0" tIns="0" rIns="0" bIns="0" rtlCol="0" anchor="ctr"/>
          <a:lstStyle/>
          <a:p>
            <a:pPr indent="0" marL="0">
              <a:buNone/>
            </a:pPr>
            <a:r>
              <a:rPr lang="en-US" sz="1050" b="1" spc="180" kern="0" dirty="0">
                <a:solidFill>
                  <a:srgbClr val="A8453A"/>
                </a:solidFill>
                <a:latin typeface="Calibri" pitchFamily="34" charset="0"/>
                <a:ea typeface="Calibri" pitchFamily="34" charset="-122"/>
                <a:cs typeface="Calibri" pitchFamily="34" charset="-120"/>
              </a:rPr>
              <a:t>TWO LINES WE MAY NOT CROSS</a:t>
            </a:r>
            <a:endParaRPr lang="en-US" sz="1050" dirty="0"/>
          </a:p>
        </p:txBody>
      </p:sp>
      <p:sp>
        <p:nvSpPr>
          <p:cNvPr id="12" name="Shape 10"/>
          <p:cNvSpPr/>
          <p:nvPr/>
        </p:nvSpPr>
        <p:spPr>
          <a:xfrm>
            <a:off x="640080" y="221284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32688" y="2487168"/>
            <a:ext cx="548640" cy="548640"/>
          </a:xfrm>
          <a:prstGeom prst="ellipse">
            <a:avLst/>
          </a:prstGeom>
          <a:solidFill>
            <a:srgbClr val="0B2B2E"/>
          </a:solidFill>
          <a:ln/>
        </p:spPr>
        <p:txBody>
          <a:bodyPr/>
          <a:p/>
        </p:txBody>
      </p:sp>
      <p:pic>
        <p:nvPicPr>
          <p:cNvPr id="14" name="Image 0" descr="preencoded.png">    </p:cNvPr>
          <p:cNvPicPr>
            <a:picLocks noChangeAspect="1"/>
          </p:cNvPicPr>
          <p:nvPr/>
        </p:nvPicPr>
        <p:blipFill>
          <a:blip r:embed="rId1"/>
          <a:stretch>
            <a:fillRect/>
          </a:stretch>
        </p:blipFill>
        <p:spPr>
          <a:xfrm>
            <a:off x="1069848" y="2624328"/>
            <a:ext cx="274320" cy="274320"/>
          </a:xfrm>
          <a:prstGeom prst="rect">
            <a:avLst/>
          </a:prstGeom>
        </p:spPr>
      </p:pic>
      <p:sp>
        <p:nvSpPr>
          <p:cNvPr id="15" name="Text 12"/>
          <p:cNvSpPr txBox="1"/>
          <p:nvPr/>
        </p:nvSpPr>
        <p:spPr>
          <a:xfrm>
            <a:off x="1627632" y="250545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CDSCO — Software as a Medical Device</a:t>
            </a:r>
            <a:endParaRPr lang="en-US" sz="1400" dirty="0"/>
          </a:p>
        </p:txBody>
      </p:sp>
      <p:sp>
        <p:nvSpPr>
          <p:cNvPr id="16" name="Text 13"/>
          <p:cNvSpPr txBox="1"/>
          <p:nvPr/>
        </p:nvSpPr>
        <p:spPr>
          <a:xfrm>
            <a:off x="1627632" y="287121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Software confined to storing, formatting and communicating data sits outside device regulation. Software that quantifies a physiological parameter to drive a clinical decision does not.</a:t>
            </a:r>
            <a:endParaRPr lang="en-US" sz="1200" dirty="0"/>
          </a:p>
        </p:txBody>
      </p:sp>
      <p:sp>
        <p:nvSpPr>
          <p:cNvPr id="17" name="Shape 14"/>
          <p:cNvSpPr/>
          <p:nvPr/>
        </p:nvSpPr>
        <p:spPr>
          <a:xfrm>
            <a:off x="640080" y="413308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5"/>
          <p:cNvSpPr/>
          <p:nvPr/>
        </p:nvSpPr>
        <p:spPr>
          <a:xfrm>
            <a:off x="932688" y="4407408"/>
            <a:ext cx="548640" cy="548640"/>
          </a:xfrm>
          <a:prstGeom prst="ellipse">
            <a:avLst/>
          </a:prstGeom>
          <a:solidFill>
            <a:srgbClr val="0B2B2E"/>
          </a:solidFill>
          <a:ln/>
        </p:spPr>
        <p:txBody>
          <a:bodyPr/>
          <a:p/>
        </p:txBody>
      </p:sp>
      <p:pic>
        <p:nvPicPr>
          <p:cNvPr id="19" name="Image 1" descr="preencoded.png">    </p:cNvPr>
          <p:cNvPicPr>
            <a:picLocks noChangeAspect="1"/>
          </p:cNvPicPr>
          <p:nvPr/>
        </p:nvPicPr>
        <p:blipFill>
          <a:blip r:embed="rId2"/>
          <a:stretch>
            <a:fillRect/>
          </a:stretch>
        </p:blipFill>
        <p:spPr>
          <a:xfrm>
            <a:off x="1069848" y="4544568"/>
            <a:ext cx="274320" cy="274320"/>
          </a:xfrm>
          <a:prstGeom prst="rect">
            <a:avLst/>
          </a:prstGeom>
        </p:spPr>
      </p:pic>
      <p:sp>
        <p:nvSpPr>
          <p:cNvPr id="20" name="Text 16"/>
          <p:cNvSpPr txBox="1"/>
          <p:nvPr/>
        </p:nvSpPr>
        <p:spPr>
          <a:xfrm>
            <a:off x="1627632" y="442569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Digital Personal Data Protection Act, 2023</a:t>
            </a:r>
            <a:endParaRPr lang="en-US" sz="1400" dirty="0"/>
          </a:p>
        </p:txBody>
      </p:sp>
      <p:sp>
        <p:nvSpPr>
          <p:cNvPr id="21" name="Text 17"/>
          <p:cNvSpPr txBox="1"/>
          <p:nvPr/>
        </p:nvSpPr>
        <p:spPr>
          <a:xfrm>
            <a:off x="1627632" y="479145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Consultation content is sensitive personal data. Informed consent, purpose limitation and deletion rights apply to an early-stage product exactly as they apply to an established company.</a:t>
            </a:r>
            <a:endParaRPr lang="en-US" sz="1200" dirty="0"/>
          </a:p>
        </p:txBody>
      </p:sp>
      <p:sp>
        <p:nvSpPr>
          <p:cNvPr id="22" name="Shape 18"/>
          <p:cNvSpPr/>
          <p:nvPr/>
        </p:nvSpPr>
        <p:spPr>
          <a:xfrm>
            <a:off x="6766560" y="1847088"/>
            <a:ext cx="4782312" cy="3931920"/>
          </a:xfrm>
          <a:prstGeom prst="roundRect">
            <a:avLst>
              <a:gd name="adj" fmla="val 2093"/>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23" name="Text 19"/>
          <p:cNvSpPr txBox="1"/>
          <p:nvPr/>
        </p:nvSpPr>
        <p:spPr>
          <a:xfrm>
            <a:off x="7114032" y="2121408"/>
            <a:ext cx="41148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FOUR THINGS WE CHOSE NOT TO BUILD</a:t>
            </a:r>
            <a:endParaRPr lang="en-US" sz="1050" dirty="0"/>
          </a:p>
        </p:txBody>
      </p:sp>
      <p:sp>
        <p:nvSpPr>
          <p:cNvPr id="24" name="Text 20"/>
          <p:cNvSpPr txBox="1"/>
          <p:nvPr/>
        </p:nvSpPr>
        <p:spPr>
          <a:xfrm>
            <a:off x="7114032" y="2560320"/>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5" name="Text 21"/>
          <p:cNvSpPr txBox="1"/>
          <p:nvPr/>
        </p:nvSpPr>
        <p:spPr>
          <a:xfrm>
            <a:off x="7443216" y="2578608"/>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diagnosis, no risk score</a:t>
            </a:r>
            <a:endParaRPr lang="en-US" sz="1300" dirty="0"/>
          </a:p>
        </p:txBody>
      </p:sp>
      <p:sp>
        <p:nvSpPr>
          <p:cNvPr id="26" name="Text 22"/>
          <p:cNvSpPr txBox="1"/>
          <p:nvPr/>
        </p:nvSpPr>
        <p:spPr>
          <a:xfrm>
            <a:off x="7443216" y="2852928"/>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system carries the record, it does not judge it</a:t>
            </a:r>
            <a:endParaRPr lang="en-US" sz="1150" dirty="0"/>
          </a:p>
        </p:txBody>
      </p:sp>
      <p:sp>
        <p:nvSpPr>
          <p:cNvPr id="27" name="Text 23"/>
          <p:cNvSpPr txBox="1"/>
          <p:nvPr/>
        </p:nvSpPr>
        <p:spPr>
          <a:xfrm>
            <a:off x="7114032" y="3346704"/>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8" name="Text 24"/>
          <p:cNvSpPr txBox="1"/>
          <p:nvPr/>
        </p:nvSpPr>
        <p:spPr>
          <a:xfrm>
            <a:off x="7443216" y="3364992"/>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 stays where the clinic chose</a:t>
            </a:r>
            <a:endParaRPr lang="en-US" sz="1300" dirty="0"/>
          </a:p>
        </p:txBody>
      </p:sp>
      <p:sp>
        <p:nvSpPr>
          <p:cNvPr id="29" name="Text 25"/>
          <p:cNvSpPr txBox="1"/>
          <p:nvPr/>
        </p:nvSpPr>
        <p:spPr>
          <a:xfrm>
            <a:off x="7443216" y="3639312"/>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no telemetry, no sharing, no exception</a:t>
            </a:r>
            <a:endParaRPr lang="en-US" sz="1150" dirty="0"/>
          </a:p>
        </p:txBody>
      </p:sp>
      <p:sp>
        <p:nvSpPr>
          <p:cNvPr id="30" name="Text 26"/>
          <p:cNvSpPr txBox="1"/>
          <p:nvPr/>
        </p:nvSpPr>
        <p:spPr>
          <a:xfrm>
            <a:off x="7114032" y="4133088"/>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1" name="Text 27"/>
          <p:cNvSpPr txBox="1"/>
          <p:nvPr/>
        </p:nvSpPr>
        <p:spPr>
          <a:xfrm>
            <a:off x="7443216" y="4151376"/>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audio kept after signing</a:t>
            </a:r>
            <a:endParaRPr lang="en-US" sz="1300" dirty="0"/>
          </a:p>
        </p:txBody>
      </p:sp>
      <p:sp>
        <p:nvSpPr>
          <p:cNvPr id="32" name="Text 28"/>
          <p:cNvSpPr txBox="1"/>
          <p:nvPr/>
        </p:nvSpPr>
        <p:spPr>
          <a:xfrm>
            <a:off x="7443216" y="4425696"/>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recording is deleted the moment the note is signed</a:t>
            </a:r>
            <a:endParaRPr lang="en-US" sz="1150" dirty="0"/>
          </a:p>
        </p:txBody>
      </p:sp>
      <p:sp>
        <p:nvSpPr>
          <p:cNvPr id="33" name="Text 29"/>
          <p:cNvSpPr txBox="1"/>
          <p:nvPr/>
        </p:nvSpPr>
        <p:spPr>
          <a:xfrm>
            <a:off x="7114032" y="4919472"/>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4" name="Text 30"/>
          <p:cNvSpPr txBox="1"/>
          <p:nvPr/>
        </p:nvSpPr>
        <p:spPr>
          <a:xfrm>
            <a:off x="7443216" y="4937760"/>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lock-in</a:t>
            </a:r>
            <a:endParaRPr lang="en-US" sz="1300" dirty="0"/>
          </a:p>
        </p:txBody>
      </p:sp>
      <p:sp>
        <p:nvSpPr>
          <p:cNvPr id="35" name="Text 31"/>
          <p:cNvSpPr txBox="1"/>
          <p:nvPr/>
        </p:nvSpPr>
        <p:spPr>
          <a:xfrm>
            <a:off x="7443216" y="5212080"/>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complete records exportable in an open format, any time</a:t>
            </a:r>
            <a:endParaRPr lang="en-US" sz="1150" dirty="0"/>
          </a:p>
        </p:txBody>
      </p:sp>
      <p:sp>
        <p:nvSpPr>
          <p:cNvPr id="36" name="Text 32"/>
          <p:cNvSpPr txBox="1"/>
          <p:nvPr/>
        </p:nvSpPr>
        <p:spPr>
          <a:xfrm>
            <a:off x="640080" y="5961888"/>
            <a:ext cx="5852160" cy="365760"/>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Constraints of this kind are not obstacles to the design. They are the reason the design took the shape it did.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considered, and what we kept</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C9821F"/>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1920240"/>
            <a:ext cx="10911535" cy="914400"/>
          </a:xfrm>
          <a:prstGeom prst="roundRect">
            <a:avLst>
              <a:gd name="adj" fmla="val 7000"/>
            </a:avLst>
          </a:prstGeom>
          <a:solidFill>
            <a:srgbClr val="FFFFFF"/>
          </a:solidFill>
          <a:ln w="12700">
            <a:solidFill>
              <a:srgbClr val="DFEAE8"/>
            </a:solidFill>
            <a:prstDash val="solid"/>
          </a:ln>
        </p:spPr>
        <p:txBody>
          <a:bodyPr/>
          <a:p/>
        </p:txBody>
      </p:sp>
      <p:sp>
        <p:nvSpPr>
          <p:cNvPr id="12" name="Shape 10"/>
          <p:cNvSpPr/>
          <p:nvPr/>
        </p:nvSpPr>
        <p:spPr>
          <a:xfrm>
            <a:off x="950976" y="2194560"/>
            <a:ext cx="365760" cy="365760"/>
          </a:xfrm>
          <a:prstGeom prst="ellipse">
            <a:avLst/>
          </a:prstGeom>
          <a:solidFill>
            <a:srgbClr val="DFEAE8"/>
          </a:solidFill>
          <a:ln/>
        </p:spPr>
        <p:txBody>
          <a:bodyPr/>
          <a:p/>
        </p:txBody>
      </p:sp>
      <p:sp>
        <p:nvSpPr>
          <p:cNvPr id="13" name="Text 11"/>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1499616" y="206654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Faster paper — printed templates and tick-boxes</a:t>
            </a:r>
            <a:endParaRPr lang="en-US" sz="1450" dirty="0"/>
          </a:p>
        </p:txBody>
      </p:sp>
      <p:sp>
        <p:nvSpPr>
          <p:cNvPr id="15" name="Text 13"/>
          <p:cNvSpPr txBox="1"/>
          <p:nvPr/>
        </p:nvSpPr>
        <p:spPr>
          <a:xfrm>
            <a:off x="5760720" y="206654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Still costs the doctor attention during the visit, and produces a record no one can search.</a:t>
            </a:r>
            <a:endParaRPr lang="en-US" sz="1250" dirty="0"/>
          </a:p>
        </p:txBody>
      </p:sp>
      <p:sp>
        <p:nvSpPr>
          <p:cNvPr id="16" name="Shape 14"/>
          <p:cNvSpPr/>
          <p:nvPr/>
        </p:nvSpPr>
        <p:spPr>
          <a:xfrm>
            <a:off x="640080" y="2971800"/>
            <a:ext cx="10911535" cy="914400"/>
          </a:xfrm>
          <a:prstGeom prst="roundRect">
            <a:avLst>
              <a:gd name="adj" fmla="val 7000"/>
            </a:avLst>
          </a:prstGeom>
          <a:solidFill>
            <a:srgbClr val="FFFFFF"/>
          </a:solidFill>
          <a:ln w="12700">
            <a:solidFill>
              <a:srgbClr val="DFEAE8"/>
            </a:solidFill>
            <a:prstDash val="solid"/>
          </a:ln>
        </p:spPr>
        <p:txBody>
          <a:bodyPr/>
          <a:p/>
        </p:txBody>
      </p:sp>
      <p:sp>
        <p:nvSpPr>
          <p:cNvPr id="17" name="Shape 15"/>
          <p:cNvSpPr/>
          <p:nvPr/>
        </p:nvSpPr>
        <p:spPr>
          <a:xfrm>
            <a:off x="950976" y="3246120"/>
            <a:ext cx="365760" cy="365760"/>
          </a:xfrm>
          <a:prstGeom prst="ellipse">
            <a:avLst/>
          </a:prstGeom>
          <a:solidFill>
            <a:srgbClr val="DFEAE8"/>
          </a:solidFill>
          <a:ln/>
        </p:spPr>
        <p:txBody>
          <a:bodyPr/>
          <a:p/>
        </p:txBody>
      </p:sp>
      <p:sp>
        <p:nvSpPr>
          <p:cNvPr id="18" name="Text 16"/>
          <p:cNvSpPr txBox="1"/>
          <p:nvPr/>
        </p:nvSpPr>
        <p:spPr>
          <a:xfrm>
            <a:off x="950976" y="324612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9" name="Text 17"/>
          <p:cNvSpPr txBox="1"/>
          <p:nvPr/>
        </p:nvSpPr>
        <p:spPr>
          <a:xfrm>
            <a:off x="1499616" y="311810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conventional clinic EMR with typed fields</a:t>
            </a:r>
            <a:endParaRPr lang="en-US" sz="1450" dirty="0"/>
          </a:p>
        </p:txBody>
      </p:sp>
      <p:sp>
        <p:nvSpPr>
          <p:cNvPr id="20" name="Text 18"/>
          <p:cNvSpPr txBox="1"/>
          <p:nvPr/>
        </p:nvSpPr>
        <p:spPr>
          <a:xfrm>
            <a:off x="5760720" y="311810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The measured failure mode: documentation time goes up, and the software is abandoned within weeks.</a:t>
            </a:r>
            <a:endParaRPr lang="en-US" sz="1250" dirty="0"/>
          </a:p>
        </p:txBody>
      </p:sp>
      <p:sp>
        <p:nvSpPr>
          <p:cNvPr id="21" name="Shape 19"/>
          <p:cNvSpPr/>
          <p:nvPr/>
        </p:nvSpPr>
        <p:spPr>
          <a:xfrm>
            <a:off x="640080" y="4023360"/>
            <a:ext cx="10911535" cy="914400"/>
          </a:xfrm>
          <a:prstGeom prst="roundRect">
            <a:avLst>
              <a:gd name="adj" fmla="val 7000"/>
            </a:avLst>
          </a:prstGeom>
          <a:solidFill>
            <a:srgbClr val="FFFFFF"/>
          </a:solidFill>
          <a:ln w="12700">
            <a:solidFill>
              <a:srgbClr val="DFEAE8"/>
            </a:solidFill>
            <a:prstDash val="solid"/>
          </a:ln>
        </p:spPr>
        <p:txBody>
          <a:bodyPr/>
          <a:p/>
        </p:txBody>
      </p:sp>
      <p:sp>
        <p:nvSpPr>
          <p:cNvPr id="22" name="Shape 20"/>
          <p:cNvSpPr/>
          <p:nvPr/>
        </p:nvSpPr>
        <p:spPr>
          <a:xfrm>
            <a:off x="950976" y="4297680"/>
            <a:ext cx="365760" cy="365760"/>
          </a:xfrm>
          <a:prstGeom prst="ellipse">
            <a:avLst/>
          </a:prstGeom>
          <a:solidFill>
            <a:srgbClr val="DFEAE8"/>
          </a:solidFill>
          <a:ln/>
        </p:spPr>
        <p:txBody>
          <a:bodyPr/>
          <a:p/>
        </p:txBody>
      </p:sp>
      <p:sp>
        <p:nvSpPr>
          <p:cNvPr id="23" name="Text 21"/>
          <p:cNvSpPr txBox="1"/>
          <p:nvPr/>
        </p:nvSpPr>
        <p:spPr>
          <a:xfrm>
            <a:off x="950976" y="429768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499616" y="416966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scribe locked to one cloud</a:t>
            </a:r>
            <a:endParaRPr lang="en-US" sz="1450" dirty="0"/>
          </a:p>
        </p:txBody>
      </p:sp>
      <p:sp>
        <p:nvSpPr>
          <p:cNvPr id="25" name="Text 23"/>
          <p:cNvSpPr txBox="1"/>
          <p:nvPr/>
        </p:nvSpPr>
        <p:spPr>
          <a:xfrm>
            <a:off x="5760720" y="416966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Gives the clinic no say over where its most sensitive audio goes, and stops working when the link drops.</a:t>
            </a:r>
            <a:endParaRPr lang="en-US" sz="1250" dirty="0"/>
          </a:p>
        </p:txBody>
      </p:sp>
      <p:sp>
        <p:nvSpPr>
          <p:cNvPr id="26" name="Shape 24"/>
          <p:cNvSpPr/>
          <p:nvPr/>
        </p:nvSpPr>
        <p:spPr>
          <a:xfrm>
            <a:off x="640080" y="5074920"/>
            <a:ext cx="10911535" cy="914400"/>
          </a:xfrm>
          <a:prstGeom prst="roundRect">
            <a:avLst>
              <a:gd name="adj" fmla="val 7000"/>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27" name="Shape 25"/>
          <p:cNvSpPr/>
          <p:nvPr/>
        </p:nvSpPr>
        <p:spPr>
          <a:xfrm>
            <a:off x="950976" y="5349240"/>
            <a:ext cx="365760" cy="365760"/>
          </a:xfrm>
          <a:prstGeom prst="ellipse">
            <a:avLst/>
          </a:prstGeom>
          <a:solidFill>
            <a:srgbClr val="C9821F"/>
          </a:solidFill>
          <a:ln/>
        </p:spPr>
        <p:txBody>
          <a:bodyPr/>
          <a:p/>
        </p:txBody>
      </p:sp>
      <p:sp>
        <p:nvSpPr>
          <p:cNvPr id="28" name="Text 26"/>
          <p:cNvSpPr txBox="1"/>
          <p:nvPr/>
        </p:nvSpPr>
        <p:spPr>
          <a:xfrm>
            <a:off x="950976" y="5349240"/>
            <a:ext cx="365760" cy="365760"/>
          </a:xfrm>
          <a:prstGeom prst="rect">
            <a:avLst/>
          </a:prstGeom>
          <a:noFill/>
          <a:ln/>
        </p:spPr>
        <p:txBody>
          <a:bodyPr wrap="square" lIns="0" tIns="0" rIns="0" bIns="0" rtlCol="0" anchor="ctr"/>
          <a:lstStyle/>
          <a:p>
            <a:pPr algn="ctr" indent="0" marL="0">
              <a:buNone/>
            </a:pPr>
            <a:r>
              <a:rPr lang="en-US" sz="1400" b="1" dirty="0">
                <a:solidFill>
                  <a:srgbClr val="0B2B2E"/>
                </a:solidFill>
                <a:latin typeface="Calibri" pitchFamily="34" charset="0"/>
                <a:ea typeface="Calibri" pitchFamily="34" charset="-122"/>
                <a:cs typeface="Calibri" pitchFamily="34" charset="-120"/>
              </a:rPr>
              <a:t>✓</a:t>
            </a:r>
            <a:endParaRPr lang="en-US" sz="1400" dirty="0"/>
          </a:p>
        </p:txBody>
      </p:sp>
      <p:sp>
        <p:nvSpPr>
          <p:cNvPr id="29" name="Text 27"/>
          <p:cNvSpPr txBox="1"/>
          <p:nvPr/>
        </p:nvSpPr>
        <p:spPr>
          <a:xfrm>
            <a:off x="1499616" y="5221224"/>
            <a:ext cx="4663440" cy="621792"/>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An ambient scribe the clinic controls</a:t>
            </a:r>
            <a:endParaRPr lang="en-US" sz="1450" dirty="0"/>
          </a:p>
        </p:txBody>
      </p:sp>
      <p:sp>
        <p:nvSpPr>
          <p:cNvPr id="30" name="Text 28"/>
          <p:cNvSpPr txBox="1"/>
          <p:nvPr/>
        </p:nvSpPr>
        <p:spPr>
          <a:xfrm>
            <a:off x="5760720" y="522122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C3D2D2"/>
                </a:solidFill>
                <a:latin typeface="Calibri" pitchFamily="34" charset="0"/>
                <a:ea typeface="Calibri" pitchFamily="34" charset="-122"/>
                <a:cs typeface="Calibri" pitchFamily="34" charset="-120"/>
              </a:rPr>
              <a:t>Listens to the consultation already happening, drafts the note on the clinic's computer or a hosted service it chooses, and asks the doctor only to review and sign.</a:t>
            </a:r>
            <a:endParaRPr lang="en-US" sz="1250" dirty="0"/>
          </a:p>
        </p:txBody>
      </p:sp>
      <p:sp>
        <p:nvSpPr>
          <p:cNvPr id="31" name="Text 29"/>
          <p:cNvSpPr txBox="1"/>
          <p:nvPr/>
        </p:nvSpPr>
        <p:spPr>
          <a:xfrm>
            <a:off x="640080" y="6144768"/>
            <a:ext cx="10911535" cy="310896"/>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Three of the four were rejected on evidence gathered in the Empathize stage, not on preference.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principles we committed to</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C9821F"/>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Each principle answers one How-Might-We question, and each one has cost us a feature we would otherwise have built.</a:t>
            </a:r>
            <a:endParaRPr lang="en-US" sz="1400" dirty="0"/>
          </a:p>
        </p:txBody>
      </p:sp>
      <p:sp>
        <p:nvSpPr>
          <p:cNvPr id="12" name="Shape 10"/>
          <p:cNvSpPr/>
          <p:nvPr/>
        </p:nvSpPr>
        <p:spPr>
          <a:xfrm>
            <a:off x="64008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69264" y="2560320"/>
            <a:ext cx="621792" cy="621792"/>
          </a:xfrm>
          <a:prstGeom prst="ellipse">
            <a:avLst/>
          </a:prstGeom>
          <a:solidFill>
            <a:srgbClr val="0E6E6B"/>
          </a:solidFill>
          <a:ln/>
        </p:spPr>
        <p:txBody>
          <a:bodyPr/>
          <a:p/>
        </p:txBody>
      </p:sp>
      <p:pic>
        <p:nvPicPr>
          <p:cNvPr id="14" name="Image 0" descr="preencoded.png">    </p:cNvPr>
          <p:cNvPicPr>
            <a:picLocks noChangeAspect="1"/>
          </p:cNvPicPr>
          <p:nvPr/>
        </p:nvPicPr>
        <p:blipFill>
          <a:blip r:embed="rId1"/>
          <a:stretch>
            <a:fillRect/>
          </a:stretch>
        </p:blipFill>
        <p:spPr>
          <a:xfrm>
            <a:off x="1124712" y="2715768"/>
            <a:ext cx="310896" cy="310896"/>
          </a:xfrm>
          <a:prstGeom prst="rect">
            <a:avLst/>
          </a:prstGeom>
        </p:spPr>
      </p:pic>
      <p:sp>
        <p:nvSpPr>
          <p:cNvPr id="15" name="Text 12"/>
          <p:cNvSpPr txBox="1"/>
          <p:nvPr/>
        </p:nvSpPr>
        <p:spPr>
          <a:xfrm>
            <a:off x="96926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Listen, don't ask</a:t>
            </a:r>
            <a:endParaRPr lang="en-US" sz="1600" dirty="0"/>
          </a:p>
        </p:txBody>
      </p:sp>
      <p:sp>
        <p:nvSpPr>
          <p:cNvPr id="16" name="Text 13"/>
          <p:cNvSpPr txBox="1"/>
          <p:nvPr/>
        </p:nvSpPr>
        <p:spPr>
          <a:xfrm>
            <a:off x="96926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record is drafted from the conversation that was going to happen anyway. The doctor is never asked to enter data mid-visit.</a:t>
            </a:r>
            <a:endParaRPr lang="en-US" sz="1250" dirty="0"/>
          </a:p>
        </p:txBody>
      </p:sp>
      <p:sp>
        <p:nvSpPr>
          <p:cNvPr id="17" name="Shape 14"/>
          <p:cNvSpPr/>
          <p:nvPr/>
        </p:nvSpPr>
        <p:spPr>
          <a:xfrm>
            <a:off x="3427400" y="2212848"/>
            <a:ext cx="2549576" cy="3401568"/>
          </a:xfrm>
          <a:prstGeom prst="roundRect">
            <a:avLst>
              <a:gd name="adj" fmla="val 2511"/>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8" name="Shape 15"/>
          <p:cNvSpPr/>
          <p:nvPr/>
        </p:nvSpPr>
        <p:spPr>
          <a:xfrm>
            <a:off x="3756584" y="2560320"/>
            <a:ext cx="621792" cy="621792"/>
          </a:xfrm>
          <a:prstGeom prst="ellipse">
            <a:avLst/>
          </a:prstGeom>
          <a:solidFill>
            <a:srgbClr val="C9821F"/>
          </a:solidFill>
          <a:ln/>
        </p:spPr>
        <p:txBody>
          <a:bodyPr/>
          <a:p/>
        </p:txBody>
      </p:sp>
      <p:pic>
        <p:nvPicPr>
          <p:cNvPr id="19" name="Image 1" descr="preencoded.png">    </p:cNvPr>
          <p:cNvPicPr>
            <a:picLocks noChangeAspect="1"/>
          </p:cNvPicPr>
          <p:nvPr/>
        </p:nvPicPr>
        <p:blipFill>
          <a:blip r:embed="rId2"/>
          <a:stretch>
            <a:fillRect/>
          </a:stretch>
        </p:blipFill>
        <p:spPr>
          <a:xfrm>
            <a:off x="3912032" y="2715768"/>
            <a:ext cx="310896" cy="310896"/>
          </a:xfrm>
          <a:prstGeom prst="rect">
            <a:avLst/>
          </a:prstGeom>
        </p:spPr>
      </p:pic>
      <p:sp>
        <p:nvSpPr>
          <p:cNvPr id="20" name="Text 16"/>
          <p:cNvSpPr txBox="1"/>
          <p:nvPr/>
        </p:nvSpPr>
        <p:spPr>
          <a:xfrm>
            <a:off x="375658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Calibri" pitchFamily="34" charset="0"/>
                <a:ea typeface="Calibri" pitchFamily="34" charset="-122"/>
                <a:cs typeface="Calibri" pitchFamily="34" charset="-120"/>
              </a:rPr>
              <a:t>Never lose a consultation</a:t>
            </a:r>
            <a:endParaRPr lang="en-US" sz="1600" dirty="0"/>
          </a:p>
        </p:txBody>
      </p:sp>
      <p:sp>
        <p:nvSpPr>
          <p:cNvPr id="21" name="Text 17"/>
          <p:cNvSpPr txBox="1"/>
          <p:nvPr/>
        </p:nvSpPr>
        <p:spPr>
          <a:xfrm>
            <a:off x="375658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Audio is written to disk continuously, not at the end. Work in progress survives a crash, a closed laptop or a power cut.</a:t>
            </a:r>
            <a:endParaRPr lang="en-US" sz="1250" dirty="0"/>
          </a:p>
        </p:txBody>
      </p:sp>
      <p:sp>
        <p:nvSpPr>
          <p:cNvPr id="22" name="Shape 18"/>
          <p:cNvSpPr/>
          <p:nvPr/>
        </p:nvSpPr>
        <p:spPr>
          <a:xfrm>
            <a:off x="621472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3" name="Shape 19"/>
          <p:cNvSpPr/>
          <p:nvPr/>
        </p:nvSpPr>
        <p:spPr>
          <a:xfrm>
            <a:off x="6543904" y="2560320"/>
            <a:ext cx="621792" cy="621792"/>
          </a:xfrm>
          <a:prstGeom prst="ellipse">
            <a:avLst/>
          </a:prstGeom>
          <a:solidFill>
            <a:srgbClr val="0E6E6B"/>
          </a:solidFill>
          <a:ln/>
        </p:spPr>
        <p:txBody>
          <a:bodyPr/>
          <a:p/>
        </p:txBody>
      </p:sp>
      <p:pic>
        <p:nvPicPr>
          <p:cNvPr id="24" name="Image 2" descr="preencoded.png">    </p:cNvPr>
          <p:cNvPicPr>
            <a:picLocks noChangeAspect="1"/>
          </p:cNvPicPr>
          <p:nvPr/>
        </p:nvPicPr>
        <p:blipFill>
          <a:blip r:embed="rId3"/>
          <a:stretch>
            <a:fillRect/>
          </a:stretch>
        </p:blipFill>
        <p:spPr>
          <a:xfrm>
            <a:off x="6699352" y="2715768"/>
            <a:ext cx="310896" cy="310896"/>
          </a:xfrm>
          <a:prstGeom prst="rect">
            <a:avLst/>
          </a:prstGeom>
        </p:spPr>
      </p:pic>
      <p:sp>
        <p:nvSpPr>
          <p:cNvPr id="25" name="Text 20"/>
          <p:cNvSpPr txBox="1"/>
          <p:nvPr/>
        </p:nvSpPr>
        <p:spPr>
          <a:xfrm>
            <a:off x="654390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Carry, don't judge</a:t>
            </a:r>
            <a:endParaRPr lang="en-US" sz="1600" dirty="0"/>
          </a:p>
        </p:txBody>
      </p:sp>
      <p:sp>
        <p:nvSpPr>
          <p:cNvPr id="26" name="Text 21"/>
          <p:cNvSpPr txBox="1"/>
          <p:nvPr/>
        </p:nvSpPr>
        <p:spPr>
          <a:xfrm>
            <a:off x="654390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system transcribes, structures and prints. It does not diagnose, score or advise — that boundary is deliberate.</a:t>
            </a:r>
            <a:endParaRPr lang="en-US" sz="1250" dirty="0"/>
          </a:p>
        </p:txBody>
      </p:sp>
      <p:sp>
        <p:nvSpPr>
          <p:cNvPr id="27" name="Shape 22"/>
          <p:cNvSpPr/>
          <p:nvPr/>
        </p:nvSpPr>
        <p:spPr>
          <a:xfrm>
            <a:off x="9002039"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Shape 23"/>
          <p:cNvSpPr/>
          <p:nvPr/>
        </p:nvSpPr>
        <p:spPr>
          <a:xfrm>
            <a:off x="9331223" y="2560320"/>
            <a:ext cx="621792" cy="621792"/>
          </a:xfrm>
          <a:prstGeom prst="ellipse">
            <a:avLst/>
          </a:prstGeom>
          <a:solidFill>
            <a:srgbClr val="0E6E6B"/>
          </a:solidFill>
          <a:ln/>
        </p:spPr>
        <p:txBody>
          <a:bodyPr/>
          <a:p/>
        </p:txBody>
      </p:sp>
      <p:pic>
        <p:nvPicPr>
          <p:cNvPr id="29" name="Image 3" descr="preencoded.png">    </p:cNvPr>
          <p:cNvPicPr>
            <a:picLocks noChangeAspect="1"/>
          </p:cNvPicPr>
          <p:nvPr/>
        </p:nvPicPr>
        <p:blipFill>
          <a:blip r:embed="rId4"/>
          <a:stretch>
            <a:fillRect/>
          </a:stretch>
        </p:blipFill>
        <p:spPr>
          <a:xfrm>
            <a:off x="9486671" y="2715768"/>
            <a:ext cx="310896" cy="310896"/>
          </a:xfrm>
          <a:prstGeom prst="rect">
            <a:avLst/>
          </a:prstGeom>
        </p:spPr>
      </p:pic>
      <p:sp>
        <p:nvSpPr>
          <p:cNvPr id="30" name="Text 24"/>
          <p:cNvSpPr txBox="1"/>
          <p:nvPr/>
        </p:nvSpPr>
        <p:spPr>
          <a:xfrm>
            <a:off x="9331223"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Leave the door open</a:t>
            </a:r>
            <a:endParaRPr lang="en-US" sz="1600" dirty="0"/>
          </a:p>
        </p:txBody>
      </p:sp>
      <p:sp>
        <p:nvSpPr>
          <p:cNvPr id="31" name="Text 25"/>
          <p:cNvSpPr txBox="1"/>
          <p:nvPr/>
        </p:nvSpPr>
        <p:spPr>
          <a:xfrm>
            <a:off x="9331223"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record exportable in an open format at any moment. A clinic that wants to leave should find it easy.</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prototype, running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C9821F"/>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pic>
        <p:nvPicPr>
          <p:cNvPr id="11" name="Image 0" descr="today-tight.png">    </p:cNvPr>
          <p:cNvPicPr>
            <a:picLocks noChangeAspect="1"/>
          </p:cNvPicPr>
          <p:nvPr/>
        </p:nvPicPr>
        <p:blipFill>
          <a:blip r:embed="rId1"/>
          <a:stretch>
            <a:fillRect/>
          </a:stretch>
        </p:blipFill>
        <p:spPr>
          <a:xfrm>
            <a:off x="640080" y="1874520"/>
            <a:ext cx="7086600" cy="3840480"/>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7973568" y="1874520"/>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Working software, not a mockup</a:t>
            </a:r>
            <a:endParaRPr lang="en-US" sz="1350" dirty="0"/>
          </a:p>
        </p:txBody>
      </p:sp>
      <p:sp>
        <p:nvSpPr>
          <p:cNvPr id="13" name="Text 10"/>
          <p:cNvSpPr txBox="1"/>
          <p:nvPr/>
        </p:nvSpPr>
        <p:spPr>
          <a:xfrm>
            <a:off x="7973568" y="2167128"/>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Runs online as a service, or on the clinic's own computer — even without internet.</a:t>
            </a:r>
            <a:endParaRPr lang="en-US" sz="1200" dirty="0"/>
          </a:p>
        </p:txBody>
      </p:sp>
      <p:sp>
        <p:nvSpPr>
          <p:cNvPr id="14" name="Text 11"/>
          <p:cNvSpPr txBox="1"/>
          <p:nvPr/>
        </p:nvSpPr>
        <p:spPr>
          <a:xfrm>
            <a:off x="7973568" y="2871216"/>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Nothing here has been lost</a:t>
            </a:r>
            <a:endParaRPr lang="en-US" sz="1350" dirty="0"/>
          </a:p>
        </p:txBody>
      </p:sp>
      <p:sp>
        <p:nvSpPr>
          <p:cNvPr id="15" name="Text 12"/>
          <p:cNvSpPr txBox="1"/>
          <p:nvPr/>
        </p:nvSpPr>
        <p:spPr>
          <a:xfrm>
            <a:off x="7973568" y="3163824"/>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Interrupted consultations surface on the home screen with the reason they stopped.</a:t>
            </a:r>
            <a:endParaRPr lang="en-US" sz="1200" dirty="0"/>
          </a:p>
        </p:txBody>
      </p:sp>
      <p:sp>
        <p:nvSpPr>
          <p:cNvPr id="16" name="Text 13"/>
          <p:cNvSpPr txBox="1"/>
          <p:nvPr/>
        </p:nvSpPr>
        <p:spPr>
          <a:xfrm>
            <a:off x="7973568" y="3867912"/>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Honest measures on the front page</a:t>
            </a:r>
            <a:endParaRPr lang="en-US" sz="1350" dirty="0"/>
          </a:p>
        </p:txBody>
      </p:sp>
      <p:sp>
        <p:nvSpPr>
          <p:cNvPr id="17" name="Text 14"/>
          <p:cNvSpPr txBox="1"/>
          <p:nvPr/>
        </p:nvSpPr>
        <p:spPr>
          <a:xfrm>
            <a:off x="7973568" y="4160520"/>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Edits per note is shown because it is the number that would expose the system as unreliable.</a:t>
            </a:r>
            <a:endParaRPr lang="en-US" sz="1200" dirty="0"/>
          </a:p>
        </p:txBody>
      </p:sp>
      <p:sp>
        <p:nvSpPr>
          <p:cNvPr id="18" name="Text 15"/>
          <p:cNvSpPr txBox="1"/>
          <p:nvPr/>
        </p:nvSpPr>
        <p:spPr>
          <a:xfrm>
            <a:off x="7973568" y="4864608"/>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Audio is deleted at signing</a:t>
            </a:r>
            <a:endParaRPr lang="en-US" sz="1350" dirty="0"/>
          </a:p>
        </p:txBody>
      </p:sp>
      <p:sp>
        <p:nvSpPr>
          <p:cNvPr id="19" name="Text 16"/>
          <p:cNvSpPr txBox="1"/>
          <p:nvPr/>
        </p:nvSpPr>
        <p:spPr>
          <a:xfrm>
            <a:off x="7973568" y="5157216"/>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Stated on every screen, and enforced in the code rather than in a policy.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the patient walks out with</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C9821F"/>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pic>
        <p:nvPicPr>
          <p:cNvPr id="11" name="Image 0" descr="rx-tight.png">    </p:cNvPr>
          <p:cNvPicPr>
            <a:picLocks noChangeAspect="1"/>
          </p:cNvPicPr>
          <p:nvPr/>
        </p:nvPicPr>
        <p:blipFill>
          <a:blip r:embed="rId1"/>
          <a:stretch>
            <a:fillRect/>
          </a:stretch>
        </p:blipFill>
        <p:spPr>
          <a:xfrm>
            <a:off x="640080" y="1783080"/>
            <a:ext cx="3794760" cy="4133088"/>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640080" y="5998464"/>
            <a:ext cx="3794760" cy="274320"/>
          </a:xfrm>
          <a:prstGeom prst="rect">
            <a:avLst/>
          </a:prstGeom>
          <a:noFill/>
          <a:ln/>
        </p:spPr>
        <p:txBody>
          <a:bodyPr wrap="square" lIns="0" tIns="0" rIns="0" bIns="0" rtlCol="0" anchor="ctr"/>
          <a:lstStyle/>
          <a:p>
            <a:pPr indent="0" marL="0">
              <a:buNone/>
            </a:pPr>
            <a:r>
              <a:rPr lang="en-US" sz="1100" i="1" dirty="0">
                <a:solidFill>
                  <a:srgbClr val="8B9C9D"/>
                </a:solidFill>
                <a:latin typeface="Calibri" pitchFamily="34" charset="0"/>
                <a:ea typeface="Calibri" pitchFamily="34" charset="-122"/>
                <a:cs typeface="Calibri" pitchFamily="34" charset="-120"/>
              </a:rPr>
              <a:t>Printed prescription, generated from the signed note</a:t>
            </a:r>
            <a:endParaRPr lang="en-US" sz="1100" dirty="0"/>
          </a:p>
        </p:txBody>
      </p:sp>
      <p:sp>
        <p:nvSpPr>
          <p:cNvPr id="13" name="Text 10"/>
          <p:cNvSpPr txBox="1"/>
          <p:nvPr/>
        </p:nvSpPr>
        <p:spPr>
          <a:xfrm>
            <a:off x="4892040" y="1828800"/>
            <a:ext cx="54864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THREE DECISIONS TRACED BACK TO THE FIELD</a:t>
            </a:r>
            <a:endParaRPr lang="en-US" sz="1050" dirty="0"/>
          </a:p>
        </p:txBody>
      </p:sp>
      <p:sp>
        <p:nvSpPr>
          <p:cNvPr id="14" name="Shape 11"/>
          <p:cNvSpPr/>
          <p:nvPr/>
        </p:nvSpPr>
        <p:spPr>
          <a:xfrm>
            <a:off x="4892040" y="2212848"/>
            <a:ext cx="6656832" cy="1152144"/>
          </a:xfrm>
          <a:prstGeom prst="roundRect">
            <a:avLst>
              <a:gd name="adj" fmla="val 5556"/>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5" name="Text 12"/>
          <p:cNvSpPr txBox="1"/>
          <p:nvPr/>
        </p:nvSpPr>
        <p:spPr>
          <a:xfrm>
            <a:off x="5193792" y="2377440"/>
            <a:ext cx="6035040" cy="274320"/>
          </a:xfrm>
          <a:prstGeom prst="rect">
            <a:avLst/>
          </a:prstGeom>
          <a:noFill/>
          <a:ln/>
        </p:spPr>
        <p:txBody>
          <a:bodyPr wrap="square" lIns="0" tIns="0" rIns="0" bIns="0" rtlCol="0" anchor="ctr"/>
          <a:lstStyle/>
          <a:p>
            <a:pPr indent="0" marL="0">
              <a:buNone/>
            </a:pPr>
            <a:r>
              <a:rPr lang="en-US" sz="1450" b="1" dirty="0">
                <a:solidFill>
                  <a:srgbClr val="C9821F"/>
                </a:solidFill>
                <a:latin typeface="Cambria" pitchFamily="34" charset="0"/>
                <a:ea typeface="Cambria" pitchFamily="34" charset="-122"/>
                <a:cs typeface="Cambria" pitchFamily="34" charset="-120"/>
              </a:rPr>
              <a:t>“A consultation must survive anything.”</a:t>
            </a:r>
            <a:endParaRPr lang="en-US" sz="1450" dirty="0"/>
          </a:p>
        </p:txBody>
      </p:sp>
      <p:sp>
        <p:nvSpPr>
          <p:cNvPr id="16" name="Text 13"/>
          <p:cNvSpPr txBox="1"/>
          <p:nvPr/>
        </p:nvSpPr>
        <p:spPr>
          <a:xfrm>
            <a:off x="5193792" y="2706624"/>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C3D2D2"/>
                </a:solidFill>
                <a:latin typeface="Calibri" pitchFamily="34" charset="0"/>
                <a:ea typeface="Calibri" pitchFamily="34" charset="-122"/>
                <a:cs typeface="Calibri" pitchFamily="34" charset="-120"/>
              </a:rPr>
              <a:t>Audio is streamed to disk in five-second pieces as it is recorded, with the note autosaved to two independent places. A crash costs seconds, not a visit.</a:t>
            </a:r>
            <a:endParaRPr lang="en-US" sz="1200" dirty="0"/>
          </a:p>
        </p:txBody>
      </p:sp>
      <p:sp>
        <p:nvSpPr>
          <p:cNvPr id="17" name="Shape 14"/>
          <p:cNvSpPr/>
          <p:nvPr/>
        </p:nvSpPr>
        <p:spPr>
          <a:xfrm>
            <a:off x="4892040" y="3511296"/>
            <a:ext cx="6656832" cy="1152144"/>
          </a:xfrm>
          <a:prstGeom prst="roundRect">
            <a:avLst>
              <a:gd name="adj" fmla="val 5556"/>
            </a:avLst>
          </a:prstGeom>
          <a:solidFill>
            <a:srgbClr val="EFF4F3"/>
          </a:solidFill>
          <a:ln/>
        </p:spPr>
        <p:txBody>
          <a:bodyPr/>
          <a:p/>
        </p:txBody>
      </p:sp>
      <p:sp>
        <p:nvSpPr>
          <p:cNvPr id="18" name="Text 15"/>
          <p:cNvSpPr txBox="1"/>
          <p:nvPr/>
        </p:nvSpPr>
        <p:spPr>
          <a:xfrm>
            <a:off x="5193792" y="3675888"/>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“Consent has to fit in the room.”</a:t>
            </a:r>
            <a:endParaRPr lang="en-US" sz="1450" dirty="0"/>
          </a:p>
        </p:txBody>
      </p:sp>
      <p:sp>
        <p:nvSpPr>
          <p:cNvPr id="19" name="Text 16"/>
          <p:cNvSpPr txBox="1"/>
          <p:nvPr/>
        </p:nvSpPr>
        <p:spPr>
          <a:xfrm>
            <a:off x="5193792" y="4005072"/>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spoken Bengali line the doctor can say in fifteen seconds, and a server that refuses to record at all until it is marked given.</a:t>
            </a:r>
            <a:endParaRPr lang="en-US" sz="1200" dirty="0"/>
          </a:p>
        </p:txBody>
      </p:sp>
      <p:sp>
        <p:nvSpPr>
          <p:cNvPr id="20" name="Shape 17"/>
          <p:cNvSpPr/>
          <p:nvPr/>
        </p:nvSpPr>
        <p:spPr>
          <a:xfrm>
            <a:off x="4892040" y="4809744"/>
            <a:ext cx="6656832" cy="1152144"/>
          </a:xfrm>
          <a:prstGeom prst="roundRect">
            <a:avLst>
              <a:gd name="adj" fmla="val 5556"/>
            </a:avLst>
          </a:prstGeom>
          <a:solidFill>
            <a:srgbClr val="EFF4F3"/>
          </a:solidFill>
          <a:ln/>
        </p:spPr>
        <p:txBody>
          <a:bodyPr/>
          <a:p/>
        </p:txBody>
      </p:sp>
      <p:sp>
        <p:nvSpPr>
          <p:cNvPr id="21" name="Text 18"/>
          <p:cNvSpPr txBox="1"/>
          <p:nvPr/>
        </p:nvSpPr>
        <p:spPr>
          <a:xfrm>
            <a:off x="5193792" y="4974336"/>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“One laptop is one point of failure.”</a:t>
            </a:r>
            <a:endParaRPr lang="en-US" sz="1450" dirty="0"/>
          </a:p>
        </p:txBody>
      </p:sp>
      <p:sp>
        <p:nvSpPr>
          <p:cNvPr id="22" name="Text 19"/>
          <p:cNvSpPr txBox="1"/>
          <p:nvPr/>
        </p:nvSpPr>
        <p:spPr>
          <a:xfrm>
            <a:off x="5193792" y="5303520"/>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verified daily snapshot of the whole clinic, restorable in one step — and a plain-file export that works without this software at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TEST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will know we were wrong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TEST</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C9821F"/>
          </a:solidFill>
          <a:ln/>
        </p:spPr>
        <p:txBody>
          <a:bodyPr/>
          <a:p/>
        </p:txBody>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Thresholds set before the test, not after it. Failing any gate stops the project at that gate.</a:t>
            </a:r>
            <a:endParaRPr lang="en-US" sz="1400" dirty="0"/>
          </a:p>
        </p:txBody>
      </p:sp>
      <p:sp>
        <p:nvSpPr>
          <p:cNvPr id="12" name="Shape 10"/>
          <p:cNvSpPr/>
          <p:nvPr/>
        </p:nvSpPr>
        <p:spPr>
          <a:xfrm>
            <a:off x="640080"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Text 11"/>
          <p:cNvSpPr txBox="1"/>
          <p:nvPr/>
        </p:nvSpPr>
        <p:spPr>
          <a:xfrm>
            <a:off x="950976"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1 · WEEK 4</a:t>
            </a:r>
            <a:endParaRPr lang="en-US" sz="950" dirty="0"/>
          </a:p>
        </p:txBody>
      </p:sp>
      <p:sp>
        <p:nvSpPr>
          <p:cNvPr id="14" name="Text 12"/>
          <p:cNvSpPr txBox="1"/>
          <p:nvPr/>
        </p:nvSpPr>
        <p:spPr>
          <a:xfrm>
            <a:off x="950976"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6 of 20</a:t>
            </a:r>
            <a:endParaRPr lang="en-US" sz="3800" dirty="0"/>
          </a:p>
        </p:txBody>
      </p:sp>
      <p:sp>
        <p:nvSpPr>
          <p:cNvPr id="15" name="Text 13"/>
          <p:cNvSpPr txBox="1"/>
          <p:nvPr/>
        </p:nvSpPr>
        <p:spPr>
          <a:xfrm>
            <a:off x="950976"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doctors name documentation, unprompted, among their three worst frustrations</a:t>
            </a:r>
            <a:endParaRPr lang="en-US" sz="1250" dirty="0"/>
          </a:p>
        </p:txBody>
      </p:sp>
      <p:sp>
        <p:nvSpPr>
          <p:cNvPr id="16" name="Text 14"/>
          <p:cNvSpPr txBox="1"/>
          <p:nvPr/>
        </p:nvSpPr>
        <p:spPr>
          <a:xfrm>
            <a:off x="950976"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the problem is not the one we think it is.</a:t>
            </a:r>
            <a:endParaRPr lang="en-US" sz="1150" dirty="0"/>
          </a:p>
        </p:txBody>
      </p:sp>
      <p:sp>
        <p:nvSpPr>
          <p:cNvPr id="17" name="Shape 15"/>
          <p:cNvSpPr/>
          <p:nvPr/>
        </p:nvSpPr>
        <p:spPr>
          <a:xfrm>
            <a:off x="4362602"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Text 16"/>
          <p:cNvSpPr txBox="1"/>
          <p:nvPr/>
        </p:nvSpPr>
        <p:spPr>
          <a:xfrm>
            <a:off x="4673498"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2 · WEEK 8</a:t>
            </a:r>
            <a:endParaRPr lang="en-US" sz="950" dirty="0"/>
          </a:p>
        </p:txBody>
      </p:sp>
      <p:sp>
        <p:nvSpPr>
          <p:cNvPr id="19" name="Text 17"/>
          <p:cNvSpPr txBox="1"/>
          <p:nvPr/>
        </p:nvSpPr>
        <p:spPr>
          <a:xfrm>
            <a:off x="4673498"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2 of 3</a:t>
            </a:r>
            <a:endParaRPr lang="en-US" sz="3800" dirty="0"/>
          </a:p>
        </p:txBody>
      </p:sp>
      <p:sp>
        <p:nvSpPr>
          <p:cNvPr id="20" name="Text 18"/>
          <p:cNvSpPr txBox="1"/>
          <p:nvPr/>
        </p:nvSpPr>
        <p:spPr>
          <a:xfrm>
            <a:off x="4673498"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pilot clinics still using the system unattended on day twenty-one</a:t>
            </a:r>
            <a:endParaRPr lang="en-US" sz="1250" dirty="0"/>
          </a:p>
        </p:txBody>
      </p:sp>
      <p:sp>
        <p:nvSpPr>
          <p:cNvPr id="21" name="Text 19"/>
          <p:cNvSpPr txBox="1"/>
          <p:nvPr/>
        </p:nvSpPr>
        <p:spPr>
          <a:xfrm>
            <a:off x="4673498"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it is being endured, not adopted.</a:t>
            </a:r>
            <a:endParaRPr lang="en-US" sz="1150" dirty="0"/>
          </a:p>
        </p:txBody>
      </p:sp>
      <p:sp>
        <p:nvSpPr>
          <p:cNvPr id="22" name="Shape 20"/>
          <p:cNvSpPr/>
          <p:nvPr/>
        </p:nvSpPr>
        <p:spPr>
          <a:xfrm>
            <a:off x="8085125" y="2194560"/>
            <a:ext cx="3466490" cy="2606040"/>
          </a:xfrm>
          <a:prstGeom prst="roundRect">
            <a:avLst>
              <a:gd name="adj" fmla="val 2456"/>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23" name="Text 21"/>
          <p:cNvSpPr txBox="1"/>
          <p:nvPr/>
        </p:nvSpPr>
        <p:spPr>
          <a:xfrm>
            <a:off x="8396021" y="2395728"/>
            <a:ext cx="2844698"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GATE 3 · ONGOING</a:t>
            </a:r>
            <a:endParaRPr lang="en-US" sz="950" dirty="0"/>
          </a:p>
        </p:txBody>
      </p:sp>
      <p:sp>
        <p:nvSpPr>
          <p:cNvPr id="24" name="Text 22"/>
          <p:cNvSpPr txBox="1"/>
          <p:nvPr/>
        </p:nvSpPr>
        <p:spPr>
          <a:xfrm>
            <a:off x="8396021" y="2670048"/>
            <a:ext cx="2844698" cy="65836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0</a:t>
            </a:r>
            <a:endParaRPr lang="en-US" sz="3800" dirty="0"/>
          </a:p>
        </p:txBody>
      </p:sp>
      <p:sp>
        <p:nvSpPr>
          <p:cNvPr id="25" name="Text 23"/>
          <p:cNvSpPr txBox="1"/>
          <p:nvPr/>
        </p:nvSpPr>
        <p:spPr>
          <a:xfrm>
            <a:off x="8396021"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consultations lost to a crash, a power cut or a closed laptop</a:t>
            </a:r>
            <a:endParaRPr lang="en-US" sz="1250" dirty="0"/>
          </a:p>
        </p:txBody>
      </p:sp>
      <p:sp>
        <p:nvSpPr>
          <p:cNvPr id="26" name="Text 24"/>
          <p:cNvSpPr txBox="1"/>
          <p:nvPr/>
        </p:nvSpPr>
        <p:spPr>
          <a:xfrm>
            <a:off x="8396021"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5FB3AB"/>
                </a:solidFill>
                <a:latin typeface="Calibri" pitchFamily="34" charset="0"/>
                <a:ea typeface="Calibri" pitchFamily="34" charset="-122"/>
                <a:cs typeface="Calibri" pitchFamily="34" charset="-120"/>
              </a:rPr>
              <a:t>Above this, nothing else on this slide matters.</a:t>
            </a:r>
            <a:endParaRPr lang="en-US" sz="1150" dirty="0"/>
          </a:p>
        </p:txBody>
      </p:sp>
      <p:sp>
        <p:nvSpPr>
          <p:cNvPr id="27" name="Shape 25"/>
          <p:cNvSpPr/>
          <p:nvPr/>
        </p:nvSpPr>
        <p:spPr>
          <a:xfrm>
            <a:off x="640080" y="5047488"/>
            <a:ext cx="10911535" cy="969264"/>
          </a:xfrm>
          <a:prstGeom prst="roundRect">
            <a:avLst>
              <a:gd name="adj" fmla="val 6604"/>
            </a:avLst>
          </a:prstGeom>
          <a:solidFill>
            <a:srgbClr val="EFF4F3"/>
          </a:solidFill>
          <a:ln/>
        </p:spPr>
        <p:txBody>
          <a:bodyPr/>
          <a:p/>
        </p:txBody>
      </p:sp>
      <p:sp>
        <p:nvSpPr>
          <p:cNvPr id="28" name="Text 26"/>
          <p:cNvSpPr txBox="1"/>
          <p:nvPr/>
        </p:nvSpPr>
        <p:spPr>
          <a:xfrm>
            <a:off x="960120" y="5047488"/>
            <a:ext cx="10271455" cy="969264"/>
          </a:xfrm>
          <a:prstGeom prst="rect">
            <a:avLst/>
          </a:prstGeom>
          <a:noFill/>
          <a:ln/>
        </p:spPr>
        <p:txBody>
          <a:bodyPr wrap="square" lIns="0" tIns="0" rIns="0" bIns="0" rtlCol="0" anchor="ctr"/>
          <a:lstStyle/>
          <a:p>
            <a:pPr indent="0" marL="0">
              <a:lnSpc>
                <a:spcPts val="1900"/>
              </a:lnSpc>
              <a:buNone/>
            </a:pPr>
            <a:r>
              <a:rPr lang="en-US" sz="1250" dirty="0">
                <a:solidFill>
                  <a:srgbClr val="0B2B2E"/>
                </a:solidFill>
                <a:latin typeface="Calibri" pitchFamily="34" charset="0"/>
                <a:ea typeface="Calibri" pitchFamily="34" charset="-122"/>
                <a:cs typeface="Calibri" pitchFamily="34" charset="-120"/>
              </a:rPr>
              <a:t>Alongside the gates:   edits per generated note must trend downwards  ·  reported time per consultation must not get worse  ·  every deletion request honoured within the same day</a:t>
            </a:r>
            <a:endParaRPr lang="en-US" sz="125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SCALE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Clinics first. Then the world.</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SCALE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Single-doctor clinics first, then multi-doctor clinics, hospitals and health systems, then international markets.</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32688" y="2487168"/>
            <a:ext cx="475488" cy="475488"/>
          </a:xfrm>
          <a:prstGeom prst="roundRect">
            <a:avLst>
              <a:gd name="adj" fmla="val 23077"/>
            </a:avLst>
          </a:prstGeom>
          <a:solidFill>
            <a:srgbClr val="0E6E6B"/>
          </a:solidFill>
          <a:ln/>
        </p:spPr>
        <p:txBody>
          <a:bodyPr/>
          <a:p/>
        </p:txBody>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Accounts and roles</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 front desk and clinic admin — checked on every request, not just hidden behind a menu.</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6"/>
          <p:cNvSpPr/>
          <p:nvPr/>
        </p:nvSpPr>
        <p:spPr>
          <a:xfrm>
            <a:off x="6498184" y="2487168"/>
            <a:ext cx="475488" cy="475488"/>
          </a:xfrm>
          <a:prstGeom prst="roundRect">
            <a:avLst>
              <a:gd name="adj" fmla="val 23077"/>
            </a:avLst>
          </a:prstGeom>
          <a:solidFill>
            <a:srgbClr val="C9821F"/>
          </a:solidFill>
          <a:ln/>
        </p:spPr>
        <p:txBody>
          <a:bodyPr/>
          <a:p/>
        </p:txBody>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front desk that runs the day</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queue, a day's list and a doctor's worklist, so the clinic works as more than one person.</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3" name="Shape 21"/>
          <p:cNvSpPr/>
          <p:nvPr/>
        </p:nvSpPr>
        <p:spPr>
          <a:xfrm>
            <a:off x="932688" y="4361688"/>
            <a:ext cx="475488" cy="475488"/>
          </a:xfrm>
          <a:prstGeom prst="roundRect">
            <a:avLst>
              <a:gd name="adj" fmla="val 23077"/>
            </a:avLst>
          </a:prstGeom>
          <a:solidFill>
            <a:srgbClr val="0E6E6B"/>
          </a:solidFill>
          <a:ln/>
        </p:spPr>
        <p:txBody>
          <a:bodyPr/>
          <a:p/>
        </p:txBody>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An activity log</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account action is recorded, so who did what is always answerable.</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Shape 26"/>
          <p:cNvSpPr/>
          <p:nvPr/>
        </p:nvSpPr>
        <p:spPr>
          <a:xfrm>
            <a:off x="6498184" y="4361688"/>
            <a:ext cx="475488" cy="475488"/>
          </a:xfrm>
          <a:prstGeom prst="roundRect">
            <a:avLst>
              <a:gd name="adj" fmla="val 23077"/>
            </a:avLst>
          </a:prstGeom>
          <a:solidFill>
            <a:srgbClr val="0E6E6B"/>
          </a:solidFill>
          <a:ln/>
        </p:spPr>
        <p:txBody>
          <a:bodyPr/>
          <a:p/>
        </p:txBody>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public site, live</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Describing the product to clinics of every size, and taking enquiries beyond the pilot.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txBody>
          <a:bodyPr/>
          <a:p/>
        </p:txBody>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ALL FIVE STAGES</a:t>
            </a:r>
            <a:endParaRPr lang="en-US" sz="1000" dirty="0"/>
          </a:p>
        </p:txBody>
      </p:sp>
      <p:sp>
        <p:nvSpPr>
          <p:cNvPr id="4" name="Shape 2"/>
          <p:cNvSpPr/>
          <p:nvPr/>
        </p:nvSpPr>
        <p:spPr>
          <a:xfrm>
            <a:off x="10349179" y="548640"/>
            <a:ext cx="141732" cy="141732"/>
          </a:xfrm>
          <a:prstGeom prst="ellipse">
            <a:avLst/>
          </a:prstGeom>
          <a:solidFill>
            <a:srgbClr val="C9821F"/>
          </a:solidFill>
          <a:ln/>
        </p:spPr>
        <p:txBody>
          <a:bodyPr/>
          <a:p/>
        </p:txBody>
      </p:sp>
      <p:sp>
        <p:nvSpPr>
          <p:cNvPr id="5" name="Shape 3"/>
          <p:cNvSpPr/>
          <p:nvPr/>
        </p:nvSpPr>
        <p:spPr>
          <a:xfrm>
            <a:off x="10614355" y="548640"/>
            <a:ext cx="141732" cy="141732"/>
          </a:xfrm>
          <a:prstGeom prst="ellipse">
            <a:avLst/>
          </a:prstGeom>
          <a:solidFill>
            <a:srgbClr val="C9821F"/>
          </a:solidFill>
          <a:ln/>
        </p:spPr>
        <p:txBody>
          <a:bodyPr/>
          <a:p/>
        </p:txBody>
      </p:sp>
      <p:sp>
        <p:nvSpPr>
          <p:cNvPr id="6" name="Shape 4"/>
          <p:cNvSpPr/>
          <p:nvPr/>
        </p:nvSpPr>
        <p:spPr>
          <a:xfrm>
            <a:off x="10879531" y="548640"/>
            <a:ext cx="141732" cy="141732"/>
          </a:xfrm>
          <a:prstGeom prst="ellipse">
            <a:avLst/>
          </a:prstGeom>
          <a:solidFill>
            <a:srgbClr val="C9821F"/>
          </a:solidFill>
          <a:ln/>
        </p:spPr>
        <p:txBody>
          <a:bodyPr/>
          <a:p/>
        </p:txBody>
      </p:sp>
      <p:sp>
        <p:nvSpPr>
          <p:cNvPr id="7" name="Shape 5"/>
          <p:cNvSpPr/>
          <p:nvPr/>
        </p:nvSpPr>
        <p:spPr>
          <a:xfrm>
            <a:off x="11144707" y="548640"/>
            <a:ext cx="141732" cy="141732"/>
          </a:xfrm>
          <a:prstGeom prst="ellipse">
            <a:avLst/>
          </a:prstGeom>
          <a:solidFill>
            <a:srgbClr val="C9821F"/>
          </a:solidFill>
          <a:ln/>
        </p:spPr>
        <p:txBody>
          <a:bodyPr/>
          <a:p/>
        </p:txBody>
      </p:sp>
      <p:sp>
        <p:nvSpPr>
          <p:cNvPr id="8" name="Shape 6"/>
          <p:cNvSpPr/>
          <p:nvPr/>
        </p:nvSpPr>
        <p:spPr>
          <a:xfrm>
            <a:off x="11409883" y="548640"/>
            <a:ext cx="141732" cy="141732"/>
          </a:xfrm>
          <a:prstGeom prst="ellipse">
            <a:avLst/>
          </a:prstGeom>
          <a:solidFill>
            <a:srgbClr val="C9821F"/>
          </a:solidFill>
          <a:ln/>
        </p:spPr>
        <p:txBody>
          <a:bodyPr/>
          <a:p/>
        </p:txBody>
      </p:sp>
      <p:sp>
        <p:nvSpPr>
          <p:cNvPr id="9" name="Text 7"/>
          <p:cNvSpPr txBox="1"/>
          <p:nvPr/>
        </p:nvSpPr>
        <p:spPr>
          <a:xfrm>
            <a:off x="640080" y="868680"/>
            <a:ext cx="54864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REFLECTION</a:t>
            </a:r>
            <a:endParaRPr lang="en-US" sz="1100" dirty="0"/>
          </a:p>
        </p:txBody>
      </p:sp>
      <p:sp>
        <p:nvSpPr>
          <p:cNvPr id="10" name="Text 8"/>
          <p:cNvSpPr txBox="1"/>
          <p:nvPr/>
        </p:nvSpPr>
        <p:spPr>
          <a:xfrm>
            <a:off x="640080" y="1207008"/>
            <a:ext cx="8229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the process changed</a:t>
            </a:r>
            <a:endParaRPr lang="en-US" sz="3400" dirty="0"/>
          </a:p>
        </p:txBody>
      </p:sp>
      <p:sp>
        <p:nvSpPr>
          <p:cNvPr id="11" name="Text 9"/>
          <p:cNvSpPr txBox="1"/>
          <p:nvPr/>
        </p:nvSpPr>
        <p:spPr>
          <a:xfrm>
            <a:off x="640080" y="2212848"/>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01</a:t>
            </a:r>
            <a:endParaRPr lang="en-US" sz="2000" dirty="0"/>
          </a:p>
        </p:txBody>
      </p:sp>
      <p:sp>
        <p:nvSpPr>
          <p:cNvPr id="12" name="Text 10"/>
          <p:cNvSpPr txBox="1"/>
          <p:nvPr/>
        </p:nvSpPr>
        <p:spPr>
          <a:xfrm>
            <a:off x="1353312" y="2212848"/>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first solution we imagined was the one the evidence rejected.</a:t>
            </a:r>
            <a:endParaRPr lang="en-US" sz="1550" dirty="0"/>
          </a:p>
        </p:txBody>
      </p:sp>
      <p:sp>
        <p:nvSpPr>
          <p:cNvPr id="13" name="Text 11"/>
          <p:cNvSpPr txBox="1"/>
          <p:nvPr/>
        </p:nvSpPr>
        <p:spPr>
          <a:xfrm>
            <a:off x="1353312" y="2578608"/>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We began by assuming a clinic needed an electronic record. The measured effect of exactly that intervention is more documentation time, not less.</a:t>
            </a:r>
            <a:endParaRPr lang="en-US" sz="1300" dirty="0"/>
          </a:p>
        </p:txBody>
      </p:sp>
      <p:sp>
        <p:nvSpPr>
          <p:cNvPr id="14" name="Text 12"/>
          <p:cNvSpPr txBox="1"/>
          <p:nvPr/>
        </p:nvSpPr>
        <p:spPr>
          <a:xfrm>
            <a:off x="640080" y="3383280"/>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02</a:t>
            </a:r>
            <a:endParaRPr lang="en-US" sz="2000" dirty="0"/>
          </a:p>
        </p:txBody>
      </p:sp>
      <p:sp>
        <p:nvSpPr>
          <p:cNvPr id="15" name="Text 13"/>
          <p:cNvSpPr txBox="1"/>
          <p:nvPr/>
        </p:nvSpPr>
        <p:spPr>
          <a:xfrm>
            <a:off x="1353312" y="3383280"/>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hardest constraint turned out to be legal, not technical.</a:t>
            </a:r>
            <a:endParaRPr lang="en-US" sz="1550" dirty="0"/>
          </a:p>
        </p:txBody>
      </p:sp>
      <p:sp>
        <p:nvSpPr>
          <p:cNvPr id="16" name="Text 14"/>
          <p:cNvSpPr txBox="1"/>
          <p:nvPr/>
        </p:nvSpPr>
        <p:spPr>
          <a:xfrm>
            <a:off x="1353312" y="3749040"/>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Generating a diagnosis is easy. Deciding not to — and understanding why — took longer than building anything.</a:t>
            </a:r>
            <a:endParaRPr lang="en-US" sz="1300" dirty="0"/>
          </a:p>
        </p:txBody>
      </p:sp>
      <p:sp>
        <p:nvSpPr>
          <p:cNvPr id="17" name="Text 15"/>
          <p:cNvSpPr txBox="1"/>
          <p:nvPr/>
        </p:nvSpPr>
        <p:spPr>
          <a:xfrm>
            <a:off x="640080" y="4553712"/>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03</a:t>
            </a:r>
            <a:endParaRPr lang="en-US" sz="2000" dirty="0"/>
          </a:p>
        </p:txBody>
      </p:sp>
      <p:sp>
        <p:nvSpPr>
          <p:cNvPr id="18" name="Text 16"/>
          <p:cNvSpPr txBox="1"/>
          <p:nvPr/>
        </p:nvSpPr>
        <p:spPr>
          <a:xfrm>
            <a:off x="1353312" y="4553712"/>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measure of success moved from features to survival.</a:t>
            </a:r>
            <a:endParaRPr lang="en-US" sz="1550" dirty="0"/>
          </a:p>
        </p:txBody>
      </p:sp>
      <p:sp>
        <p:nvSpPr>
          <p:cNvPr id="19" name="Text 17"/>
          <p:cNvSpPr txBox="1"/>
          <p:nvPr/>
        </p:nvSpPr>
        <p:spPr>
          <a:xfrm>
            <a:off x="1353312" y="4919472"/>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Not what the system can do, but whether a busy doctor is still choosing to use it, unhelped, on day twenty-one.</a:t>
            </a:r>
            <a:endParaRPr lang="en-US" sz="1300" dirty="0"/>
          </a:p>
        </p:txBody>
      </p:sp>
      <p:sp>
        <p:nvSpPr>
          <p:cNvPr id="20" name="Shape 18"/>
          <p:cNvSpPr/>
          <p:nvPr/>
        </p:nvSpPr>
        <p:spPr>
          <a:xfrm>
            <a:off x="640080" y="5806440"/>
            <a:ext cx="2377440" cy="0"/>
          </a:xfrm>
          <a:prstGeom prst="line">
            <a:avLst/>
          </a:prstGeom>
          <a:noFill/>
          <a:ln w="31750">
            <a:solidFill>
              <a:srgbClr val="0E6E6B"/>
            </a:solidFill>
            <a:prstDash val="solid"/>
          </a:ln>
        </p:spPr>
        <p:txBody>
          <a:bodyPr/>
          <a:p/>
        </p:txBody>
      </p:sp>
      <p:sp>
        <p:nvSpPr>
          <p:cNvPr id="21" name="Text 19"/>
          <p:cNvSpPr txBox="1"/>
          <p:nvPr/>
        </p:nvSpPr>
        <p:spPr>
          <a:xfrm>
            <a:off x="640080" y="5989320"/>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Thank you  ·  Varaxis</a:t>
            </a:r>
            <a:endParaRPr lang="en-US" sz="1400" dirty="0"/>
          </a:p>
        </p:txBody>
      </p:sp>
      <p:sp>
        <p:nvSpPr>
          <p:cNvPr id="22" name="Text 20"/>
          <p:cNvSpPr txBox="1"/>
          <p:nvPr/>
        </p:nvSpPr>
        <p:spPr>
          <a:xfrm>
            <a:off x="5943600" y="5989320"/>
            <a:ext cx="5605272" cy="310896"/>
          </a:xfrm>
          <a:prstGeom prst="rect">
            <a:avLst/>
          </a:prstGeom>
          <a:noFill/>
          <a:ln/>
        </p:spPr>
        <p:txBody>
          <a:bodyPr wrap="square" lIns="0" tIns="0" rIns="0" bIns="0" rtlCol="0" anchor="ctr"/>
          <a:lstStyle/>
          <a:p>
            <a:pPr algn="r" indent="0" marL="0">
              <a:buNone/>
            </a:pPr>
            <a:r>
              <a:rPr lang="en-US" sz="1200" i="1" dirty="0">
                <a:solidFill>
                  <a:srgbClr val="8B9C9D"/>
                </a:solidFill>
                <a:latin typeface="Calibri" pitchFamily="34" charset="0"/>
                <a:ea typeface="Calibri" pitchFamily="34" charset="-122"/>
                <a:cs typeface="Calibri" pitchFamily="34" charset="-120"/>
              </a:rPr>
              <a:t>Questions welcome — particularly about what we have not tested yet.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ClinicOS — a design thinking case study</dc:title>
  <dc:subject>PptxGenJS Presentation</dc:subject>
  <dc:creator>Ishaan Seal</dc:creator>
  <cp:lastModifiedBy>Ishaan Seal</cp:lastModifiedBy>
  <cp:revision>1</cp:revision>
  <dcterms:created xsi:type="dcterms:W3CDTF">2026-09-03T04:49:20Z</dcterms:created>
  <dcterms:modified xsi:type="dcterms:W3CDTF">2026-09-03T04:49:20Z</dcterms:modified>
</cp:coreProperties>
</file>